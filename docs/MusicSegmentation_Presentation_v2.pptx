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9875520" y="-548640"/>
            <a:ext cx="3657600" cy="3657600"/>
          </a:xfrm>
          <a:prstGeom prst="ellipse">
            <a:avLst/>
          </a:prstGeom>
          <a:solidFill>
            <a:srgbClr val="1F3460"/>
          </a:solidFill>
          <a:ln w="12700">
            <a:solidFill>
              <a:srgbClr val="1F3460"/>
            </a:solidFill>
            <a:prstDash val="solid"/>
          </a:ln>
        </p:spPr>
      </p:sp>
      <p:sp>
        <p:nvSpPr>
          <p:cNvPr id="3" name="Shape 1"/>
          <p:cNvSpPr/>
          <p:nvPr/>
        </p:nvSpPr>
        <p:spPr>
          <a:xfrm>
            <a:off x="-1097280" y="5029200"/>
            <a:ext cx="2743200" cy="2743200"/>
          </a:xfrm>
          <a:prstGeom prst="ellipse">
            <a:avLst/>
          </a:prstGeom>
          <a:solidFill>
            <a:srgbClr val="162440"/>
          </a:solidFill>
          <a:ln w="12700">
            <a:solidFill>
              <a:srgbClr val="162440"/>
            </a:solidFill>
            <a:prstDash val="solid"/>
          </a:ln>
        </p:spPr>
      </p:sp>
      <p:sp>
        <p:nvSpPr>
          <p:cNvPr id="4" name="Shape 2"/>
          <p:cNvSpPr/>
          <p:nvPr/>
        </p:nvSpPr>
        <p:spPr>
          <a:xfrm>
            <a:off x="0" y="4206240"/>
            <a:ext cx="12161520" cy="64008"/>
          </a:xfrm>
          <a:prstGeom prst="rect">
            <a:avLst/>
          </a:prstGeom>
          <a:solidFill>
            <a:srgbClr val="B87333"/>
          </a:solidFill>
          <a:ln w="12700">
            <a:solidFill>
              <a:srgbClr val="B87333"/>
            </a:solidFill>
            <a:prstDash val="solid"/>
          </a:ln>
        </p:spPr>
      </p:sp>
      <p:sp>
        <p:nvSpPr>
          <p:cNvPr id="5" name="Text 3"/>
          <p:cNvSpPr/>
          <p:nvPr/>
        </p:nvSpPr>
        <p:spPr>
          <a:xfrm>
            <a:off x="640080" y="822960"/>
            <a:ext cx="10058400" cy="914400"/>
          </a:xfrm>
          <a:prstGeom prst="rect">
            <a:avLst/>
          </a:prstGeom>
          <a:noFill/>
          <a:ln/>
        </p:spPr>
        <p:txBody>
          <a:bodyPr wrap="square" rtlCol="0" anchor="ctr"/>
          <a:lstStyle/>
          <a:p>
            <a:pPr algn="ctr" indent="0" marL="0">
              <a:buNone/>
            </a:pPr>
            <a:r>
              <a:rPr lang="en-US" sz="4600" b="1" dirty="0">
                <a:solidFill>
                  <a:srgbClr val="FFFFFF"/>
                </a:solidFill>
                <a:latin typeface="Georgia" pitchFamily="34" charset="0"/>
                <a:ea typeface="Georgia" pitchFamily="34" charset="-122"/>
                <a:cs typeface="Georgia" pitchFamily="34" charset="-120"/>
              </a:rPr>
              <a:t>Automated Music</a:t>
            </a:r>
            <a:endParaRPr lang="en-US" sz="4600" dirty="0"/>
          </a:p>
        </p:txBody>
      </p:sp>
      <p:sp>
        <p:nvSpPr>
          <p:cNvPr id="6" name="Text 4"/>
          <p:cNvSpPr/>
          <p:nvPr/>
        </p:nvSpPr>
        <p:spPr>
          <a:xfrm>
            <a:off x="640080" y="1691640"/>
            <a:ext cx="10058400" cy="914400"/>
          </a:xfrm>
          <a:prstGeom prst="rect">
            <a:avLst/>
          </a:prstGeom>
          <a:noFill/>
          <a:ln/>
        </p:spPr>
        <p:txBody>
          <a:bodyPr wrap="square" rtlCol="0" anchor="ctr"/>
          <a:lstStyle/>
          <a:p>
            <a:pPr algn="ctr" indent="0" marL="0">
              <a:buNone/>
            </a:pPr>
            <a:r>
              <a:rPr lang="en-US" sz="4600" b="1" dirty="0">
                <a:solidFill>
                  <a:srgbClr val="D4944A"/>
                </a:solidFill>
                <a:latin typeface="Georgia" pitchFamily="34" charset="0"/>
                <a:ea typeface="Georgia" pitchFamily="34" charset="-122"/>
                <a:cs typeface="Georgia" pitchFamily="34" charset="-120"/>
              </a:rPr>
              <a:t>Structure Segmentation</a:t>
            </a:r>
            <a:endParaRPr lang="en-US" sz="4600" dirty="0"/>
          </a:p>
        </p:txBody>
      </p:sp>
      <p:sp>
        <p:nvSpPr>
          <p:cNvPr id="7" name="Text 5"/>
          <p:cNvSpPr/>
          <p:nvPr/>
        </p:nvSpPr>
        <p:spPr>
          <a:xfrm>
            <a:off x="914400" y="2743200"/>
            <a:ext cx="10332720" cy="502920"/>
          </a:xfrm>
          <a:prstGeom prst="rect">
            <a:avLst/>
          </a:prstGeom>
          <a:noFill/>
          <a:ln/>
        </p:spPr>
        <p:txBody>
          <a:bodyPr wrap="square" rtlCol="0" anchor="ctr"/>
          <a:lstStyle/>
          <a:p>
            <a:pPr algn="ctr" indent="0" marL="0">
              <a:buNone/>
            </a:pPr>
            <a:r>
              <a:rPr lang="en-US" sz="1400" dirty="0">
                <a:solidFill>
                  <a:srgbClr val="CBD5E0"/>
                </a:solidFill>
                <a:latin typeface="Calibri" pitchFamily="34" charset="0"/>
                <a:ea typeface="Calibri" pitchFamily="34" charset="-122"/>
                <a:cs typeface="Calibri" pitchFamily="34" charset="-120"/>
              </a:rPr>
              <a:t>Why multi-algorithm, why two fusion levels, why distributed architecture?</a:t>
            </a:r>
            <a:endParaRPr lang="en-US" sz="1400" dirty="0"/>
          </a:p>
        </p:txBody>
      </p:sp>
      <p:sp>
        <p:nvSpPr>
          <p:cNvPr id="8" name="Text 6"/>
          <p:cNvSpPr/>
          <p:nvPr/>
        </p:nvSpPr>
        <p:spPr>
          <a:xfrm>
            <a:off x="914400" y="3310128"/>
            <a:ext cx="10332720" cy="365760"/>
          </a:xfrm>
          <a:prstGeom prst="rect">
            <a:avLst/>
          </a:prstGeom>
          <a:noFill/>
          <a:ln/>
        </p:spPr>
        <p:txBody>
          <a:bodyPr wrap="square" rtlCol="0" anchor="ctr"/>
          <a:lstStyle/>
          <a:p>
            <a:pPr algn="ctr" indent="0" marL="0">
              <a:buNone/>
            </a:pPr>
            <a:r>
              <a:rPr lang="en-US" sz="1200" dirty="0">
                <a:solidFill>
                  <a:srgbClr val="718096"/>
                </a:solidFill>
                <a:latin typeface="Calibri" pitchFamily="34" charset="0"/>
                <a:ea typeface="Calibri" pitchFamily="34" charset="-122"/>
                <a:cs typeface="Calibri" pitchFamily="34" charset="-120"/>
              </a:rPr>
              <a:t>Capstone Final Presentation  •  Spring 2026</a:t>
            </a:r>
            <a:endParaRPr lang="en-US" sz="1200" dirty="0"/>
          </a:p>
        </p:txBody>
      </p:sp>
      <p:sp>
        <p:nvSpPr>
          <p:cNvPr id="9" name="Shape 7"/>
          <p:cNvSpPr/>
          <p:nvPr/>
        </p:nvSpPr>
        <p:spPr>
          <a:xfrm>
            <a:off x="2194560" y="4480560"/>
            <a:ext cx="2560320" cy="365760"/>
          </a:xfrm>
          <a:prstGeom prst="roundRect">
            <a:avLst/>
          </a:prstGeom>
          <a:solidFill>
            <a:srgbClr val="B87333"/>
          </a:solidFill>
          <a:ln w="12700">
            <a:solidFill>
              <a:srgbClr val="B87333"/>
            </a:solidFill>
            <a:prstDash val="solid"/>
          </a:ln>
        </p:spPr>
      </p:sp>
      <p:sp>
        <p:nvSpPr>
          <p:cNvPr id="10" name="Text 8"/>
          <p:cNvSpPr/>
          <p:nvPr/>
        </p:nvSpPr>
        <p:spPr>
          <a:xfrm>
            <a:off x="2194560" y="448056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Presenter 1</a:t>
            </a:r>
            <a:endParaRPr lang="en-US" sz="1200" dirty="0"/>
          </a:p>
        </p:txBody>
      </p:sp>
      <p:sp>
        <p:nvSpPr>
          <p:cNvPr id="11" name="Shape 9"/>
          <p:cNvSpPr/>
          <p:nvPr/>
        </p:nvSpPr>
        <p:spPr>
          <a:xfrm>
            <a:off x="5120640" y="4480560"/>
            <a:ext cx="2560320" cy="365760"/>
          </a:xfrm>
          <a:prstGeom prst="roundRect">
            <a:avLst/>
          </a:prstGeom>
          <a:solidFill>
            <a:srgbClr val="0D9488"/>
          </a:solidFill>
          <a:ln w="12700">
            <a:solidFill>
              <a:srgbClr val="0D9488"/>
            </a:solidFill>
            <a:prstDash val="solid"/>
          </a:ln>
        </p:spPr>
      </p:sp>
      <p:sp>
        <p:nvSpPr>
          <p:cNvPr id="12" name="Text 10"/>
          <p:cNvSpPr/>
          <p:nvPr/>
        </p:nvSpPr>
        <p:spPr>
          <a:xfrm>
            <a:off x="5120640" y="448056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Presenter 2</a:t>
            </a:r>
            <a:endParaRPr lang="en-US" sz="1200" dirty="0"/>
          </a:p>
        </p:txBody>
      </p:sp>
      <p:sp>
        <p:nvSpPr>
          <p:cNvPr id="13" name="Shape 11"/>
          <p:cNvSpPr/>
          <p:nvPr/>
        </p:nvSpPr>
        <p:spPr>
          <a:xfrm>
            <a:off x="8046720" y="4480560"/>
            <a:ext cx="2560320" cy="365760"/>
          </a:xfrm>
          <a:prstGeom prst="roundRect">
            <a:avLst/>
          </a:prstGeom>
          <a:solidFill>
            <a:srgbClr val="2D6A4F"/>
          </a:solidFill>
          <a:ln w="12700">
            <a:solidFill>
              <a:srgbClr val="2D6A4F"/>
            </a:solidFill>
            <a:prstDash val="solid"/>
          </a:ln>
        </p:spPr>
      </p:sp>
      <p:sp>
        <p:nvSpPr>
          <p:cNvPr id="14" name="Text 12"/>
          <p:cNvSpPr/>
          <p:nvPr/>
        </p:nvSpPr>
        <p:spPr>
          <a:xfrm>
            <a:off x="8046720" y="4480560"/>
            <a:ext cx="2560320" cy="365760"/>
          </a:xfrm>
          <a:prstGeom prst="rect">
            <a:avLst/>
          </a:prstGeom>
          <a:noFill/>
          <a:ln/>
        </p:spPr>
        <p:txBody>
          <a:bodyPr wrap="square" lIns="0" tIns="0" rIns="0" bIns="0" rtlCol="0" anchor="ctr"/>
          <a:lstStyle/>
          <a:p>
            <a:pPr algn="ctr" indent="0" marL="0">
              <a:buNone/>
            </a:pPr>
            <a:r>
              <a:rPr lang="en-US" sz="1200" b="1" dirty="0">
                <a:solidFill>
                  <a:srgbClr val="FFFFFF"/>
                </a:solidFill>
              </a:rPr>
              <a:t>Presenter 3</a:t>
            </a:r>
            <a:endParaRPr lang="en-US" sz="1200" dirty="0"/>
          </a:p>
        </p:txBody>
      </p:sp>
      <p:sp>
        <p:nvSpPr>
          <p:cNvPr id="15" name="Shape 13"/>
          <p:cNvSpPr/>
          <p:nvPr/>
        </p:nvSpPr>
        <p:spPr>
          <a:xfrm>
            <a:off x="9601200" y="6400800"/>
            <a:ext cx="2377440" cy="310896"/>
          </a:xfrm>
          <a:prstGeom prst="roundRect">
            <a:avLst/>
          </a:prstGeom>
          <a:solidFill>
            <a:srgbClr val="B87333"/>
          </a:solidFill>
          <a:ln w="12700">
            <a:solidFill>
              <a:srgbClr val="B87333"/>
            </a:solidFill>
            <a:prstDash val="solid"/>
          </a:ln>
        </p:spPr>
      </p:sp>
      <p:sp>
        <p:nvSpPr>
          <p:cNvPr id="16" name="Text 14"/>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17" name="Text 15"/>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1/21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Presentation Logic</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Each section answers the question raised by the previous one</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2/21</a:t>
            </a:r>
            <a:endParaRPr lang="en-US" sz="800" dirty="0"/>
          </a:p>
        </p:txBody>
      </p:sp>
      <p:sp>
        <p:nvSpPr>
          <p:cNvPr id="9" name="Shape 7"/>
          <p:cNvSpPr/>
          <p:nvPr/>
        </p:nvSpPr>
        <p:spPr>
          <a:xfrm>
            <a:off x="274320" y="132588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10" name="Shape 8"/>
          <p:cNvSpPr/>
          <p:nvPr/>
        </p:nvSpPr>
        <p:spPr>
          <a:xfrm>
            <a:off x="274320" y="1325880"/>
            <a:ext cx="64008" cy="1554480"/>
          </a:xfrm>
          <a:prstGeom prst="rect">
            <a:avLst/>
          </a:prstGeom>
          <a:solidFill>
            <a:srgbClr val="B87333"/>
          </a:solidFill>
          <a:ln w="12700">
            <a:solidFill>
              <a:srgbClr val="B87333"/>
            </a:solidFill>
            <a:prstDash val="solid"/>
          </a:ln>
        </p:spPr>
      </p:sp>
      <p:sp>
        <p:nvSpPr>
          <p:cNvPr id="11" name="Text 9"/>
          <p:cNvSpPr/>
          <p:nvPr/>
        </p:nvSpPr>
        <p:spPr>
          <a:xfrm>
            <a:off x="457200" y="1399032"/>
            <a:ext cx="548640" cy="548640"/>
          </a:xfrm>
          <a:prstGeom prst="rect">
            <a:avLst/>
          </a:prstGeom>
          <a:noFill/>
          <a:ln/>
        </p:spPr>
        <p:txBody>
          <a:bodyPr wrap="square" lIns="0" tIns="0" rIns="0" bIns="0" rtlCol="0" anchor="ctr"/>
          <a:lstStyle/>
          <a:p>
            <a:pPr algn="ctr" indent="0" marL="0">
              <a:buNone/>
            </a:pPr>
            <a:r>
              <a:rPr lang="en-US" sz="2200" b="1" dirty="0">
                <a:solidFill>
                  <a:srgbClr val="B87333"/>
                </a:solidFill>
                <a:latin typeface="Georgia" pitchFamily="34" charset="0"/>
                <a:ea typeface="Georgia" pitchFamily="34" charset="-122"/>
                <a:cs typeface="Georgia" pitchFamily="34" charset="-120"/>
              </a:rPr>
              <a:t>01</a:t>
            </a:r>
            <a:endParaRPr lang="en-US" sz="2200" dirty="0"/>
          </a:p>
        </p:txBody>
      </p:sp>
      <p:sp>
        <p:nvSpPr>
          <p:cNvPr id="12" name="Text 10"/>
          <p:cNvSpPr/>
          <p:nvPr/>
        </p:nvSpPr>
        <p:spPr>
          <a:xfrm>
            <a:off x="1051560" y="141732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What is the problem?</a:t>
            </a:r>
            <a:endParaRPr lang="en-US" sz="1200" dirty="0"/>
          </a:p>
        </p:txBody>
      </p:sp>
      <p:sp>
        <p:nvSpPr>
          <p:cNvPr id="13" name="Text 11"/>
          <p:cNvSpPr/>
          <p:nvPr/>
        </p:nvSpPr>
        <p:spPr>
          <a:xfrm>
            <a:off x="1051560" y="185623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Detecting structural transition timestamps in a music track</a:t>
            </a:r>
            <a:endParaRPr lang="en-US" sz="1100" dirty="0"/>
          </a:p>
        </p:txBody>
      </p:sp>
      <p:sp>
        <p:nvSpPr>
          <p:cNvPr id="14" name="Shape 12"/>
          <p:cNvSpPr/>
          <p:nvPr/>
        </p:nvSpPr>
        <p:spPr>
          <a:xfrm>
            <a:off x="6263640" y="132588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15" name="Shape 13"/>
          <p:cNvSpPr/>
          <p:nvPr/>
        </p:nvSpPr>
        <p:spPr>
          <a:xfrm>
            <a:off x="6263640" y="1325880"/>
            <a:ext cx="64008" cy="1554480"/>
          </a:xfrm>
          <a:prstGeom prst="rect">
            <a:avLst/>
          </a:prstGeom>
          <a:solidFill>
            <a:srgbClr val="0D9488"/>
          </a:solidFill>
          <a:ln w="12700">
            <a:solidFill>
              <a:srgbClr val="0D9488"/>
            </a:solidFill>
            <a:prstDash val="solid"/>
          </a:ln>
        </p:spPr>
      </p:sp>
      <p:sp>
        <p:nvSpPr>
          <p:cNvPr id="16" name="Text 14"/>
          <p:cNvSpPr/>
          <p:nvPr/>
        </p:nvSpPr>
        <p:spPr>
          <a:xfrm>
            <a:off x="6446520" y="1399032"/>
            <a:ext cx="548640" cy="548640"/>
          </a:xfrm>
          <a:prstGeom prst="rect">
            <a:avLst/>
          </a:prstGeom>
          <a:noFill/>
          <a:ln/>
        </p:spPr>
        <p:txBody>
          <a:bodyPr wrap="square" lIns="0" tIns="0" rIns="0" bIns="0" rtlCol="0" anchor="ctr"/>
          <a:lstStyle/>
          <a:p>
            <a:pPr algn="ctr" indent="0" marL="0">
              <a:buNone/>
            </a:pPr>
            <a:r>
              <a:rPr lang="en-US" sz="2200" b="1" dirty="0">
                <a:solidFill>
                  <a:srgbClr val="0D9488"/>
                </a:solidFill>
                <a:latin typeface="Georgia" pitchFamily="34" charset="0"/>
                <a:ea typeface="Georgia" pitchFamily="34" charset="-122"/>
                <a:cs typeface="Georgia" pitchFamily="34" charset="-120"/>
              </a:rPr>
              <a:t>02</a:t>
            </a:r>
            <a:endParaRPr lang="en-US" sz="2200" dirty="0"/>
          </a:p>
        </p:txBody>
      </p:sp>
      <p:sp>
        <p:nvSpPr>
          <p:cNvPr id="17" name="Text 15"/>
          <p:cNvSpPr/>
          <p:nvPr/>
        </p:nvSpPr>
        <p:spPr>
          <a:xfrm>
            <a:off x="7040880" y="141732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Why is it hard?</a:t>
            </a:r>
            <a:endParaRPr lang="en-US" sz="1200" dirty="0"/>
          </a:p>
        </p:txBody>
      </p:sp>
      <p:sp>
        <p:nvSpPr>
          <p:cNvPr id="18" name="Text 16"/>
          <p:cNvSpPr/>
          <p:nvPr/>
        </p:nvSpPr>
        <p:spPr>
          <a:xfrm>
            <a:off x="7040880" y="185623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No single signal reliably reveals all section boundaries</a:t>
            </a:r>
            <a:endParaRPr lang="en-US" sz="1100" dirty="0"/>
          </a:p>
        </p:txBody>
      </p:sp>
      <p:sp>
        <p:nvSpPr>
          <p:cNvPr id="19" name="Shape 17"/>
          <p:cNvSpPr/>
          <p:nvPr/>
        </p:nvSpPr>
        <p:spPr>
          <a:xfrm>
            <a:off x="274320" y="306324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20" name="Shape 18"/>
          <p:cNvSpPr/>
          <p:nvPr/>
        </p:nvSpPr>
        <p:spPr>
          <a:xfrm>
            <a:off x="274320" y="3063240"/>
            <a:ext cx="64008" cy="1554480"/>
          </a:xfrm>
          <a:prstGeom prst="rect">
            <a:avLst/>
          </a:prstGeom>
          <a:solidFill>
            <a:srgbClr val="2D6A4F"/>
          </a:solidFill>
          <a:ln w="12700">
            <a:solidFill>
              <a:srgbClr val="2D6A4F"/>
            </a:solidFill>
            <a:prstDash val="solid"/>
          </a:ln>
        </p:spPr>
      </p:sp>
      <p:sp>
        <p:nvSpPr>
          <p:cNvPr id="21" name="Text 19"/>
          <p:cNvSpPr/>
          <p:nvPr/>
        </p:nvSpPr>
        <p:spPr>
          <a:xfrm>
            <a:off x="457200" y="3136392"/>
            <a:ext cx="548640" cy="548640"/>
          </a:xfrm>
          <a:prstGeom prst="rect">
            <a:avLst/>
          </a:prstGeom>
          <a:noFill/>
          <a:ln/>
        </p:spPr>
        <p:txBody>
          <a:bodyPr wrap="square" lIns="0" tIns="0" rIns="0" bIns="0" rtlCol="0" anchor="ctr"/>
          <a:lstStyle/>
          <a:p>
            <a:pPr algn="ctr" indent="0" marL="0">
              <a:buNone/>
            </a:pPr>
            <a:r>
              <a:rPr lang="en-US" sz="2200" b="1" dirty="0">
                <a:solidFill>
                  <a:srgbClr val="2D6A4F"/>
                </a:solidFill>
                <a:latin typeface="Georgia" pitchFamily="34" charset="0"/>
                <a:ea typeface="Georgia" pitchFamily="34" charset="-122"/>
                <a:cs typeface="Georgia" pitchFamily="34" charset="-120"/>
              </a:rPr>
              <a:t>03</a:t>
            </a:r>
            <a:endParaRPr lang="en-US" sz="2200" dirty="0"/>
          </a:p>
        </p:txBody>
      </p:sp>
      <p:sp>
        <p:nvSpPr>
          <p:cNvPr id="22" name="Text 20"/>
          <p:cNvSpPr/>
          <p:nvPr/>
        </p:nvSpPr>
        <p:spPr>
          <a:xfrm>
            <a:off x="1051560" y="315468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What kind of system?</a:t>
            </a:r>
            <a:endParaRPr lang="en-US" sz="1200" dirty="0"/>
          </a:p>
        </p:txBody>
      </p:sp>
      <p:sp>
        <p:nvSpPr>
          <p:cNvPr id="23" name="Text 21"/>
          <p:cNvSpPr/>
          <p:nvPr/>
        </p:nvSpPr>
        <p:spPr>
          <a:xfrm>
            <a:off x="1051560" y="359359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Distributed, asynchronous — each algorithm runs independently</a:t>
            </a:r>
            <a:endParaRPr lang="en-US" sz="1100" dirty="0"/>
          </a:p>
        </p:txBody>
      </p:sp>
      <p:sp>
        <p:nvSpPr>
          <p:cNvPr id="24" name="Shape 22"/>
          <p:cNvSpPr/>
          <p:nvPr/>
        </p:nvSpPr>
        <p:spPr>
          <a:xfrm>
            <a:off x="6263640" y="306324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25" name="Shape 23"/>
          <p:cNvSpPr/>
          <p:nvPr/>
        </p:nvSpPr>
        <p:spPr>
          <a:xfrm>
            <a:off x="6263640" y="3063240"/>
            <a:ext cx="64008" cy="1554480"/>
          </a:xfrm>
          <a:prstGeom prst="rect">
            <a:avLst/>
          </a:prstGeom>
          <a:solidFill>
            <a:srgbClr val="B45309"/>
          </a:solidFill>
          <a:ln w="12700">
            <a:solidFill>
              <a:srgbClr val="B45309"/>
            </a:solidFill>
            <a:prstDash val="solid"/>
          </a:ln>
        </p:spPr>
      </p:sp>
      <p:sp>
        <p:nvSpPr>
          <p:cNvPr id="26" name="Text 24"/>
          <p:cNvSpPr/>
          <p:nvPr/>
        </p:nvSpPr>
        <p:spPr>
          <a:xfrm>
            <a:off x="6446520" y="3136392"/>
            <a:ext cx="548640" cy="548640"/>
          </a:xfrm>
          <a:prstGeom prst="rect">
            <a:avLst/>
          </a:prstGeom>
          <a:noFill/>
          <a:ln/>
        </p:spPr>
        <p:txBody>
          <a:bodyPr wrap="square" lIns="0" tIns="0" rIns="0" bIns="0" rtlCol="0" anchor="ctr"/>
          <a:lstStyle/>
          <a:p>
            <a:pPr algn="ctr" indent="0" marL="0">
              <a:buNone/>
            </a:pPr>
            <a:r>
              <a:rPr lang="en-US" sz="2200" b="1" dirty="0">
                <a:solidFill>
                  <a:srgbClr val="B45309"/>
                </a:solidFill>
                <a:latin typeface="Georgia" pitchFamily="34" charset="0"/>
                <a:ea typeface="Georgia" pitchFamily="34" charset="-122"/>
                <a:cs typeface="Georgia" pitchFamily="34" charset="-120"/>
              </a:rPr>
              <a:t>04</a:t>
            </a:r>
            <a:endParaRPr lang="en-US" sz="2200" dirty="0"/>
          </a:p>
        </p:txBody>
      </p:sp>
      <p:sp>
        <p:nvSpPr>
          <p:cNvPr id="27" name="Text 25"/>
          <p:cNvSpPr/>
          <p:nvPr/>
        </p:nvSpPr>
        <p:spPr>
          <a:xfrm>
            <a:off x="7040880" y="315468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Isn't one algorithm enough?</a:t>
            </a:r>
            <a:endParaRPr lang="en-US" sz="1200" dirty="0"/>
          </a:p>
        </p:txBody>
      </p:sp>
      <p:sp>
        <p:nvSpPr>
          <p:cNvPr id="28" name="Text 26"/>
          <p:cNvSpPr/>
          <p:nvPr/>
        </p:nvSpPr>
        <p:spPr>
          <a:xfrm>
            <a:off x="7040880" y="359359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6 signals are fused inside custom_librosa: feature-level fusion</a:t>
            </a:r>
            <a:endParaRPr lang="en-US" sz="1100" dirty="0"/>
          </a:p>
        </p:txBody>
      </p:sp>
      <p:sp>
        <p:nvSpPr>
          <p:cNvPr id="29" name="Shape 27"/>
          <p:cNvSpPr/>
          <p:nvPr/>
        </p:nvSpPr>
        <p:spPr>
          <a:xfrm>
            <a:off x="274320" y="480060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30" name="Shape 28"/>
          <p:cNvSpPr/>
          <p:nvPr/>
        </p:nvSpPr>
        <p:spPr>
          <a:xfrm>
            <a:off x="274320" y="4800600"/>
            <a:ext cx="64008" cy="1554480"/>
          </a:xfrm>
          <a:prstGeom prst="rect">
            <a:avLst/>
          </a:prstGeom>
          <a:solidFill>
            <a:srgbClr val="6D28D9"/>
          </a:solidFill>
          <a:ln w="12700">
            <a:solidFill>
              <a:srgbClr val="6D28D9"/>
            </a:solidFill>
            <a:prstDash val="solid"/>
          </a:ln>
        </p:spPr>
      </p:sp>
      <p:sp>
        <p:nvSpPr>
          <p:cNvPr id="31" name="Text 29"/>
          <p:cNvSpPr/>
          <p:nvPr/>
        </p:nvSpPr>
        <p:spPr>
          <a:xfrm>
            <a:off x="457200" y="4873752"/>
            <a:ext cx="548640" cy="548640"/>
          </a:xfrm>
          <a:prstGeom prst="rect">
            <a:avLst/>
          </a:prstGeom>
          <a:noFill/>
          <a:ln/>
        </p:spPr>
        <p:txBody>
          <a:bodyPr wrap="square" lIns="0" tIns="0" rIns="0" bIns="0" rtlCol="0" anchor="ctr"/>
          <a:lstStyle/>
          <a:p>
            <a:pPr algn="ctr" indent="0" marL="0">
              <a:buNone/>
            </a:pPr>
            <a:r>
              <a:rPr lang="en-US" sz="2200" b="1" dirty="0">
                <a:solidFill>
                  <a:srgbClr val="6D28D9"/>
                </a:solidFill>
                <a:latin typeface="Georgia" pitchFamily="34" charset="0"/>
                <a:ea typeface="Georgia" pitchFamily="34" charset="-122"/>
                <a:cs typeface="Georgia" pitchFamily="34" charset="-120"/>
              </a:rPr>
              <a:t>05</a:t>
            </a:r>
            <a:endParaRPr lang="en-US" sz="2200" dirty="0"/>
          </a:p>
        </p:txBody>
      </p:sp>
      <p:sp>
        <p:nvSpPr>
          <p:cNvPr id="32" name="Text 30"/>
          <p:cNvSpPr/>
          <p:nvPr/>
        </p:nvSpPr>
        <p:spPr>
          <a:xfrm>
            <a:off x="1051560" y="489204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One pipeline still not enough?</a:t>
            </a:r>
            <a:endParaRPr lang="en-US" sz="1200" dirty="0"/>
          </a:p>
        </p:txBody>
      </p:sp>
      <p:sp>
        <p:nvSpPr>
          <p:cNvPr id="33" name="Text 31"/>
          <p:cNvSpPr/>
          <p:nvPr/>
        </p:nvSpPr>
        <p:spPr>
          <a:xfrm>
            <a:off x="1051560" y="533095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Different algorithms have different error profiles — algorithm-level fusion balances them</a:t>
            </a:r>
            <a:endParaRPr lang="en-US" sz="1100" dirty="0"/>
          </a:p>
        </p:txBody>
      </p:sp>
      <p:sp>
        <p:nvSpPr>
          <p:cNvPr id="34" name="Shape 32"/>
          <p:cNvSpPr/>
          <p:nvPr/>
        </p:nvSpPr>
        <p:spPr>
          <a:xfrm>
            <a:off x="6263640" y="4800600"/>
            <a:ext cx="5577840" cy="155448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35" name="Shape 33"/>
          <p:cNvSpPr/>
          <p:nvPr/>
        </p:nvSpPr>
        <p:spPr>
          <a:xfrm>
            <a:off x="6263640" y="4800600"/>
            <a:ext cx="64008" cy="1554480"/>
          </a:xfrm>
          <a:prstGeom prst="rect">
            <a:avLst/>
          </a:prstGeom>
          <a:solidFill>
            <a:srgbClr val="1B2A4A"/>
          </a:solidFill>
          <a:ln w="12700">
            <a:solidFill>
              <a:srgbClr val="1B2A4A"/>
            </a:solidFill>
            <a:prstDash val="solid"/>
          </a:ln>
        </p:spPr>
      </p:sp>
      <p:sp>
        <p:nvSpPr>
          <p:cNvPr id="36" name="Text 34"/>
          <p:cNvSpPr/>
          <p:nvPr/>
        </p:nvSpPr>
        <p:spPr>
          <a:xfrm>
            <a:off x="6446520" y="4873752"/>
            <a:ext cx="548640" cy="548640"/>
          </a:xfrm>
          <a:prstGeom prst="rect">
            <a:avLst/>
          </a:prstGeom>
          <a:noFill/>
          <a:ln/>
        </p:spPr>
        <p:txBody>
          <a:bodyPr wrap="square" lIns="0" tIns="0" rIns="0" bIns="0"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06</a:t>
            </a:r>
            <a:endParaRPr lang="en-US" sz="2200" dirty="0"/>
          </a:p>
        </p:txBody>
      </p:sp>
      <p:sp>
        <p:nvSpPr>
          <p:cNvPr id="37" name="Text 35"/>
          <p:cNvSpPr/>
          <p:nvPr/>
        </p:nvSpPr>
        <p:spPr>
          <a:xfrm>
            <a:off x="7040880" y="4892040"/>
            <a:ext cx="466344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Q: How do we know it works?</a:t>
            </a:r>
            <a:endParaRPr lang="en-US" sz="1200" dirty="0"/>
          </a:p>
        </p:txBody>
      </p:sp>
      <p:sp>
        <p:nvSpPr>
          <p:cNvPr id="38" name="Text 36"/>
          <p:cNvSpPr/>
          <p:nvPr/>
        </p:nvSpPr>
        <p:spPr>
          <a:xfrm>
            <a:off x="7040880" y="5330952"/>
            <a:ext cx="466344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SALAMI annotations + two tolerances (0.5 s / 3.0 s) with full dataset results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Problem: Boundary Detection</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Finding the exact timestamps where musical structure changes</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3/21</a:t>
            </a:r>
            <a:endParaRPr lang="en-US" sz="800" dirty="0"/>
          </a:p>
        </p:txBody>
      </p:sp>
      <p:sp>
        <p:nvSpPr>
          <p:cNvPr id="9" name="Shape 7"/>
          <p:cNvSpPr/>
          <p:nvPr/>
        </p:nvSpPr>
        <p:spPr>
          <a:xfrm>
            <a:off x="274320" y="1325880"/>
            <a:ext cx="1828800" cy="777240"/>
          </a:xfrm>
          <a:prstGeom prst="rect">
            <a:avLst/>
          </a:prstGeom>
          <a:solidFill>
            <a:srgbClr val="B87333"/>
          </a:solidFill>
          <a:ln w="12700">
            <a:solidFill>
              <a:srgbClr val="B87333"/>
            </a:solidFill>
            <a:prstDash val="solid"/>
          </a:ln>
        </p:spPr>
      </p:sp>
      <p:sp>
        <p:nvSpPr>
          <p:cNvPr id="10" name="Text 8"/>
          <p:cNvSpPr/>
          <p:nvPr/>
        </p:nvSpPr>
        <p:spPr>
          <a:xfrm>
            <a:off x="274320" y="1325880"/>
            <a:ext cx="1828800" cy="777240"/>
          </a:xfrm>
          <a:prstGeom prst="rect">
            <a:avLst/>
          </a:prstGeom>
          <a:noFill/>
          <a:ln/>
        </p:spPr>
        <p:txBody>
          <a:bodyPr wrap="square" rtlCol="0" anchor="ctr"/>
          <a:lstStyle/>
          <a:p>
            <a:pPr algn="ctr" indent="0" marL="0">
              <a:buNone/>
            </a:pPr>
            <a:r>
              <a:rPr lang="en-US" sz="1200" b="1" dirty="0">
                <a:solidFill>
                  <a:srgbClr val="FFFFFF"/>
                </a:solidFill>
              </a:rPr>
              <a:t>Intro</a:t>
            </a:r>
            <a:endParaRPr lang="en-US" sz="1200" dirty="0"/>
          </a:p>
        </p:txBody>
      </p:sp>
      <p:sp>
        <p:nvSpPr>
          <p:cNvPr id="11" name="Shape 9"/>
          <p:cNvSpPr/>
          <p:nvPr/>
        </p:nvSpPr>
        <p:spPr>
          <a:xfrm>
            <a:off x="2103120" y="1325880"/>
            <a:ext cx="2468880" cy="777240"/>
          </a:xfrm>
          <a:prstGeom prst="rect">
            <a:avLst/>
          </a:prstGeom>
          <a:solidFill>
            <a:srgbClr val="0D9488"/>
          </a:solidFill>
          <a:ln w="12700">
            <a:solidFill>
              <a:srgbClr val="0D9488"/>
            </a:solidFill>
            <a:prstDash val="solid"/>
          </a:ln>
        </p:spPr>
      </p:sp>
      <p:sp>
        <p:nvSpPr>
          <p:cNvPr id="12" name="Text 10"/>
          <p:cNvSpPr/>
          <p:nvPr/>
        </p:nvSpPr>
        <p:spPr>
          <a:xfrm>
            <a:off x="2103120" y="1325880"/>
            <a:ext cx="2468880" cy="777240"/>
          </a:xfrm>
          <a:prstGeom prst="rect">
            <a:avLst/>
          </a:prstGeom>
          <a:noFill/>
          <a:ln/>
        </p:spPr>
        <p:txBody>
          <a:bodyPr wrap="square" rtlCol="0" anchor="ctr"/>
          <a:lstStyle/>
          <a:p>
            <a:pPr algn="ctr" indent="0" marL="0">
              <a:buNone/>
            </a:pPr>
            <a:r>
              <a:rPr lang="en-US" sz="1200" b="1" dirty="0">
                <a:solidFill>
                  <a:srgbClr val="FFFFFF"/>
                </a:solidFill>
              </a:rPr>
              <a:t>Verse</a:t>
            </a:r>
            <a:endParaRPr lang="en-US" sz="1200" dirty="0"/>
          </a:p>
        </p:txBody>
      </p:sp>
      <p:sp>
        <p:nvSpPr>
          <p:cNvPr id="13" name="Shape 11"/>
          <p:cNvSpPr/>
          <p:nvPr/>
        </p:nvSpPr>
        <p:spPr>
          <a:xfrm>
            <a:off x="4572000" y="1325880"/>
            <a:ext cx="2194560" cy="777240"/>
          </a:xfrm>
          <a:prstGeom prst="rect">
            <a:avLst/>
          </a:prstGeom>
          <a:solidFill>
            <a:srgbClr val="2D6A4F"/>
          </a:solidFill>
          <a:ln w="12700">
            <a:solidFill>
              <a:srgbClr val="2D6A4F"/>
            </a:solidFill>
            <a:prstDash val="solid"/>
          </a:ln>
        </p:spPr>
      </p:sp>
      <p:sp>
        <p:nvSpPr>
          <p:cNvPr id="14" name="Text 12"/>
          <p:cNvSpPr/>
          <p:nvPr/>
        </p:nvSpPr>
        <p:spPr>
          <a:xfrm>
            <a:off x="4572000" y="1325880"/>
            <a:ext cx="2194560" cy="777240"/>
          </a:xfrm>
          <a:prstGeom prst="rect">
            <a:avLst/>
          </a:prstGeom>
          <a:noFill/>
          <a:ln/>
        </p:spPr>
        <p:txBody>
          <a:bodyPr wrap="square" rtlCol="0" anchor="ctr"/>
          <a:lstStyle/>
          <a:p>
            <a:pPr algn="ctr" indent="0" marL="0">
              <a:buNone/>
            </a:pPr>
            <a:r>
              <a:rPr lang="en-US" sz="1200" b="1" dirty="0">
                <a:solidFill>
                  <a:srgbClr val="FFFFFF"/>
                </a:solidFill>
              </a:rPr>
              <a:t>Chorus</a:t>
            </a:r>
            <a:endParaRPr lang="en-US" sz="1200" dirty="0"/>
          </a:p>
        </p:txBody>
      </p:sp>
      <p:sp>
        <p:nvSpPr>
          <p:cNvPr id="15" name="Shape 13"/>
          <p:cNvSpPr/>
          <p:nvPr/>
        </p:nvSpPr>
        <p:spPr>
          <a:xfrm>
            <a:off x="6766560" y="1325880"/>
            <a:ext cx="2194560" cy="777240"/>
          </a:xfrm>
          <a:prstGeom prst="rect">
            <a:avLst/>
          </a:prstGeom>
          <a:solidFill>
            <a:srgbClr val="0D9488"/>
          </a:solidFill>
          <a:ln w="12700">
            <a:solidFill>
              <a:srgbClr val="0D9488"/>
            </a:solidFill>
            <a:prstDash val="solid"/>
          </a:ln>
        </p:spPr>
      </p:sp>
      <p:sp>
        <p:nvSpPr>
          <p:cNvPr id="16" name="Text 14"/>
          <p:cNvSpPr/>
          <p:nvPr/>
        </p:nvSpPr>
        <p:spPr>
          <a:xfrm>
            <a:off x="6766560" y="1325880"/>
            <a:ext cx="2194560" cy="777240"/>
          </a:xfrm>
          <a:prstGeom prst="rect">
            <a:avLst/>
          </a:prstGeom>
          <a:noFill/>
          <a:ln/>
        </p:spPr>
        <p:txBody>
          <a:bodyPr wrap="square" rtlCol="0" anchor="ctr"/>
          <a:lstStyle/>
          <a:p>
            <a:pPr algn="ctr" indent="0" marL="0">
              <a:buNone/>
            </a:pPr>
            <a:r>
              <a:rPr lang="en-US" sz="1200" b="1" dirty="0">
                <a:solidFill>
                  <a:srgbClr val="FFFFFF"/>
                </a:solidFill>
              </a:rPr>
              <a:t>Verse</a:t>
            </a:r>
            <a:endParaRPr lang="en-US" sz="1200" dirty="0"/>
          </a:p>
        </p:txBody>
      </p:sp>
      <p:sp>
        <p:nvSpPr>
          <p:cNvPr id="17" name="Shape 15"/>
          <p:cNvSpPr/>
          <p:nvPr/>
        </p:nvSpPr>
        <p:spPr>
          <a:xfrm>
            <a:off x="8961120" y="1325880"/>
            <a:ext cx="2194560" cy="777240"/>
          </a:xfrm>
          <a:prstGeom prst="rect">
            <a:avLst/>
          </a:prstGeom>
          <a:solidFill>
            <a:srgbClr val="2D6A4F"/>
          </a:solidFill>
          <a:ln w="12700">
            <a:solidFill>
              <a:srgbClr val="2D6A4F"/>
            </a:solidFill>
            <a:prstDash val="solid"/>
          </a:ln>
        </p:spPr>
      </p:sp>
      <p:sp>
        <p:nvSpPr>
          <p:cNvPr id="18" name="Text 16"/>
          <p:cNvSpPr/>
          <p:nvPr/>
        </p:nvSpPr>
        <p:spPr>
          <a:xfrm>
            <a:off x="8961120" y="1325880"/>
            <a:ext cx="2194560" cy="777240"/>
          </a:xfrm>
          <a:prstGeom prst="rect">
            <a:avLst/>
          </a:prstGeom>
          <a:noFill/>
          <a:ln/>
        </p:spPr>
        <p:txBody>
          <a:bodyPr wrap="square" rtlCol="0" anchor="ctr"/>
          <a:lstStyle/>
          <a:p>
            <a:pPr algn="ctr" indent="0" marL="0">
              <a:buNone/>
            </a:pPr>
            <a:r>
              <a:rPr lang="en-US" sz="1200" b="1" dirty="0">
                <a:solidFill>
                  <a:srgbClr val="FFFFFF"/>
                </a:solidFill>
              </a:rPr>
              <a:t>Chorus</a:t>
            </a:r>
            <a:endParaRPr lang="en-US" sz="1200" dirty="0"/>
          </a:p>
        </p:txBody>
      </p:sp>
      <p:sp>
        <p:nvSpPr>
          <p:cNvPr id="19" name="Shape 17"/>
          <p:cNvSpPr/>
          <p:nvPr/>
        </p:nvSpPr>
        <p:spPr>
          <a:xfrm>
            <a:off x="11155680" y="1325880"/>
            <a:ext cx="1188720" cy="777240"/>
          </a:xfrm>
          <a:prstGeom prst="rect">
            <a:avLst/>
          </a:prstGeom>
          <a:solidFill>
            <a:srgbClr val="B45309"/>
          </a:solidFill>
          <a:ln w="12700">
            <a:solidFill>
              <a:srgbClr val="B45309"/>
            </a:solidFill>
            <a:prstDash val="solid"/>
          </a:ln>
        </p:spPr>
      </p:sp>
      <p:sp>
        <p:nvSpPr>
          <p:cNvPr id="20" name="Text 18"/>
          <p:cNvSpPr/>
          <p:nvPr/>
        </p:nvSpPr>
        <p:spPr>
          <a:xfrm>
            <a:off x="11155680" y="1325880"/>
            <a:ext cx="1188720" cy="777240"/>
          </a:xfrm>
          <a:prstGeom prst="rect">
            <a:avLst/>
          </a:prstGeom>
          <a:noFill/>
          <a:ln/>
        </p:spPr>
        <p:txBody>
          <a:bodyPr wrap="square" rtlCol="0" anchor="ctr"/>
          <a:lstStyle/>
          <a:p>
            <a:pPr algn="ctr" indent="0" marL="0">
              <a:buNone/>
            </a:pPr>
            <a:r>
              <a:rPr lang="en-US" sz="1200" b="1" dirty="0">
                <a:solidFill>
                  <a:srgbClr val="FFFFFF"/>
                </a:solidFill>
              </a:rPr>
              <a:t>Outro</a:t>
            </a:r>
            <a:endParaRPr lang="en-US" sz="1200" dirty="0"/>
          </a:p>
        </p:txBody>
      </p:sp>
      <p:sp>
        <p:nvSpPr>
          <p:cNvPr id="21" name="Shape 19"/>
          <p:cNvSpPr/>
          <p:nvPr/>
        </p:nvSpPr>
        <p:spPr>
          <a:xfrm>
            <a:off x="2377440" y="1097280"/>
            <a:ext cx="36576" cy="1234440"/>
          </a:xfrm>
          <a:prstGeom prst="rect">
            <a:avLst/>
          </a:prstGeom>
          <a:solidFill>
            <a:srgbClr val="DC2626"/>
          </a:solidFill>
          <a:ln w="12700">
            <a:solidFill>
              <a:srgbClr val="DC2626"/>
            </a:solidFill>
            <a:prstDash val="solid"/>
          </a:ln>
        </p:spPr>
      </p:sp>
      <p:sp>
        <p:nvSpPr>
          <p:cNvPr id="22" name="Text 20"/>
          <p:cNvSpPr/>
          <p:nvPr/>
        </p:nvSpPr>
        <p:spPr>
          <a:xfrm>
            <a:off x="2103120" y="2377440"/>
            <a:ext cx="914400" cy="228600"/>
          </a:xfrm>
          <a:prstGeom prst="rect">
            <a:avLst/>
          </a:prstGeom>
          <a:noFill/>
          <a:ln/>
        </p:spPr>
        <p:txBody>
          <a:bodyPr wrap="square" rtlCol="0" anchor="ctr"/>
          <a:lstStyle/>
          <a:p>
            <a:pPr algn="ctr" indent="0" marL="0">
              <a:buNone/>
            </a:pPr>
            <a:r>
              <a:rPr lang="en-US" sz="800" dirty="0">
                <a:solidFill>
                  <a:srgbClr val="DC2626"/>
                </a:solidFill>
              </a:rPr>
              <a:t>◀ boundary</a:t>
            </a:r>
            <a:endParaRPr lang="en-US" sz="800" dirty="0"/>
          </a:p>
        </p:txBody>
      </p:sp>
      <p:sp>
        <p:nvSpPr>
          <p:cNvPr id="23" name="Shape 21"/>
          <p:cNvSpPr/>
          <p:nvPr/>
        </p:nvSpPr>
        <p:spPr>
          <a:xfrm>
            <a:off x="4846320" y="1097280"/>
            <a:ext cx="36576" cy="1234440"/>
          </a:xfrm>
          <a:prstGeom prst="rect">
            <a:avLst/>
          </a:prstGeom>
          <a:solidFill>
            <a:srgbClr val="DC2626"/>
          </a:solidFill>
          <a:ln w="12700">
            <a:solidFill>
              <a:srgbClr val="DC2626"/>
            </a:solidFill>
            <a:prstDash val="solid"/>
          </a:ln>
        </p:spPr>
      </p:sp>
      <p:sp>
        <p:nvSpPr>
          <p:cNvPr id="24" name="Text 22"/>
          <p:cNvSpPr/>
          <p:nvPr/>
        </p:nvSpPr>
        <p:spPr>
          <a:xfrm>
            <a:off x="4572000" y="2377440"/>
            <a:ext cx="914400" cy="228600"/>
          </a:xfrm>
          <a:prstGeom prst="rect">
            <a:avLst/>
          </a:prstGeom>
          <a:noFill/>
          <a:ln/>
        </p:spPr>
        <p:txBody>
          <a:bodyPr wrap="square" rtlCol="0" anchor="ctr"/>
          <a:lstStyle/>
          <a:p>
            <a:pPr algn="ctr" indent="0" marL="0">
              <a:buNone/>
            </a:pPr>
            <a:r>
              <a:rPr lang="en-US" sz="800" dirty="0">
                <a:solidFill>
                  <a:srgbClr val="DC2626"/>
                </a:solidFill>
              </a:rPr>
              <a:t>◀ boundary</a:t>
            </a:r>
            <a:endParaRPr lang="en-US" sz="800" dirty="0"/>
          </a:p>
        </p:txBody>
      </p:sp>
      <p:sp>
        <p:nvSpPr>
          <p:cNvPr id="25" name="Shape 23"/>
          <p:cNvSpPr/>
          <p:nvPr/>
        </p:nvSpPr>
        <p:spPr>
          <a:xfrm>
            <a:off x="7040880" y="1097280"/>
            <a:ext cx="36576" cy="1234440"/>
          </a:xfrm>
          <a:prstGeom prst="rect">
            <a:avLst/>
          </a:prstGeom>
          <a:solidFill>
            <a:srgbClr val="DC2626"/>
          </a:solidFill>
          <a:ln w="12700">
            <a:solidFill>
              <a:srgbClr val="DC2626"/>
            </a:solidFill>
            <a:prstDash val="solid"/>
          </a:ln>
        </p:spPr>
      </p:sp>
      <p:sp>
        <p:nvSpPr>
          <p:cNvPr id="26" name="Text 24"/>
          <p:cNvSpPr/>
          <p:nvPr/>
        </p:nvSpPr>
        <p:spPr>
          <a:xfrm>
            <a:off x="6766560" y="2377440"/>
            <a:ext cx="914400" cy="228600"/>
          </a:xfrm>
          <a:prstGeom prst="rect">
            <a:avLst/>
          </a:prstGeom>
          <a:noFill/>
          <a:ln/>
        </p:spPr>
        <p:txBody>
          <a:bodyPr wrap="square" rtlCol="0" anchor="ctr"/>
          <a:lstStyle/>
          <a:p>
            <a:pPr algn="ctr" indent="0" marL="0">
              <a:buNone/>
            </a:pPr>
            <a:r>
              <a:rPr lang="en-US" sz="800" dirty="0">
                <a:solidFill>
                  <a:srgbClr val="DC2626"/>
                </a:solidFill>
              </a:rPr>
              <a:t>◀ boundary</a:t>
            </a:r>
            <a:endParaRPr lang="en-US" sz="800" dirty="0"/>
          </a:p>
        </p:txBody>
      </p:sp>
      <p:sp>
        <p:nvSpPr>
          <p:cNvPr id="27" name="Shape 25"/>
          <p:cNvSpPr/>
          <p:nvPr/>
        </p:nvSpPr>
        <p:spPr>
          <a:xfrm>
            <a:off x="9235440" y="1097280"/>
            <a:ext cx="36576" cy="1234440"/>
          </a:xfrm>
          <a:prstGeom prst="rect">
            <a:avLst/>
          </a:prstGeom>
          <a:solidFill>
            <a:srgbClr val="DC2626"/>
          </a:solidFill>
          <a:ln w="12700">
            <a:solidFill>
              <a:srgbClr val="DC2626"/>
            </a:solidFill>
            <a:prstDash val="solid"/>
          </a:ln>
        </p:spPr>
      </p:sp>
      <p:sp>
        <p:nvSpPr>
          <p:cNvPr id="28" name="Text 26"/>
          <p:cNvSpPr/>
          <p:nvPr/>
        </p:nvSpPr>
        <p:spPr>
          <a:xfrm>
            <a:off x="8961120" y="2377440"/>
            <a:ext cx="914400" cy="228600"/>
          </a:xfrm>
          <a:prstGeom prst="rect">
            <a:avLst/>
          </a:prstGeom>
          <a:noFill/>
          <a:ln/>
        </p:spPr>
        <p:txBody>
          <a:bodyPr wrap="square" rtlCol="0" anchor="ctr"/>
          <a:lstStyle/>
          <a:p>
            <a:pPr algn="ctr" indent="0" marL="0">
              <a:buNone/>
            </a:pPr>
            <a:r>
              <a:rPr lang="en-US" sz="800" dirty="0">
                <a:solidFill>
                  <a:srgbClr val="DC2626"/>
                </a:solidFill>
              </a:rPr>
              <a:t>◀ boundary</a:t>
            </a:r>
            <a:endParaRPr lang="en-US" sz="800" dirty="0"/>
          </a:p>
        </p:txBody>
      </p:sp>
      <p:sp>
        <p:nvSpPr>
          <p:cNvPr id="29" name="Shape 27"/>
          <p:cNvSpPr/>
          <p:nvPr/>
        </p:nvSpPr>
        <p:spPr>
          <a:xfrm>
            <a:off x="274320" y="2788920"/>
            <a:ext cx="3703320" cy="324612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30" name="Shape 28"/>
          <p:cNvSpPr/>
          <p:nvPr/>
        </p:nvSpPr>
        <p:spPr>
          <a:xfrm>
            <a:off x="274320" y="2788920"/>
            <a:ext cx="3703320" cy="54864"/>
          </a:xfrm>
          <a:prstGeom prst="rect">
            <a:avLst/>
          </a:prstGeom>
          <a:solidFill>
            <a:srgbClr val="B87333"/>
          </a:solidFill>
          <a:ln w="12700">
            <a:solidFill>
              <a:srgbClr val="B87333"/>
            </a:solidFill>
            <a:prstDash val="solid"/>
          </a:ln>
        </p:spPr>
      </p:sp>
      <p:sp>
        <p:nvSpPr>
          <p:cNvPr id="31" name="Text 29"/>
          <p:cNvSpPr/>
          <p:nvPr/>
        </p:nvSpPr>
        <p:spPr>
          <a:xfrm>
            <a:off x="411480" y="2880360"/>
            <a:ext cx="50292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2" name="Text 30"/>
          <p:cNvSpPr/>
          <p:nvPr/>
        </p:nvSpPr>
        <p:spPr>
          <a:xfrm>
            <a:off x="960120" y="2880360"/>
            <a:ext cx="2880360" cy="502920"/>
          </a:xfrm>
          <a:prstGeom prst="rect">
            <a:avLst/>
          </a:prstGeom>
          <a:noFill/>
          <a:ln/>
        </p:spPr>
        <p:txBody>
          <a:bodyPr wrap="square" rtlCol="0" anchor="ctr"/>
          <a:lstStyle/>
          <a:p>
            <a:pPr algn="l" indent="0" marL="0">
              <a:buNone/>
            </a:pPr>
            <a:r>
              <a:rPr lang="en-US" sz="1200" b="1" dirty="0">
                <a:solidFill>
                  <a:srgbClr val="B87333"/>
                </a:solidFill>
                <a:latin typeface="Georgia" pitchFamily="34" charset="0"/>
                <a:ea typeface="Georgia" pitchFamily="34" charset="-122"/>
                <a:cs typeface="Georgia" pitchFamily="34" charset="-120"/>
              </a:rPr>
              <a:t>Primary task: boundary, NOT the label</a:t>
            </a:r>
            <a:endParaRPr lang="en-US" sz="1200" dirty="0"/>
          </a:p>
        </p:txBody>
      </p:sp>
      <p:sp>
        <p:nvSpPr>
          <p:cNvPr id="33" name="Text 31"/>
          <p:cNvSpPr/>
          <p:nvPr/>
        </p:nvSpPr>
        <p:spPr>
          <a:xfrm>
            <a:off x="411480" y="3456432"/>
            <a:ext cx="3429000" cy="246888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The computer's first challenge is not naming a section — it is finding the exact second where the transition occurs. Labeling comes after.</a:t>
            </a:r>
            <a:endParaRPr lang="en-US" sz="1200" dirty="0"/>
          </a:p>
        </p:txBody>
      </p:sp>
      <p:sp>
        <p:nvSpPr>
          <p:cNvPr id="34" name="Shape 32"/>
          <p:cNvSpPr/>
          <p:nvPr/>
        </p:nvSpPr>
        <p:spPr>
          <a:xfrm>
            <a:off x="4251960" y="2788920"/>
            <a:ext cx="3703320" cy="324612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35" name="Shape 33"/>
          <p:cNvSpPr/>
          <p:nvPr/>
        </p:nvSpPr>
        <p:spPr>
          <a:xfrm>
            <a:off x="4251960" y="2788920"/>
            <a:ext cx="3703320" cy="54864"/>
          </a:xfrm>
          <a:prstGeom prst="rect">
            <a:avLst/>
          </a:prstGeom>
          <a:solidFill>
            <a:srgbClr val="0D9488"/>
          </a:solidFill>
          <a:ln w="12700">
            <a:solidFill>
              <a:srgbClr val="0D9488"/>
            </a:solidFill>
            <a:prstDash val="solid"/>
          </a:ln>
        </p:spPr>
      </p:sp>
      <p:sp>
        <p:nvSpPr>
          <p:cNvPr id="36" name="Text 34"/>
          <p:cNvSpPr/>
          <p:nvPr/>
        </p:nvSpPr>
        <p:spPr>
          <a:xfrm>
            <a:off x="4389120" y="2880360"/>
            <a:ext cx="50292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37" name="Text 35"/>
          <p:cNvSpPr/>
          <p:nvPr/>
        </p:nvSpPr>
        <p:spPr>
          <a:xfrm>
            <a:off x="4937760" y="2880360"/>
            <a:ext cx="2880360" cy="502920"/>
          </a:xfrm>
          <a:prstGeom prst="rect">
            <a:avLst/>
          </a:prstGeom>
          <a:noFill/>
          <a:ln/>
        </p:spPr>
        <p:txBody>
          <a:bodyPr wrap="square" rtlCol="0" anchor="ctr"/>
          <a:lstStyle/>
          <a:p>
            <a:pPr algn="l" indent="0" marL="0">
              <a:buNone/>
            </a:pPr>
            <a:r>
              <a:rPr lang="en-US" sz="1200" b="1" dirty="0">
                <a:solidFill>
                  <a:srgbClr val="0D9488"/>
                </a:solidFill>
                <a:latin typeface="Georgia" pitchFamily="34" charset="0"/>
                <a:ea typeface="Georgia" pitchFamily="34" charset="-122"/>
                <a:cs typeface="Georgia" pitchFamily="34" charset="-120"/>
              </a:rPr>
              <a:t>Segment = interval between two boundaries</a:t>
            </a:r>
            <a:endParaRPr lang="en-US" sz="1200" dirty="0"/>
          </a:p>
        </p:txBody>
      </p:sp>
      <p:sp>
        <p:nvSpPr>
          <p:cNvPr id="38" name="Text 36"/>
          <p:cNvSpPr/>
          <p:nvPr/>
        </p:nvSpPr>
        <p:spPr>
          <a:xfrm>
            <a:off x="4389120" y="3456432"/>
            <a:ext cx="3429000" cy="246888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Once two consecutive boundaries are found, the time interval between them is a segment. Segment count follows boundary count.</a:t>
            </a:r>
            <a:endParaRPr lang="en-US" sz="1200" dirty="0"/>
          </a:p>
        </p:txBody>
      </p:sp>
      <p:sp>
        <p:nvSpPr>
          <p:cNvPr id="39" name="Shape 37"/>
          <p:cNvSpPr/>
          <p:nvPr/>
        </p:nvSpPr>
        <p:spPr>
          <a:xfrm>
            <a:off x="8229600" y="2788920"/>
            <a:ext cx="3703320" cy="324612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40" name="Shape 38"/>
          <p:cNvSpPr/>
          <p:nvPr/>
        </p:nvSpPr>
        <p:spPr>
          <a:xfrm>
            <a:off x="8229600" y="2788920"/>
            <a:ext cx="3703320" cy="54864"/>
          </a:xfrm>
          <a:prstGeom prst="rect">
            <a:avLst/>
          </a:prstGeom>
          <a:solidFill>
            <a:srgbClr val="2D6A4F"/>
          </a:solidFill>
          <a:ln w="12700">
            <a:solidFill>
              <a:srgbClr val="2D6A4F"/>
            </a:solidFill>
            <a:prstDash val="solid"/>
          </a:ln>
        </p:spPr>
      </p:sp>
      <p:sp>
        <p:nvSpPr>
          <p:cNvPr id="41" name="Text 39"/>
          <p:cNvSpPr/>
          <p:nvPr/>
        </p:nvSpPr>
        <p:spPr>
          <a:xfrm>
            <a:off x="8366760" y="2880360"/>
            <a:ext cx="502920" cy="50292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42" name="Text 40"/>
          <p:cNvSpPr/>
          <p:nvPr/>
        </p:nvSpPr>
        <p:spPr>
          <a:xfrm>
            <a:off x="8915400" y="2880360"/>
            <a:ext cx="2880360" cy="502920"/>
          </a:xfrm>
          <a:prstGeom prst="rect">
            <a:avLst/>
          </a:prstGeom>
          <a:noFill/>
          <a:ln/>
        </p:spPr>
        <p:txBody>
          <a:bodyPr wrap="square" rtlCol="0" anchor="ctr"/>
          <a:lstStyle/>
          <a:p>
            <a:pPr algn="l" indent="0" marL="0">
              <a:buNone/>
            </a:pPr>
            <a:r>
              <a:rPr lang="en-US" sz="1200" b="1" dirty="0">
                <a:solidFill>
                  <a:srgbClr val="2D6A4F"/>
                </a:solidFill>
                <a:latin typeface="Georgia" pitchFamily="34" charset="0"/>
                <a:ea typeface="Georgia" pitchFamily="34" charset="-122"/>
                <a:cs typeface="Georgia" pitchFamily="34" charset="-120"/>
              </a:rPr>
              <a:t>Too many or too few boundaries — both are errors</a:t>
            </a:r>
            <a:endParaRPr lang="en-US" sz="1200" dirty="0"/>
          </a:p>
        </p:txBody>
      </p:sp>
      <p:sp>
        <p:nvSpPr>
          <p:cNvPr id="43" name="Text 41"/>
          <p:cNvSpPr/>
          <p:nvPr/>
        </p:nvSpPr>
        <p:spPr>
          <a:xfrm>
            <a:off x="8366760" y="3456432"/>
            <a:ext cx="3429000" cy="246888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Over-segmentation: unnecessary extra cuts → precision drops. Under-segmentation: missed transitions → recall drops.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Is It Hard? — No Single Signal Is Enough</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Every musical transition leaves a different acoustic footprint</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4/21</a:t>
            </a:r>
            <a:endParaRPr lang="en-US" sz="800" dirty="0"/>
          </a:p>
        </p:txBody>
      </p:sp>
      <p:sp>
        <p:nvSpPr>
          <p:cNvPr id="9" name="Shape 7"/>
          <p:cNvSpPr/>
          <p:nvPr/>
        </p:nvSpPr>
        <p:spPr>
          <a:xfrm>
            <a:off x="274320" y="1298448"/>
            <a:ext cx="11612880" cy="658368"/>
          </a:xfrm>
          <a:prstGeom prst="roundRect">
            <a:avLst/>
          </a:prstGeom>
          <a:solidFill>
            <a:srgbClr val="EFF6FF"/>
          </a:solidFill>
          <a:ln w="12700">
            <a:solidFill>
              <a:srgbClr val="0D9488"/>
            </a:solidFill>
            <a:prstDash val="solid"/>
          </a:ln>
        </p:spPr>
      </p:sp>
      <p:sp>
        <p:nvSpPr>
          <p:cNvPr id="10" name="Text 8"/>
          <p:cNvSpPr/>
          <p:nvPr/>
        </p:nvSpPr>
        <p:spPr>
          <a:xfrm>
            <a:off x="457200" y="1298448"/>
            <a:ext cx="11247120" cy="658368"/>
          </a:xfrm>
          <a:prstGeom prst="rect">
            <a:avLst/>
          </a:prstGeom>
          <a:noFill/>
          <a:ln/>
        </p:spPr>
        <p:txBody>
          <a:bodyPr wrap="square" rtlCol="0" anchor="ctr"/>
          <a:lstStyle/>
          <a:p>
            <a:pPr algn="l" indent="0" marL="0">
              <a:buNone/>
            </a:pPr>
            <a:r>
              <a:rPr lang="en-US" sz="1300" dirty="0">
                <a:solidFill>
                  <a:srgbClr val="1B2A4A"/>
                </a:solidFill>
                <a:latin typeface="Calibri" pitchFamily="34" charset="0"/>
                <a:ea typeface="Calibri" pitchFamily="34" charset="-122"/>
                <a:cs typeface="Calibri" pitchFamily="34" charset="-120"/>
              </a:rPr>
              <a:t>Core contradiction: a Verse → Chorus transition sometimes raises energy, sometimes shifts chords, sometimes only adds drums — none of these always happen.</a:t>
            </a:r>
            <a:endParaRPr lang="en-US" sz="1300" dirty="0"/>
          </a:p>
        </p:txBody>
      </p:sp>
      <p:sp>
        <p:nvSpPr>
          <p:cNvPr id="11" name="Shape 9"/>
          <p:cNvSpPr/>
          <p:nvPr/>
        </p:nvSpPr>
        <p:spPr>
          <a:xfrm>
            <a:off x="274320" y="2176272"/>
            <a:ext cx="5577840" cy="1828800"/>
          </a:xfrm>
          <a:prstGeom prst="rect">
            <a:avLst/>
          </a:prstGeom>
          <a:solidFill>
            <a:srgbClr val="FFFFFF"/>
          </a:solidFill>
          <a:ln w="12700">
            <a:solidFill>
              <a:srgbClr val="E2E8F0"/>
            </a:solidFill>
            <a:prstDash val="solid"/>
          </a:ln>
        </p:spPr>
      </p:sp>
      <p:sp>
        <p:nvSpPr>
          <p:cNvPr id="12" name="Shape 10"/>
          <p:cNvSpPr/>
          <p:nvPr/>
        </p:nvSpPr>
        <p:spPr>
          <a:xfrm>
            <a:off x="274320" y="2176272"/>
            <a:ext cx="5577840" cy="411480"/>
          </a:xfrm>
          <a:prstGeom prst="rect">
            <a:avLst/>
          </a:prstGeom>
          <a:solidFill>
            <a:srgbClr val="243556"/>
          </a:solidFill>
          <a:ln w="12700">
            <a:solidFill>
              <a:srgbClr val="243556"/>
            </a:solidFill>
            <a:prstDash val="solid"/>
          </a:ln>
        </p:spPr>
      </p:sp>
      <p:sp>
        <p:nvSpPr>
          <p:cNvPr id="13" name="Text 11"/>
          <p:cNvSpPr/>
          <p:nvPr/>
        </p:nvSpPr>
        <p:spPr>
          <a:xfrm>
            <a:off x="365760" y="2176272"/>
            <a:ext cx="5394960" cy="411480"/>
          </a:xfrm>
          <a:prstGeom prst="rect">
            <a:avLst/>
          </a:prstGeom>
          <a:noFill/>
          <a:ln/>
        </p:spPr>
        <p:txBody>
          <a:bodyPr wrap="square"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 Only RMS (energy)</a:t>
            </a:r>
            <a:endParaRPr lang="en-US" sz="1200" dirty="0"/>
          </a:p>
        </p:txBody>
      </p:sp>
      <p:sp>
        <p:nvSpPr>
          <p:cNvPr id="14" name="Text 12"/>
          <p:cNvSpPr/>
          <p:nvPr/>
        </p:nvSpPr>
        <p:spPr>
          <a:xfrm>
            <a:off x="365760" y="2633472"/>
            <a:ext cx="5394960" cy="9144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Energy rises at Verse→Chorus, but two verses with an acoustic guitar sound identical in loudness</a:t>
            </a:r>
            <a:endParaRPr lang="en-US" sz="1100" dirty="0"/>
          </a:p>
        </p:txBody>
      </p:sp>
      <p:sp>
        <p:nvSpPr>
          <p:cNvPr id="15" name="Shape 13"/>
          <p:cNvSpPr/>
          <p:nvPr/>
        </p:nvSpPr>
        <p:spPr>
          <a:xfrm>
            <a:off x="365760" y="3621024"/>
            <a:ext cx="5394960" cy="292608"/>
          </a:xfrm>
          <a:prstGeom prst="roundRect">
            <a:avLst/>
          </a:prstGeom>
          <a:solidFill>
            <a:srgbClr val="9B1C1C"/>
          </a:solidFill>
          <a:ln w="12700">
            <a:solidFill>
              <a:srgbClr val="9B1C1C"/>
            </a:solidFill>
            <a:prstDash val="solid"/>
          </a:ln>
        </p:spPr>
      </p:sp>
      <p:sp>
        <p:nvSpPr>
          <p:cNvPr id="16" name="Text 14"/>
          <p:cNvSpPr/>
          <p:nvPr/>
        </p:nvSpPr>
        <p:spPr>
          <a:xfrm>
            <a:off x="365760" y="3621024"/>
            <a:ext cx="5394960" cy="292608"/>
          </a:xfrm>
          <a:prstGeom prst="rect">
            <a:avLst/>
          </a:prstGeom>
          <a:noFill/>
          <a:ln/>
        </p:spPr>
        <p:txBody>
          <a:bodyPr wrap="square" lIns="0" tIns="0" rIns="0" bIns="0" rtlCol="0" anchor="ctr"/>
          <a:lstStyle/>
          <a:p>
            <a:pPr algn="ctr" indent="0" marL="0">
              <a:buNone/>
            </a:pPr>
            <a:r>
              <a:rPr lang="en-US" sz="1000" b="1" dirty="0">
                <a:solidFill>
                  <a:srgbClr val="FFFFFF"/>
                </a:solidFill>
              </a:rPr>
              <a:t>→ INSUFFICIENT</a:t>
            </a:r>
            <a:endParaRPr lang="en-US" sz="1000" dirty="0"/>
          </a:p>
        </p:txBody>
      </p:sp>
      <p:sp>
        <p:nvSpPr>
          <p:cNvPr id="17" name="Shape 15"/>
          <p:cNvSpPr/>
          <p:nvPr/>
        </p:nvSpPr>
        <p:spPr>
          <a:xfrm>
            <a:off x="6263640" y="2176272"/>
            <a:ext cx="5577840" cy="1828800"/>
          </a:xfrm>
          <a:prstGeom prst="rect">
            <a:avLst/>
          </a:prstGeom>
          <a:solidFill>
            <a:srgbClr val="FFFFFF"/>
          </a:solidFill>
          <a:ln w="12700">
            <a:solidFill>
              <a:srgbClr val="E2E8F0"/>
            </a:solidFill>
            <a:prstDash val="solid"/>
          </a:ln>
        </p:spPr>
      </p:sp>
      <p:sp>
        <p:nvSpPr>
          <p:cNvPr id="18" name="Shape 16"/>
          <p:cNvSpPr/>
          <p:nvPr/>
        </p:nvSpPr>
        <p:spPr>
          <a:xfrm>
            <a:off x="6263640" y="2176272"/>
            <a:ext cx="5577840" cy="411480"/>
          </a:xfrm>
          <a:prstGeom prst="rect">
            <a:avLst/>
          </a:prstGeom>
          <a:solidFill>
            <a:srgbClr val="243556"/>
          </a:solidFill>
          <a:ln w="12700">
            <a:solidFill>
              <a:srgbClr val="243556"/>
            </a:solidFill>
            <a:prstDash val="solid"/>
          </a:ln>
        </p:spPr>
      </p:sp>
      <p:sp>
        <p:nvSpPr>
          <p:cNvPr id="19" name="Text 17"/>
          <p:cNvSpPr/>
          <p:nvPr/>
        </p:nvSpPr>
        <p:spPr>
          <a:xfrm>
            <a:off x="6355080" y="2176272"/>
            <a:ext cx="5394960" cy="411480"/>
          </a:xfrm>
          <a:prstGeom prst="rect">
            <a:avLst/>
          </a:prstGeom>
          <a:noFill/>
          <a:ln/>
        </p:spPr>
        <p:txBody>
          <a:bodyPr wrap="square"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 Only Chroma (harmony)</a:t>
            </a:r>
            <a:endParaRPr lang="en-US" sz="1200" dirty="0"/>
          </a:p>
        </p:txBody>
      </p:sp>
      <p:sp>
        <p:nvSpPr>
          <p:cNvPr id="20" name="Text 18"/>
          <p:cNvSpPr/>
          <p:nvPr/>
        </p:nvSpPr>
        <p:spPr>
          <a:xfrm>
            <a:off x="6355080" y="2633472"/>
            <a:ext cx="5394960" cy="9144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Two different sections sharing the same chord progression look harmonically identical</a:t>
            </a:r>
            <a:endParaRPr lang="en-US" sz="1100" dirty="0"/>
          </a:p>
        </p:txBody>
      </p:sp>
      <p:sp>
        <p:nvSpPr>
          <p:cNvPr id="21" name="Shape 19"/>
          <p:cNvSpPr/>
          <p:nvPr/>
        </p:nvSpPr>
        <p:spPr>
          <a:xfrm>
            <a:off x="6355080" y="3621024"/>
            <a:ext cx="5394960" cy="292608"/>
          </a:xfrm>
          <a:prstGeom prst="roundRect">
            <a:avLst/>
          </a:prstGeom>
          <a:solidFill>
            <a:srgbClr val="9B1C1C"/>
          </a:solidFill>
          <a:ln w="12700">
            <a:solidFill>
              <a:srgbClr val="9B1C1C"/>
            </a:solidFill>
            <a:prstDash val="solid"/>
          </a:ln>
        </p:spPr>
      </p:sp>
      <p:sp>
        <p:nvSpPr>
          <p:cNvPr id="22" name="Text 20"/>
          <p:cNvSpPr/>
          <p:nvPr/>
        </p:nvSpPr>
        <p:spPr>
          <a:xfrm>
            <a:off x="6355080" y="3621024"/>
            <a:ext cx="5394960" cy="292608"/>
          </a:xfrm>
          <a:prstGeom prst="rect">
            <a:avLst/>
          </a:prstGeom>
          <a:noFill/>
          <a:ln/>
        </p:spPr>
        <p:txBody>
          <a:bodyPr wrap="square" lIns="0" tIns="0" rIns="0" bIns="0" rtlCol="0" anchor="ctr"/>
          <a:lstStyle/>
          <a:p>
            <a:pPr algn="ctr" indent="0" marL="0">
              <a:buNone/>
            </a:pPr>
            <a:r>
              <a:rPr lang="en-US" sz="1000" b="1" dirty="0">
                <a:solidFill>
                  <a:srgbClr val="FFFFFF"/>
                </a:solidFill>
              </a:rPr>
              <a:t>→ INSUFFICIENT</a:t>
            </a:r>
            <a:endParaRPr lang="en-US" sz="1000" dirty="0"/>
          </a:p>
        </p:txBody>
      </p:sp>
      <p:sp>
        <p:nvSpPr>
          <p:cNvPr id="23" name="Shape 21"/>
          <p:cNvSpPr/>
          <p:nvPr/>
        </p:nvSpPr>
        <p:spPr>
          <a:xfrm>
            <a:off x="274320" y="4187952"/>
            <a:ext cx="5577840" cy="1828800"/>
          </a:xfrm>
          <a:prstGeom prst="rect">
            <a:avLst/>
          </a:prstGeom>
          <a:solidFill>
            <a:srgbClr val="FFFFFF"/>
          </a:solidFill>
          <a:ln w="12700">
            <a:solidFill>
              <a:srgbClr val="E2E8F0"/>
            </a:solidFill>
            <a:prstDash val="solid"/>
          </a:ln>
        </p:spPr>
      </p:sp>
      <p:sp>
        <p:nvSpPr>
          <p:cNvPr id="24" name="Shape 22"/>
          <p:cNvSpPr/>
          <p:nvPr/>
        </p:nvSpPr>
        <p:spPr>
          <a:xfrm>
            <a:off x="274320" y="4187952"/>
            <a:ext cx="5577840" cy="411480"/>
          </a:xfrm>
          <a:prstGeom prst="rect">
            <a:avLst/>
          </a:prstGeom>
          <a:solidFill>
            <a:srgbClr val="243556"/>
          </a:solidFill>
          <a:ln w="12700">
            <a:solidFill>
              <a:srgbClr val="243556"/>
            </a:solidFill>
            <a:prstDash val="solid"/>
          </a:ln>
        </p:spPr>
      </p:sp>
      <p:sp>
        <p:nvSpPr>
          <p:cNvPr id="25" name="Text 23"/>
          <p:cNvSpPr/>
          <p:nvPr/>
        </p:nvSpPr>
        <p:spPr>
          <a:xfrm>
            <a:off x="365760" y="4187952"/>
            <a:ext cx="5394960" cy="411480"/>
          </a:xfrm>
          <a:prstGeom prst="rect">
            <a:avLst/>
          </a:prstGeom>
          <a:noFill/>
          <a:ln/>
        </p:spPr>
        <p:txBody>
          <a:bodyPr wrap="square"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 Only Onset (attacks)</a:t>
            </a:r>
            <a:endParaRPr lang="en-US" sz="1200" dirty="0"/>
          </a:p>
        </p:txBody>
      </p:sp>
      <p:sp>
        <p:nvSpPr>
          <p:cNvPr id="26" name="Text 24"/>
          <p:cNvSpPr/>
          <p:nvPr/>
        </p:nvSpPr>
        <p:spPr>
          <a:xfrm>
            <a:off x="365760" y="4645152"/>
            <a:ext cx="5394960" cy="9144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drum pattern contains hundreds of onsets — far more than section boundaries</a:t>
            </a:r>
            <a:endParaRPr lang="en-US" sz="1100" dirty="0"/>
          </a:p>
        </p:txBody>
      </p:sp>
      <p:sp>
        <p:nvSpPr>
          <p:cNvPr id="27" name="Shape 25"/>
          <p:cNvSpPr/>
          <p:nvPr/>
        </p:nvSpPr>
        <p:spPr>
          <a:xfrm>
            <a:off x="365760" y="5632704"/>
            <a:ext cx="5394960" cy="292608"/>
          </a:xfrm>
          <a:prstGeom prst="roundRect">
            <a:avLst/>
          </a:prstGeom>
          <a:solidFill>
            <a:srgbClr val="9B1C1C"/>
          </a:solidFill>
          <a:ln w="12700">
            <a:solidFill>
              <a:srgbClr val="9B1C1C"/>
            </a:solidFill>
            <a:prstDash val="solid"/>
          </a:ln>
        </p:spPr>
      </p:sp>
      <p:sp>
        <p:nvSpPr>
          <p:cNvPr id="28" name="Text 26"/>
          <p:cNvSpPr/>
          <p:nvPr/>
        </p:nvSpPr>
        <p:spPr>
          <a:xfrm>
            <a:off x="365760" y="5632704"/>
            <a:ext cx="5394960" cy="292608"/>
          </a:xfrm>
          <a:prstGeom prst="rect">
            <a:avLst/>
          </a:prstGeom>
          <a:noFill/>
          <a:ln/>
        </p:spPr>
        <p:txBody>
          <a:bodyPr wrap="square" lIns="0" tIns="0" rIns="0" bIns="0" rtlCol="0" anchor="ctr"/>
          <a:lstStyle/>
          <a:p>
            <a:pPr algn="ctr" indent="0" marL="0">
              <a:buNone/>
            </a:pPr>
            <a:r>
              <a:rPr lang="en-US" sz="1000" b="1" dirty="0">
                <a:solidFill>
                  <a:srgbClr val="FFFFFF"/>
                </a:solidFill>
              </a:rPr>
              <a:t>→ INSUFFICIENT</a:t>
            </a:r>
            <a:endParaRPr lang="en-US" sz="1000" dirty="0"/>
          </a:p>
        </p:txBody>
      </p:sp>
      <p:sp>
        <p:nvSpPr>
          <p:cNvPr id="29" name="Shape 27"/>
          <p:cNvSpPr/>
          <p:nvPr/>
        </p:nvSpPr>
        <p:spPr>
          <a:xfrm>
            <a:off x="6263640" y="4187952"/>
            <a:ext cx="5577840" cy="1828800"/>
          </a:xfrm>
          <a:prstGeom prst="rect">
            <a:avLst/>
          </a:prstGeom>
          <a:solidFill>
            <a:srgbClr val="FFFFFF"/>
          </a:solidFill>
          <a:ln w="12700">
            <a:solidFill>
              <a:srgbClr val="E2E8F0"/>
            </a:solidFill>
            <a:prstDash val="solid"/>
          </a:ln>
        </p:spPr>
      </p:sp>
      <p:sp>
        <p:nvSpPr>
          <p:cNvPr id="30" name="Shape 28"/>
          <p:cNvSpPr/>
          <p:nvPr/>
        </p:nvSpPr>
        <p:spPr>
          <a:xfrm>
            <a:off x="6263640" y="4187952"/>
            <a:ext cx="5577840" cy="411480"/>
          </a:xfrm>
          <a:prstGeom prst="rect">
            <a:avLst/>
          </a:prstGeom>
          <a:solidFill>
            <a:srgbClr val="243556"/>
          </a:solidFill>
          <a:ln w="12700">
            <a:solidFill>
              <a:srgbClr val="243556"/>
            </a:solidFill>
            <a:prstDash val="solid"/>
          </a:ln>
        </p:spPr>
      </p:sp>
      <p:sp>
        <p:nvSpPr>
          <p:cNvPr id="31" name="Text 29"/>
          <p:cNvSpPr/>
          <p:nvPr/>
        </p:nvSpPr>
        <p:spPr>
          <a:xfrm>
            <a:off x="6355080" y="4187952"/>
            <a:ext cx="5394960" cy="411480"/>
          </a:xfrm>
          <a:prstGeom prst="rect">
            <a:avLst/>
          </a:prstGeom>
          <a:noFill/>
          <a:ln/>
        </p:spPr>
        <p:txBody>
          <a:bodyPr wrap="square" rtlCol="0" anchor="ctr"/>
          <a:lstStyle/>
          <a:p>
            <a:pPr algn="l" indent="0" marL="0">
              <a:buNone/>
            </a:pPr>
            <a:r>
              <a:rPr lang="en-US" sz="1200" b="1" dirty="0">
                <a:solidFill>
                  <a:srgbClr val="FFFFFF"/>
                </a:solidFill>
                <a:latin typeface="Georgia" pitchFamily="34" charset="0"/>
                <a:ea typeface="Georgia" pitchFamily="34" charset="-122"/>
                <a:cs typeface="Georgia" pitchFamily="34" charset="-120"/>
              </a:rPr>
              <a:t>📊 SSM (self-similarity)</a:t>
            </a:r>
            <a:endParaRPr lang="en-US" sz="1200" dirty="0"/>
          </a:p>
        </p:txBody>
      </p:sp>
      <p:sp>
        <p:nvSpPr>
          <p:cNvPr id="32" name="Text 30"/>
          <p:cNvSpPr/>
          <p:nvPr/>
        </p:nvSpPr>
        <p:spPr>
          <a:xfrm>
            <a:off x="6355080" y="4645152"/>
            <a:ext cx="5394960" cy="91440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Detects repeated Chorus patterns, but timestamp precision depends on frame resolution</a:t>
            </a:r>
            <a:endParaRPr lang="en-US" sz="1100" dirty="0"/>
          </a:p>
        </p:txBody>
      </p:sp>
      <p:sp>
        <p:nvSpPr>
          <p:cNvPr id="33" name="Shape 31"/>
          <p:cNvSpPr/>
          <p:nvPr/>
        </p:nvSpPr>
        <p:spPr>
          <a:xfrm>
            <a:off x="6355080" y="5632704"/>
            <a:ext cx="5394960" cy="292608"/>
          </a:xfrm>
          <a:prstGeom prst="roundRect">
            <a:avLst/>
          </a:prstGeom>
          <a:solidFill>
            <a:srgbClr val="B45309"/>
          </a:solidFill>
          <a:ln w="12700">
            <a:solidFill>
              <a:srgbClr val="B45309"/>
            </a:solidFill>
            <a:prstDash val="solid"/>
          </a:ln>
        </p:spPr>
      </p:sp>
      <p:sp>
        <p:nvSpPr>
          <p:cNvPr id="34" name="Text 32"/>
          <p:cNvSpPr/>
          <p:nvPr/>
        </p:nvSpPr>
        <p:spPr>
          <a:xfrm>
            <a:off x="6355080" y="5632704"/>
            <a:ext cx="5394960" cy="292608"/>
          </a:xfrm>
          <a:prstGeom prst="rect">
            <a:avLst/>
          </a:prstGeom>
          <a:noFill/>
          <a:ln/>
        </p:spPr>
        <p:txBody>
          <a:bodyPr wrap="square" lIns="0" tIns="0" rIns="0" bIns="0" rtlCol="0" anchor="ctr"/>
          <a:lstStyle/>
          <a:p>
            <a:pPr algn="ctr" indent="0" marL="0">
              <a:buNone/>
            </a:pPr>
            <a:r>
              <a:rPr lang="en-US" sz="1000" b="1" dirty="0">
                <a:solidFill>
                  <a:srgbClr val="FFFFFF"/>
                </a:solidFill>
              </a:rPr>
              <a:t>→ POWERFUL — but incomplete alone</a:t>
            </a:r>
            <a:endParaRPr lang="en-US" sz="1000" dirty="0"/>
          </a:p>
        </p:txBody>
      </p:sp>
      <p:sp>
        <p:nvSpPr>
          <p:cNvPr id="35" name="Shape 33"/>
          <p:cNvSpPr/>
          <p:nvPr/>
        </p:nvSpPr>
        <p:spPr>
          <a:xfrm>
            <a:off x="0" y="6144768"/>
            <a:ext cx="12161520" cy="420624"/>
          </a:xfrm>
          <a:prstGeom prst="rect">
            <a:avLst/>
          </a:prstGeom>
          <a:solidFill>
            <a:srgbClr val="1B2A4A"/>
          </a:solidFill>
          <a:ln w="12700">
            <a:solidFill>
              <a:srgbClr val="1B2A4A"/>
            </a:solidFill>
            <a:prstDash val="solid"/>
          </a:ln>
        </p:spPr>
      </p:sp>
      <p:sp>
        <p:nvSpPr>
          <p:cNvPr id="36" name="Text 34"/>
          <p:cNvSpPr/>
          <p:nvPr/>
        </p:nvSpPr>
        <p:spPr>
          <a:xfrm>
            <a:off x="365760" y="6144768"/>
            <a:ext cx="11430000" cy="420624"/>
          </a:xfrm>
          <a:prstGeom prst="rect">
            <a:avLst/>
          </a:prstGeom>
          <a:noFill/>
          <a:ln/>
        </p:spPr>
        <p:txBody>
          <a:bodyPr wrap="square" rtlCol="0" anchor="ctr"/>
          <a:lstStyle/>
          <a:p>
            <a:pPr algn="ctr" indent="0" marL="0">
              <a:buNone/>
            </a:pPr>
            <a:r>
              <a:rPr lang="en-US" sz="1100" dirty="0">
                <a:solidFill>
                  <a:srgbClr val="D4944A"/>
                </a:solidFill>
                <a:latin typeface="Calibri" pitchFamily="34" charset="0"/>
                <a:ea typeface="Calibri" pitchFamily="34" charset="-122"/>
                <a:cs typeface="Calibri" pitchFamily="34" charset="-120"/>
              </a:rPr>
              <a:t>Conclusion: without combining multiple signals, no system can be reliable across all music genres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Distributed Architecture?</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DSP computation must not block the HTTP request</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5/21</a:t>
            </a:r>
            <a:endParaRPr lang="en-US" sz="800" dirty="0"/>
          </a:p>
        </p:txBody>
      </p:sp>
      <p:sp>
        <p:nvSpPr>
          <p:cNvPr id="9" name="Shape 7"/>
          <p:cNvSpPr/>
          <p:nvPr/>
        </p:nvSpPr>
        <p:spPr>
          <a:xfrm>
            <a:off x="274320" y="1298448"/>
            <a:ext cx="5760720" cy="3840480"/>
          </a:xfrm>
          <a:prstGeom prst="rect">
            <a:avLst/>
          </a:prstGeom>
          <a:solidFill>
            <a:srgbClr val="FFFFFF"/>
          </a:solidFill>
          <a:ln w="12700">
            <a:solidFill>
              <a:srgbClr val="E2E8F0"/>
            </a:solidFill>
            <a:prstDash val="solid"/>
          </a:ln>
        </p:spPr>
      </p:sp>
      <p:sp>
        <p:nvSpPr>
          <p:cNvPr id="10" name="Shape 8"/>
          <p:cNvSpPr/>
          <p:nvPr/>
        </p:nvSpPr>
        <p:spPr>
          <a:xfrm>
            <a:off x="274320" y="1298448"/>
            <a:ext cx="5760720" cy="411480"/>
          </a:xfrm>
          <a:prstGeom prst="rect">
            <a:avLst/>
          </a:prstGeom>
          <a:solidFill>
            <a:srgbClr val="9B1C1C"/>
          </a:solidFill>
          <a:ln w="12700">
            <a:solidFill>
              <a:srgbClr val="9B1C1C"/>
            </a:solidFill>
            <a:prstDash val="solid"/>
          </a:ln>
        </p:spPr>
      </p:sp>
      <p:sp>
        <p:nvSpPr>
          <p:cNvPr id="11" name="Text 9"/>
          <p:cNvSpPr/>
          <p:nvPr/>
        </p:nvSpPr>
        <p:spPr>
          <a:xfrm>
            <a:off x="274320" y="1298448"/>
            <a:ext cx="576072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 Monolithic (compute inside the API)</a:t>
            </a:r>
            <a:endParaRPr lang="en-US" sz="1300" dirty="0"/>
          </a:p>
        </p:txBody>
      </p:sp>
      <p:sp>
        <p:nvSpPr>
          <p:cNvPr id="12" name="Text 10"/>
          <p:cNvSpPr/>
          <p:nvPr/>
        </p:nvSpPr>
        <p:spPr>
          <a:xfrm>
            <a:off x="365760" y="1773936"/>
            <a:ext cx="5577840" cy="329184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HTTP request waits for all 4 algorithms to finish</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One slow algorithm blocks every user</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Adding a new algorithm requires modifying the API</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Parallel execution is difficult — thread blocking risk</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Scaling means scaling the entire service</a:t>
            </a:r>
            <a:endParaRPr lang="en-US" sz="1100" dirty="0"/>
          </a:p>
        </p:txBody>
      </p:sp>
      <p:sp>
        <p:nvSpPr>
          <p:cNvPr id="13" name="Shape 11"/>
          <p:cNvSpPr/>
          <p:nvPr/>
        </p:nvSpPr>
        <p:spPr>
          <a:xfrm>
            <a:off x="6126480" y="1298448"/>
            <a:ext cx="5760720" cy="3840480"/>
          </a:xfrm>
          <a:prstGeom prst="rect">
            <a:avLst/>
          </a:prstGeom>
          <a:solidFill>
            <a:srgbClr val="FFFFFF"/>
          </a:solidFill>
          <a:ln w="12700">
            <a:solidFill>
              <a:srgbClr val="E2E8F0"/>
            </a:solidFill>
            <a:prstDash val="solid"/>
          </a:ln>
        </p:spPr>
      </p:sp>
      <p:sp>
        <p:nvSpPr>
          <p:cNvPr id="14" name="Shape 12"/>
          <p:cNvSpPr/>
          <p:nvPr/>
        </p:nvSpPr>
        <p:spPr>
          <a:xfrm>
            <a:off x="6126480" y="1298448"/>
            <a:ext cx="5760720" cy="411480"/>
          </a:xfrm>
          <a:prstGeom prst="rect">
            <a:avLst/>
          </a:prstGeom>
          <a:solidFill>
            <a:srgbClr val="2D6A4F"/>
          </a:solidFill>
          <a:ln w="12700">
            <a:solidFill>
              <a:srgbClr val="2D6A4F"/>
            </a:solidFill>
            <a:prstDash val="solid"/>
          </a:ln>
        </p:spPr>
      </p:sp>
      <p:sp>
        <p:nvSpPr>
          <p:cNvPr id="15" name="Text 13"/>
          <p:cNvSpPr/>
          <p:nvPr/>
        </p:nvSpPr>
        <p:spPr>
          <a:xfrm>
            <a:off x="6126480" y="1298448"/>
            <a:ext cx="576072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 Distributed Workers (our choice)</a:t>
            </a:r>
            <a:endParaRPr lang="en-US" sz="1300" dirty="0"/>
          </a:p>
        </p:txBody>
      </p:sp>
      <p:sp>
        <p:nvSpPr>
          <p:cNvPr id="16" name="Text 14"/>
          <p:cNvSpPr/>
          <p:nvPr/>
        </p:nvSpPr>
        <p:spPr>
          <a:xfrm>
            <a:off x="6217920" y="1773936"/>
            <a:ext cx="5577840" cy="329184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API only records the task and publishes a message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Algorithms run independently and in parallel</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New algorithm = new worker; API unchanged</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Each worker can be scaled independently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One worker crash does not affect the others</a:t>
            </a:r>
            <a:endParaRPr lang="en-US" sz="1100" dirty="0"/>
          </a:p>
        </p:txBody>
      </p:sp>
      <p:sp>
        <p:nvSpPr>
          <p:cNvPr id="17" name="Shape 15"/>
          <p:cNvSpPr/>
          <p:nvPr/>
        </p:nvSpPr>
        <p:spPr>
          <a:xfrm>
            <a:off x="274320" y="5321808"/>
            <a:ext cx="11612880" cy="411480"/>
          </a:xfrm>
          <a:prstGeom prst="rect">
            <a:avLst/>
          </a:prstGeom>
          <a:solidFill>
            <a:srgbClr val="243556"/>
          </a:solidFill>
          <a:ln w="12700">
            <a:solidFill>
              <a:srgbClr val="243556"/>
            </a:solidFill>
            <a:prstDash val="solid"/>
          </a:ln>
        </p:spPr>
      </p:sp>
      <p:sp>
        <p:nvSpPr>
          <p:cNvPr id="18" name="Text 16"/>
          <p:cNvSpPr/>
          <p:nvPr/>
        </p:nvSpPr>
        <p:spPr>
          <a:xfrm>
            <a:off x="274320" y="5321808"/>
            <a:ext cx="11612880"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Why RabbitMQ specifically?</a:t>
            </a:r>
            <a:endParaRPr lang="en-US" sz="1300" dirty="0"/>
          </a:p>
        </p:txBody>
      </p:sp>
      <p:sp>
        <p:nvSpPr>
          <p:cNvPr id="19" name="Text 17"/>
          <p:cNvSpPr/>
          <p:nvPr/>
        </p:nvSpPr>
        <p:spPr>
          <a:xfrm>
            <a:off x="274320" y="5833872"/>
            <a:ext cx="2011680" cy="457200"/>
          </a:xfrm>
          <a:prstGeom prst="rect">
            <a:avLst/>
          </a:prstGeom>
          <a:noFill/>
          <a:ln/>
        </p:spPr>
        <p:txBody>
          <a:bodyPr wrap="square" rtlCol="0" anchor="ctr"/>
          <a:lstStyle/>
          <a:p>
            <a:pPr algn="l" indent="0" marL="0">
              <a:buNone/>
            </a:pPr>
            <a:r>
              <a:rPr lang="en-US" sz="1000" b="1" dirty="0">
                <a:solidFill>
                  <a:srgbClr val="D4944A"/>
                </a:solidFill>
                <a:latin typeface="Calibri" pitchFamily="34" charset="0"/>
                <a:ea typeface="Calibri" pitchFamily="34" charset="-122"/>
                <a:cs typeface="Calibri" pitchFamily="34" charset="-120"/>
              </a:rPr>
              <a:t>▸ Topic Exchange:</a:t>
            </a:r>
            <a:endParaRPr lang="en-US" sz="1000" dirty="0"/>
          </a:p>
        </p:txBody>
      </p:sp>
      <p:sp>
        <p:nvSpPr>
          <p:cNvPr id="20" name="Text 18"/>
          <p:cNvSpPr/>
          <p:nvPr/>
        </p:nvSpPr>
        <p:spPr>
          <a:xfrm>
            <a:off x="2286000" y="5833872"/>
            <a:ext cx="3840480" cy="457200"/>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Each algorithm bound to its own routing key — one message reaches only its intended worker</a:t>
            </a:r>
            <a:endParaRPr lang="en-US" sz="1000" dirty="0"/>
          </a:p>
        </p:txBody>
      </p:sp>
      <p:sp>
        <p:nvSpPr>
          <p:cNvPr id="21" name="Text 19"/>
          <p:cNvSpPr/>
          <p:nvPr/>
        </p:nvSpPr>
        <p:spPr>
          <a:xfrm>
            <a:off x="6263640" y="5833872"/>
            <a:ext cx="2011680" cy="457200"/>
          </a:xfrm>
          <a:prstGeom prst="rect">
            <a:avLst/>
          </a:prstGeom>
          <a:noFill/>
          <a:ln/>
        </p:spPr>
        <p:txBody>
          <a:bodyPr wrap="square" rtlCol="0" anchor="ctr"/>
          <a:lstStyle/>
          <a:p>
            <a:pPr algn="l" indent="0" marL="0">
              <a:buNone/>
            </a:pPr>
            <a:r>
              <a:rPr lang="en-US" sz="1000" b="1" dirty="0">
                <a:solidFill>
                  <a:srgbClr val="D4944A"/>
                </a:solidFill>
                <a:latin typeface="Calibri" pitchFamily="34" charset="0"/>
                <a:ea typeface="Calibri" pitchFamily="34" charset="-122"/>
                <a:cs typeface="Calibri" pitchFamily="34" charset="-120"/>
              </a:rPr>
              <a:t>▸ ACK mechanism:</a:t>
            </a:r>
            <a:endParaRPr lang="en-US" sz="1000" dirty="0"/>
          </a:p>
        </p:txBody>
      </p:sp>
      <p:sp>
        <p:nvSpPr>
          <p:cNvPr id="22" name="Text 20"/>
          <p:cNvSpPr/>
          <p:nvPr/>
        </p:nvSpPr>
        <p:spPr>
          <a:xfrm>
            <a:off x="8275320" y="5833872"/>
            <a:ext cx="3840480" cy="457200"/>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Message stays in queue until the worker processes it; crash causes re-delivery, not loss</a:t>
            </a:r>
            <a:endParaRPr lang="en-US" sz="1000" dirty="0"/>
          </a:p>
        </p:txBody>
      </p:sp>
      <p:sp>
        <p:nvSpPr>
          <p:cNvPr id="23" name="Text 21"/>
          <p:cNvSpPr/>
          <p:nvPr/>
        </p:nvSpPr>
        <p:spPr>
          <a:xfrm>
            <a:off x="274320" y="6364224"/>
            <a:ext cx="2011680" cy="457200"/>
          </a:xfrm>
          <a:prstGeom prst="rect">
            <a:avLst/>
          </a:prstGeom>
          <a:noFill/>
          <a:ln/>
        </p:spPr>
        <p:txBody>
          <a:bodyPr wrap="square" rtlCol="0" anchor="ctr"/>
          <a:lstStyle/>
          <a:p>
            <a:pPr algn="l" indent="0" marL="0">
              <a:buNone/>
            </a:pPr>
            <a:r>
              <a:rPr lang="en-US" sz="1000" b="1" dirty="0">
                <a:solidFill>
                  <a:srgbClr val="D4944A"/>
                </a:solidFill>
                <a:latin typeface="Calibri" pitchFamily="34" charset="0"/>
                <a:ea typeface="Calibri" pitchFamily="34" charset="-122"/>
                <a:cs typeface="Calibri" pitchFamily="34" charset="-120"/>
              </a:rPr>
              <a:t>▸ Service isolation:</a:t>
            </a:r>
            <a:endParaRPr lang="en-US" sz="1000" dirty="0"/>
          </a:p>
        </p:txBody>
      </p:sp>
      <p:sp>
        <p:nvSpPr>
          <p:cNvPr id="24" name="Text 22"/>
          <p:cNvSpPr/>
          <p:nvPr/>
        </p:nvSpPr>
        <p:spPr>
          <a:xfrm>
            <a:off x="2286000" y="6364224"/>
            <a:ext cx="3840480" cy="457200"/>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Backend and workers do not call each other directly — one stopping does not cascade</a:t>
            </a:r>
            <a:endParaRPr lang="en-US" sz="1000" dirty="0"/>
          </a:p>
        </p:txBody>
      </p:sp>
      <p:sp>
        <p:nvSpPr>
          <p:cNvPr id="25" name="Text 23"/>
          <p:cNvSpPr/>
          <p:nvPr/>
        </p:nvSpPr>
        <p:spPr>
          <a:xfrm>
            <a:off x="6263640" y="6364224"/>
            <a:ext cx="2011680" cy="457200"/>
          </a:xfrm>
          <a:prstGeom prst="rect">
            <a:avLst/>
          </a:prstGeom>
          <a:noFill/>
          <a:ln/>
        </p:spPr>
        <p:txBody>
          <a:bodyPr wrap="square" rtlCol="0" anchor="ctr"/>
          <a:lstStyle/>
          <a:p>
            <a:pPr algn="l" indent="0" marL="0">
              <a:buNone/>
            </a:pPr>
            <a:r>
              <a:rPr lang="en-US" sz="1000" b="1" dirty="0">
                <a:solidFill>
                  <a:srgbClr val="D4944A"/>
                </a:solidFill>
                <a:latin typeface="Calibri" pitchFamily="34" charset="0"/>
                <a:ea typeface="Calibri" pitchFamily="34" charset="-122"/>
                <a:cs typeface="Calibri" pitchFamily="34" charset="-120"/>
              </a:rPr>
              <a:t>▸ Single result channel:</a:t>
            </a:r>
            <a:endParaRPr lang="en-US" sz="1000" dirty="0"/>
          </a:p>
        </p:txBody>
      </p:sp>
      <p:sp>
        <p:nvSpPr>
          <p:cNvPr id="26" name="Text 24"/>
          <p:cNvSpPr/>
          <p:nvPr/>
        </p:nvSpPr>
        <p:spPr>
          <a:xfrm>
            <a:off x="8275320" y="6364224"/>
            <a:ext cx="3840480" cy="457200"/>
          </a:xfrm>
          <a:prstGeom prst="rect">
            <a:avLst/>
          </a:prstGeom>
          <a:noFill/>
          <a:ln/>
        </p:spPr>
        <p:txBody>
          <a:bodyPr wrap="square" rtlCol="0" anchor="ctr"/>
          <a:lstStyle/>
          <a:p>
            <a:pPr algn="l" indent="0" marL="0">
              <a:buNone/>
            </a:pPr>
            <a:r>
              <a:rPr lang="en-US" sz="1000" dirty="0">
                <a:solidFill>
                  <a:srgbClr val="CBD5E0"/>
                </a:solidFill>
                <a:latin typeface="Calibri" pitchFamily="34" charset="0"/>
                <a:ea typeface="Calibri" pitchFamily="34" charset="-122"/>
                <a:cs typeface="Calibri" pitchFamily="34" charset="-120"/>
              </a:rPr>
              <a:t>All workers publish to segmentation.result — ResultListener aggregates from one place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How a Request Flows Through the System</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The order of each step reflects a deliberate design decision</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6/21</a:t>
            </a:r>
            <a:endParaRPr lang="en-US" sz="800" dirty="0"/>
          </a:p>
        </p:txBody>
      </p:sp>
      <p:sp>
        <p:nvSpPr>
          <p:cNvPr id="9" name="Shape 7"/>
          <p:cNvSpPr/>
          <p:nvPr/>
        </p:nvSpPr>
        <p:spPr>
          <a:xfrm>
            <a:off x="274320" y="1325880"/>
            <a:ext cx="5577840" cy="1600200"/>
          </a:xfrm>
          <a:prstGeom prst="rect">
            <a:avLst/>
          </a:prstGeom>
          <a:solidFill>
            <a:srgbClr val="FFFFFF"/>
          </a:solidFill>
          <a:ln w="12700">
            <a:solidFill>
              <a:srgbClr val="E2E8F0"/>
            </a:solidFill>
            <a:prstDash val="solid"/>
          </a:ln>
        </p:spPr>
      </p:sp>
      <p:sp>
        <p:nvSpPr>
          <p:cNvPr id="10" name="Shape 8"/>
          <p:cNvSpPr/>
          <p:nvPr/>
        </p:nvSpPr>
        <p:spPr>
          <a:xfrm>
            <a:off x="347472" y="1417320"/>
            <a:ext cx="438912" cy="438912"/>
          </a:xfrm>
          <a:prstGeom prst="roundRect">
            <a:avLst/>
          </a:prstGeom>
          <a:solidFill>
            <a:srgbClr val="B87333"/>
          </a:solidFill>
          <a:ln w="12700">
            <a:solidFill>
              <a:srgbClr val="B87333"/>
            </a:solidFill>
            <a:prstDash val="solid"/>
          </a:ln>
        </p:spPr>
      </p:sp>
      <p:sp>
        <p:nvSpPr>
          <p:cNvPr id="11" name="Text 9"/>
          <p:cNvSpPr/>
          <p:nvPr/>
        </p:nvSpPr>
        <p:spPr>
          <a:xfrm>
            <a:off x="347472" y="14173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2" name="Text 10"/>
          <p:cNvSpPr/>
          <p:nvPr/>
        </p:nvSpPr>
        <p:spPr>
          <a:xfrm>
            <a:off x="868680" y="1417320"/>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Validation first</a:t>
            </a:r>
            <a:endParaRPr lang="en-US" sz="1200" dirty="0"/>
          </a:p>
        </p:txBody>
      </p:sp>
      <p:sp>
        <p:nvSpPr>
          <p:cNvPr id="13" name="Text 11"/>
          <p:cNvSpPr/>
          <p:nvPr/>
        </p:nvSpPr>
        <p:spPr>
          <a:xfrm>
            <a:off x="365760" y="1892808"/>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 malformed parameter must be caught at the API boundary — Pydantic schemas prevent a bad request from reaching a worker.</a:t>
            </a:r>
            <a:endParaRPr lang="en-US" sz="1100" dirty="0"/>
          </a:p>
        </p:txBody>
      </p:sp>
      <p:sp>
        <p:nvSpPr>
          <p:cNvPr id="14" name="Shape 12"/>
          <p:cNvSpPr/>
          <p:nvPr/>
        </p:nvSpPr>
        <p:spPr>
          <a:xfrm>
            <a:off x="6263640" y="1325880"/>
            <a:ext cx="5577840" cy="1600200"/>
          </a:xfrm>
          <a:prstGeom prst="rect">
            <a:avLst/>
          </a:prstGeom>
          <a:solidFill>
            <a:srgbClr val="FFFFFF"/>
          </a:solidFill>
          <a:ln w="12700">
            <a:solidFill>
              <a:srgbClr val="E2E8F0"/>
            </a:solidFill>
            <a:prstDash val="solid"/>
          </a:ln>
        </p:spPr>
      </p:sp>
      <p:sp>
        <p:nvSpPr>
          <p:cNvPr id="15" name="Shape 13"/>
          <p:cNvSpPr/>
          <p:nvPr/>
        </p:nvSpPr>
        <p:spPr>
          <a:xfrm>
            <a:off x="6336792" y="1417320"/>
            <a:ext cx="438912" cy="438912"/>
          </a:xfrm>
          <a:prstGeom prst="roundRect">
            <a:avLst/>
          </a:prstGeom>
          <a:solidFill>
            <a:srgbClr val="0D9488"/>
          </a:solidFill>
          <a:ln w="12700">
            <a:solidFill>
              <a:srgbClr val="0D9488"/>
            </a:solidFill>
            <a:prstDash val="solid"/>
          </a:ln>
        </p:spPr>
      </p:sp>
      <p:sp>
        <p:nvSpPr>
          <p:cNvPr id="16" name="Text 14"/>
          <p:cNvSpPr/>
          <p:nvPr/>
        </p:nvSpPr>
        <p:spPr>
          <a:xfrm>
            <a:off x="6336792" y="14173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7" name="Text 15"/>
          <p:cNvSpPr/>
          <p:nvPr/>
        </p:nvSpPr>
        <p:spPr>
          <a:xfrm>
            <a:off x="6858000" y="1417320"/>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Task written to DB before publishing</a:t>
            </a:r>
            <a:endParaRPr lang="en-US" sz="1200" dirty="0"/>
          </a:p>
        </p:txBody>
      </p:sp>
      <p:sp>
        <p:nvSpPr>
          <p:cNvPr id="18" name="Text 16"/>
          <p:cNvSpPr/>
          <p:nvPr/>
        </p:nvSpPr>
        <p:spPr>
          <a:xfrm>
            <a:off x="6355080" y="1892808"/>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If a worker responds very quickly, the ResultListener must already have a task record to write into. Persistence before dispatch is a guarantee.</a:t>
            </a:r>
            <a:endParaRPr lang="en-US" sz="1100" dirty="0"/>
          </a:p>
        </p:txBody>
      </p:sp>
      <p:sp>
        <p:nvSpPr>
          <p:cNvPr id="19" name="Shape 17"/>
          <p:cNvSpPr/>
          <p:nvPr/>
        </p:nvSpPr>
        <p:spPr>
          <a:xfrm>
            <a:off x="274320" y="3081528"/>
            <a:ext cx="5577840" cy="1600200"/>
          </a:xfrm>
          <a:prstGeom prst="rect">
            <a:avLst/>
          </a:prstGeom>
          <a:solidFill>
            <a:srgbClr val="FFFFFF"/>
          </a:solidFill>
          <a:ln w="12700">
            <a:solidFill>
              <a:srgbClr val="E2E8F0"/>
            </a:solidFill>
            <a:prstDash val="solid"/>
          </a:ln>
        </p:spPr>
      </p:sp>
      <p:sp>
        <p:nvSpPr>
          <p:cNvPr id="20" name="Shape 18"/>
          <p:cNvSpPr/>
          <p:nvPr/>
        </p:nvSpPr>
        <p:spPr>
          <a:xfrm>
            <a:off x="347472" y="3172968"/>
            <a:ext cx="438912" cy="438912"/>
          </a:xfrm>
          <a:prstGeom prst="roundRect">
            <a:avLst/>
          </a:prstGeom>
          <a:solidFill>
            <a:srgbClr val="2D6A4F"/>
          </a:solidFill>
          <a:ln w="12700">
            <a:solidFill>
              <a:srgbClr val="2D6A4F"/>
            </a:solidFill>
            <a:prstDash val="solid"/>
          </a:ln>
        </p:spPr>
      </p:sp>
      <p:sp>
        <p:nvSpPr>
          <p:cNvPr id="21" name="Text 19"/>
          <p:cNvSpPr/>
          <p:nvPr/>
        </p:nvSpPr>
        <p:spPr>
          <a:xfrm>
            <a:off x="347472" y="31729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2" name="Text 20"/>
          <p:cNvSpPr/>
          <p:nvPr/>
        </p:nvSpPr>
        <p:spPr>
          <a:xfrm>
            <a:off x="868680" y="3172968"/>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Fusion is NOT dispatched immediately</a:t>
            </a:r>
            <a:endParaRPr lang="en-US" sz="1200" dirty="0"/>
          </a:p>
        </p:txBody>
      </p:sp>
      <p:sp>
        <p:nvSpPr>
          <p:cNvPr id="23" name="Text 21"/>
          <p:cNvSpPr/>
          <p:nvPr/>
        </p:nvSpPr>
        <p:spPr>
          <a:xfrm>
            <a:off x="365760" y="3648456"/>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The fusion worker needs 4 base algorithm results as input. Orchestrator adds fusion to the 'expected' list but holds it back from the 'dispatch' list.</a:t>
            </a:r>
            <a:endParaRPr lang="en-US" sz="1100" dirty="0"/>
          </a:p>
        </p:txBody>
      </p:sp>
      <p:sp>
        <p:nvSpPr>
          <p:cNvPr id="24" name="Shape 22"/>
          <p:cNvSpPr/>
          <p:nvPr/>
        </p:nvSpPr>
        <p:spPr>
          <a:xfrm>
            <a:off x="6263640" y="3081528"/>
            <a:ext cx="5577840" cy="1600200"/>
          </a:xfrm>
          <a:prstGeom prst="rect">
            <a:avLst/>
          </a:prstGeom>
          <a:solidFill>
            <a:srgbClr val="FFFFFF"/>
          </a:solidFill>
          <a:ln w="12700">
            <a:solidFill>
              <a:srgbClr val="E2E8F0"/>
            </a:solidFill>
            <a:prstDash val="solid"/>
          </a:ln>
        </p:spPr>
      </p:sp>
      <p:sp>
        <p:nvSpPr>
          <p:cNvPr id="25" name="Shape 23"/>
          <p:cNvSpPr/>
          <p:nvPr/>
        </p:nvSpPr>
        <p:spPr>
          <a:xfrm>
            <a:off x="6336792" y="3172968"/>
            <a:ext cx="438912" cy="438912"/>
          </a:xfrm>
          <a:prstGeom prst="roundRect">
            <a:avLst/>
          </a:prstGeom>
          <a:solidFill>
            <a:srgbClr val="B45309"/>
          </a:solidFill>
          <a:ln w="12700">
            <a:solidFill>
              <a:srgbClr val="B45309"/>
            </a:solidFill>
            <a:prstDash val="solid"/>
          </a:ln>
        </p:spPr>
      </p:sp>
      <p:sp>
        <p:nvSpPr>
          <p:cNvPr id="26" name="Text 24"/>
          <p:cNvSpPr/>
          <p:nvPr/>
        </p:nvSpPr>
        <p:spPr>
          <a:xfrm>
            <a:off x="6336792" y="31729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7" name="Text 25"/>
          <p:cNvSpPr/>
          <p:nvPr/>
        </p:nvSpPr>
        <p:spPr>
          <a:xfrm>
            <a:off x="6858000" y="3172968"/>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Workers run in parallel</a:t>
            </a:r>
            <a:endParaRPr lang="en-US" sz="1200" dirty="0"/>
          </a:p>
        </p:txBody>
      </p:sp>
      <p:sp>
        <p:nvSpPr>
          <p:cNvPr id="28" name="Text 26"/>
          <p:cNvSpPr/>
          <p:nvPr/>
        </p:nvSpPr>
        <p:spPr>
          <a:xfrm>
            <a:off x="6355080" y="3648456"/>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RabbitMQ delivers a separate message to each algorithm's queue. custom_librosa, Foote, CNMF, and SCluster do not wait for each other.</a:t>
            </a:r>
            <a:endParaRPr lang="en-US" sz="1100" dirty="0"/>
          </a:p>
        </p:txBody>
      </p:sp>
      <p:sp>
        <p:nvSpPr>
          <p:cNvPr id="29" name="Shape 27"/>
          <p:cNvSpPr/>
          <p:nvPr/>
        </p:nvSpPr>
        <p:spPr>
          <a:xfrm>
            <a:off x="274320" y="4837176"/>
            <a:ext cx="5577840" cy="1600200"/>
          </a:xfrm>
          <a:prstGeom prst="rect">
            <a:avLst/>
          </a:prstGeom>
          <a:solidFill>
            <a:srgbClr val="FFFFFF"/>
          </a:solidFill>
          <a:ln w="12700">
            <a:solidFill>
              <a:srgbClr val="E2E8F0"/>
            </a:solidFill>
            <a:prstDash val="solid"/>
          </a:ln>
        </p:spPr>
      </p:sp>
      <p:sp>
        <p:nvSpPr>
          <p:cNvPr id="30" name="Shape 28"/>
          <p:cNvSpPr/>
          <p:nvPr/>
        </p:nvSpPr>
        <p:spPr>
          <a:xfrm>
            <a:off x="347472" y="4928616"/>
            <a:ext cx="438912" cy="438912"/>
          </a:xfrm>
          <a:prstGeom prst="roundRect">
            <a:avLst/>
          </a:prstGeom>
          <a:solidFill>
            <a:srgbClr val="6D28D9"/>
          </a:solidFill>
          <a:ln w="12700">
            <a:solidFill>
              <a:srgbClr val="6D28D9"/>
            </a:solidFill>
            <a:prstDash val="solid"/>
          </a:ln>
        </p:spPr>
      </p:sp>
      <p:sp>
        <p:nvSpPr>
          <p:cNvPr id="31" name="Text 29"/>
          <p:cNvSpPr/>
          <p:nvPr/>
        </p:nvSpPr>
        <p:spPr>
          <a:xfrm>
            <a:off x="347472" y="49286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2" name="Text 30"/>
          <p:cNvSpPr/>
          <p:nvPr/>
        </p:nvSpPr>
        <p:spPr>
          <a:xfrm>
            <a:off x="868680" y="4928616"/>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Results are normalized as they arrive</a:t>
            </a:r>
            <a:endParaRPr lang="en-US" sz="1200" dirty="0"/>
          </a:p>
        </p:txBody>
      </p:sp>
      <p:sp>
        <p:nvSpPr>
          <p:cNvPr id="33" name="Text 31"/>
          <p:cNvSpPr/>
          <p:nvPr/>
        </p:nvSpPr>
        <p:spPr>
          <a:xfrm>
            <a:off x="365760" y="5404104"/>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ResultListener normalizes each incoming result and writes it to DB. Frontend sees partial results in real time via SSE stream.</a:t>
            </a:r>
            <a:endParaRPr lang="en-US" sz="1100" dirty="0"/>
          </a:p>
        </p:txBody>
      </p:sp>
      <p:sp>
        <p:nvSpPr>
          <p:cNvPr id="34" name="Shape 32"/>
          <p:cNvSpPr/>
          <p:nvPr/>
        </p:nvSpPr>
        <p:spPr>
          <a:xfrm>
            <a:off x="6263640" y="4837176"/>
            <a:ext cx="5577840" cy="1600200"/>
          </a:xfrm>
          <a:prstGeom prst="rect">
            <a:avLst/>
          </a:prstGeom>
          <a:solidFill>
            <a:srgbClr val="FFFFFF"/>
          </a:solidFill>
          <a:ln w="12700">
            <a:solidFill>
              <a:srgbClr val="E2E8F0"/>
            </a:solidFill>
            <a:prstDash val="solid"/>
          </a:ln>
        </p:spPr>
      </p:sp>
      <p:sp>
        <p:nvSpPr>
          <p:cNvPr id="35" name="Shape 33"/>
          <p:cNvSpPr/>
          <p:nvPr/>
        </p:nvSpPr>
        <p:spPr>
          <a:xfrm>
            <a:off x="6336792" y="4928616"/>
            <a:ext cx="438912" cy="438912"/>
          </a:xfrm>
          <a:prstGeom prst="roundRect">
            <a:avLst/>
          </a:prstGeom>
          <a:solidFill>
            <a:srgbClr val="1B2A4A"/>
          </a:solidFill>
          <a:ln w="12700">
            <a:solidFill>
              <a:srgbClr val="1B2A4A"/>
            </a:solidFill>
            <a:prstDash val="solid"/>
          </a:ln>
        </p:spPr>
      </p:sp>
      <p:sp>
        <p:nvSpPr>
          <p:cNvPr id="36" name="Text 34"/>
          <p:cNvSpPr/>
          <p:nvPr/>
        </p:nvSpPr>
        <p:spPr>
          <a:xfrm>
            <a:off x="6336792" y="49286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7" name="Text 35"/>
          <p:cNvSpPr/>
          <p:nvPr/>
        </p:nvSpPr>
        <p:spPr>
          <a:xfrm>
            <a:off x="6858000" y="4928616"/>
            <a:ext cx="4846320" cy="384048"/>
          </a:xfrm>
          <a:prstGeom prst="rect">
            <a:avLst/>
          </a:prstGeom>
          <a:noFill/>
          <a:ln/>
        </p:spPr>
        <p:txBody>
          <a:bodyPr wrap="square" lIns="0" tIns="0" rIns="0" bIns="0"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Fusion starts only after all bases resolve</a:t>
            </a:r>
            <a:endParaRPr lang="en-US" sz="1200" dirty="0"/>
          </a:p>
        </p:txBody>
      </p:sp>
      <p:sp>
        <p:nvSpPr>
          <p:cNvPr id="38" name="Text 36"/>
          <p:cNvSpPr/>
          <p:nvPr/>
        </p:nvSpPr>
        <p:spPr>
          <a:xfrm>
            <a:off x="6355080" y="5404104"/>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_maybe_dispatch_fusion() waits for all 4 baselines. Fusing with incomplete information would bias the result toward whichever algorithm finished first.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a Common Result Schema?</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Different algorithms must speak the same language for fusion to work</a:t>
            </a:r>
            <a:endParaRPr lang="en-US" sz="1300" dirty="0"/>
          </a:p>
        </p:txBody>
      </p:sp>
      <p:sp>
        <p:nvSpPr>
          <p:cNvPr id="6" name="Shape 4"/>
          <p:cNvSpPr/>
          <p:nvPr/>
        </p:nvSpPr>
        <p:spPr>
          <a:xfrm>
            <a:off x="9601200" y="6400800"/>
            <a:ext cx="2377440" cy="310896"/>
          </a:xfrm>
          <a:prstGeom prst="roundRect">
            <a:avLst/>
          </a:prstGeom>
          <a:solidFill>
            <a:srgbClr val="B87333"/>
          </a:solidFill>
          <a:ln w="12700">
            <a:solidFill>
              <a:srgbClr val="B87333"/>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1</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7/21</a:t>
            </a:r>
            <a:endParaRPr lang="en-US" sz="800" dirty="0"/>
          </a:p>
        </p:txBody>
      </p:sp>
      <p:sp>
        <p:nvSpPr>
          <p:cNvPr id="9" name="Shape 7"/>
          <p:cNvSpPr/>
          <p:nvPr/>
        </p:nvSpPr>
        <p:spPr>
          <a:xfrm>
            <a:off x="274320" y="1298448"/>
            <a:ext cx="11612880" cy="713232"/>
          </a:xfrm>
          <a:prstGeom prst="roundRect">
            <a:avLst/>
          </a:prstGeom>
          <a:solidFill>
            <a:srgbClr val="FFF7ED"/>
          </a:solidFill>
          <a:ln w="12700">
            <a:solidFill>
              <a:srgbClr val="B45309"/>
            </a:solidFill>
            <a:prstDash val="solid"/>
          </a:ln>
        </p:spPr>
      </p:sp>
      <p:sp>
        <p:nvSpPr>
          <p:cNvPr id="10" name="Text 8"/>
          <p:cNvSpPr/>
          <p:nvPr/>
        </p:nvSpPr>
        <p:spPr>
          <a:xfrm>
            <a:off x="457200" y="1298448"/>
            <a:ext cx="11247120" cy="713232"/>
          </a:xfrm>
          <a:prstGeom prst="rect">
            <a:avLst/>
          </a:prstGeom>
          <a:noFill/>
          <a:ln/>
        </p:spPr>
        <p:txBody>
          <a:bodyPr wrap="square" rtlCol="0" anchor="ctr"/>
          <a:lstStyle/>
          <a:p>
            <a:pPr algn="l" indent="0" marL="0">
              <a:buNone/>
            </a:pPr>
            <a:r>
              <a:rPr lang="en-US" sz="1200" dirty="0">
                <a:solidFill>
                  <a:srgbClr val="B45309"/>
                </a:solidFill>
                <a:latin typeface="Calibri" pitchFamily="34" charset="0"/>
                <a:ea typeface="Calibri" pitchFamily="34" charset="-122"/>
                <a:cs typeface="Calibri" pitchFamily="34" charset="-120"/>
              </a:rPr>
              <a:t>Without a shared schema: the fusion service would need a separate parser for each algorithm. custom_librosa, Foote, CNMF, and SCluster all produce different raw formats. Adding a new algorithm would break fusion.</a:t>
            </a:r>
            <a:endParaRPr lang="en-US" sz="1200" dirty="0"/>
          </a:p>
        </p:txBody>
      </p:sp>
      <p:sp>
        <p:nvSpPr>
          <p:cNvPr id="11" name="Shape 9"/>
          <p:cNvSpPr/>
          <p:nvPr/>
        </p:nvSpPr>
        <p:spPr>
          <a:xfrm>
            <a:off x="274320" y="2212848"/>
            <a:ext cx="3657600" cy="452628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12" name="Shape 10"/>
          <p:cNvSpPr/>
          <p:nvPr/>
        </p:nvSpPr>
        <p:spPr>
          <a:xfrm>
            <a:off x="274320" y="2212848"/>
            <a:ext cx="3657600" cy="50292"/>
          </a:xfrm>
          <a:prstGeom prst="rect">
            <a:avLst/>
          </a:prstGeom>
          <a:solidFill>
            <a:srgbClr val="B87333"/>
          </a:solidFill>
          <a:ln w="12700">
            <a:solidFill>
              <a:srgbClr val="B87333"/>
            </a:solidFill>
            <a:prstDash val="solid"/>
          </a:ln>
        </p:spPr>
      </p:sp>
      <p:sp>
        <p:nvSpPr>
          <p:cNvPr id="13" name="Text 11"/>
          <p:cNvSpPr/>
          <p:nvPr/>
        </p:nvSpPr>
        <p:spPr>
          <a:xfrm>
            <a:off x="402336" y="2322576"/>
            <a:ext cx="3401568" cy="201168"/>
          </a:xfrm>
          <a:prstGeom prst="rect">
            <a:avLst/>
          </a:prstGeom>
          <a:noFill/>
          <a:ln/>
        </p:spPr>
        <p:txBody>
          <a:bodyPr wrap="square" lIns="0" tIns="0" rIns="0" bIns="0" rtlCol="0" anchor="ctr"/>
          <a:lstStyle/>
          <a:p>
            <a:pPr algn="l" indent="0" marL="0">
              <a:buNone/>
            </a:pPr>
            <a:r>
              <a:rPr lang="en-US" sz="800" b="1" dirty="0">
                <a:solidFill>
                  <a:srgbClr val="9B1C1C"/>
                </a:solidFill>
                <a:latin typeface="Calibri" pitchFamily="34" charset="0"/>
                <a:ea typeface="Calibri" pitchFamily="34" charset="-122"/>
                <a:cs typeface="Calibri" pitchFamily="34" charset="-120"/>
              </a:rPr>
              <a:t>PROBLEM</a:t>
            </a:r>
            <a:endParaRPr lang="en-US" sz="800" dirty="0"/>
          </a:p>
        </p:txBody>
      </p:sp>
      <p:sp>
        <p:nvSpPr>
          <p:cNvPr id="14" name="Text 12"/>
          <p:cNvSpPr/>
          <p:nvPr/>
        </p:nvSpPr>
        <p:spPr>
          <a:xfrm>
            <a:off x="402336" y="252374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Each algorithm produced a different raw format — Foote: boundary timestamps only; CNMF: labeled segment list; custom: feature metadata included</a:t>
            </a:r>
            <a:endParaRPr lang="en-US" sz="1100" dirty="0"/>
          </a:p>
        </p:txBody>
      </p:sp>
      <p:sp>
        <p:nvSpPr>
          <p:cNvPr id="15" name="Shape 13"/>
          <p:cNvSpPr/>
          <p:nvPr/>
        </p:nvSpPr>
        <p:spPr>
          <a:xfrm>
            <a:off x="402336" y="3764280"/>
            <a:ext cx="3401568" cy="9144"/>
          </a:xfrm>
          <a:prstGeom prst="rect">
            <a:avLst/>
          </a:prstGeom>
          <a:solidFill>
            <a:srgbClr val="E2E8F0"/>
          </a:solidFill>
          <a:ln w="12700">
            <a:solidFill>
              <a:srgbClr val="E2E8F0"/>
            </a:solidFill>
            <a:prstDash val="solid"/>
          </a:ln>
        </p:spPr>
      </p:sp>
      <p:sp>
        <p:nvSpPr>
          <p:cNvPr id="16" name="Text 14"/>
          <p:cNvSpPr/>
          <p:nvPr/>
        </p:nvSpPr>
        <p:spPr>
          <a:xfrm>
            <a:off x="402336" y="3800856"/>
            <a:ext cx="3401568" cy="201168"/>
          </a:xfrm>
          <a:prstGeom prst="rect">
            <a:avLst/>
          </a:prstGeom>
          <a:noFill/>
          <a:ln/>
        </p:spPr>
        <p:txBody>
          <a:bodyPr wrap="square" lIns="0" tIns="0" rIns="0" bIns="0" rtlCol="0" anchor="ctr"/>
          <a:lstStyle/>
          <a:p>
            <a:pPr algn="l" indent="0" marL="0">
              <a:buNone/>
            </a:pPr>
            <a:r>
              <a:rPr lang="en-US" sz="800" b="1" dirty="0">
                <a:solidFill>
                  <a:srgbClr val="1B2A4A"/>
                </a:solidFill>
                <a:latin typeface="Calibri" pitchFamily="34" charset="0"/>
                <a:ea typeface="Calibri" pitchFamily="34" charset="-122"/>
                <a:cs typeface="Calibri" pitchFamily="34" charset="-120"/>
              </a:rPr>
              <a:t>DECISION</a:t>
            </a:r>
            <a:endParaRPr lang="en-US" sz="800" dirty="0"/>
          </a:p>
        </p:txBody>
      </p:sp>
      <p:sp>
        <p:nvSpPr>
          <p:cNvPr id="17" name="Text 15"/>
          <p:cNvSpPr/>
          <p:nvPr/>
        </p:nvSpPr>
        <p:spPr>
          <a:xfrm>
            <a:off x="402336" y="400202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AlgorithmResult schema: task_id, status, worker_type, algorithm, duration, boundaries[], segments[], diagnostics{}</a:t>
            </a:r>
            <a:endParaRPr lang="en-US" sz="1100" dirty="0"/>
          </a:p>
        </p:txBody>
      </p:sp>
      <p:sp>
        <p:nvSpPr>
          <p:cNvPr id="18" name="Shape 16"/>
          <p:cNvSpPr/>
          <p:nvPr/>
        </p:nvSpPr>
        <p:spPr>
          <a:xfrm>
            <a:off x="402336" y="5242560"/>
            <a:ext cx="3401568" cy="9144"/>
          </a:xfrm>
          <a:prstGeom prst="rect">
            <a:avLst/>
          </a:prstGeom>
          <a:solidFill>
            <a:srgbClr val="E2E8F0"/>
          </a:solidFill>
          <a:ln w="12700">
            <a:solidFill>
              <a:srgbClr val="E2E8F0"/>
            </a:solidFill>
            <a:prstDash val="solid"/>
          </a:ln>
        </p:spPr>
      </p:sp>
      <p:sp>
        <p:nvSpPr>
          <p:cNvPr id="19" name="Text 17"/>
          <p:cNvSpPr/>
          <p:nvPr/>
        </p:nvSpPr>
        <p:spPr>
          <a:xfrm>
            <a:off x="402336" y="5279136"/>
            <a:ext cx="3401568" cy="201168"/>
          </a:xfrm>
          <a:prstGeom prst="rect">
            <a:avLst/>
          </a:prstGeom>
          <a:noFill/>
          <a:ln/>
        </p:spPr>
        <p:txBody>
          <a:bodyPr wrap="square" lIns="0" tIns="0" rIns="0" bIns="0" rtlCol="0" anchor="ctr"/>
          <a:lstStyle/>
          <a:p>
            <a:pPr algn="l" indent="0" marL="0">
              <a:buNone/>
            </a:pPr>
            <a:r>
              <a:rPr lang="en-US" sz="800" b="1" dirty="0">
                <a:solidFill>
                  <a:srgbClr val="2D6A4F"/>
                </a:solidFill>
                <a:latin typeface="Calibri" pitchFamily="34" charset="0"/>
                <a:ea typeface="Calibri" pitchFamily="34" charset="-122"/>
                <a:cs typeface="Calibri" pitchFamily="34" charset="-120"/>
              </a:rPr>
              <a:t>WHY IT WORKS</a:t>
            </a:r>
            <a:endParaRPr lang="en-US" sz="800" dirty="0"/>
          </a:p>
        </p:txBody>
      </p:sp>
      <p:sp>
        <p:nvSpPr>
          <p:cNvPr id="20" name="Text 18"/>
          <p:cNvSpPr/>
          <p:nvPr/>
        </p:nvSpPr>
        <p:spPr>
          <a:xfrm>
            <a:off x="402336" y="548030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Fusion and evaluation never run algorithm-specific code. Writing a new worker means only conforming to this schema.</a:t>
            </a:r>
            <a:endParaRPr lang="en-US" sz="1100" dirty="0"/>
          </a:p>
        </p:txBody>
      </p:sp>
      <p:sp>
        <p:nvSpPr>
          <p:cNvPr id="21" name="Shape 19"/>
          <p:cNvSpPr/>
          <p:nvPr/>
        </p:nvSpPr>
        <p:spPr>
          <a:xfrm>
            <a:off x="4114800" y="2212848"/>
            <a:ext cx="3657600" cy="452628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22" name="Shape 20"/>
          <p:cNvSpPr/>
          <p:nvPr/>
        </p:nvSpPr>
        <p:spPr>
          <a:xfrm>
            <a:off x="4114800" y="2212848"/>
            <a:ext cx="3657600" cy="50292"/>
          </a:xfrm>
          <a:prstGeom prst="rect">
            <a:avLst/>
          </a:prstGeom>
          <a:solidFill>
            <a:srgbClr val="0D9488"/>
          </a:solidFill>
          <a:ln w="12700">
            <a:solidFill>
              <a:srgbClr val="0D9488"/>
            </a:solidFill>
            <a:prstDash val="solid"/>
          </a:ln>
        </p:spPr>
      </p:sp>
      <p:sp>
        <p:nvSpPr>
          <p:cNvPr id="23" name="Text 21"/>
          <p:cNvSpPr/>
          <p:nvPr/>
        </p:nvSpPr>
        <p:spPr>
          <a:xfrm>
            <a:off x="4242816" y="2322576"/>
            <a:ext cx="3401568" cy="201168"/>
          </a:xfrm>
          <a:prstGeom prst="rect">
            <a:avLst/>
          </a:prstGeom>
          <a:noFill/>
          <a:ln/>
        </p:spPr>
        <p:txBody>
          <a:bodyPr wrap="square" lIns="0" tIns="0" rIns="0" bIns="0" rtlCol="0" anchor="ctr"/>
          <a:lstStyle/>
          <a:p>
            <a:pPr algn="l" indent="0" marL="0">
              <a:buNone/>
            </a:pPr>
            <a:r>
              <a:rPr lang="en-US" sz="800" b="1" dirty="0">
                <a:solidFill>
                  <a:srgbClr val="9B1C1C"/>
                </a:solidFill>
                <a:latin typeface="Calibri" pitchFamily="34" charset="0"/>
                <a:ea typeface="Calibri" pitchFamily="34" charset="-122"/>
                <a:cs typeface="Calibri" pitchFamily="34" charset="-120"/>
              </a:rPr>
              <a:t>PROBLEM</a:t>
            </a:r>
            <a:endParaRPr lang="en-US" sz="800" dirty="0"/>
          </a:p>
        </p:txBody>
      </p:sp>
      <p:sp>
        <p:nvSpPr>
          <p:cNvPr id="24" name="Text 22"/>
          <p:cNvSpPr/>
          <p:nvPr/>
        </p:nvSpPr>
        <p:spPr>
          <a:xfrm>
            <a:off x="4242816" y="252374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MSAF's raw label was literally 'Verse'. That claim is too strong — is it really a Verse, or just a cluster that happens to repeat?</a:t>
            </a:r>
            <a:endParaRPr lang="en-US" sz="1100" dirty="0"/>
          </a:p>
        </p:txBody>
      </p:sp>
      <p:sp>
        <p:nvSpPr>
          <p:cNvPr id="25" name="Shape 23"/>
          <p:cNvSpPr/>
          <p:nvPr/>
        </p:nvSpPr>
        <p:spPr>
          <a:xfrm>
            <a:off x="4242816" y="3764280"/>
            <a:ext cx="3401568" cy="9144"/>
          </a:xfrm>
          <a:prstGeom prst="rect">
            <a:avLst/>
          </a:prstGeom>
          <a:solidFill>
            <a:srgbClr val="E2E8F0"/>
          </a:solidFill>
          <a:ln w="12700">
            <a:solidFill>
              <a:srgbClr val="E2E8F0"/>
            </a:solidFill>
            <a:prstDash val="solid"/>
          </a:ln>
        </p:spPr>
      </p:sp>
      <p:sp>
        <p:nvSpPr>
          <p:cNvPr id="26" name="Text 24"/>
          <p:cNvSpPr/>
          <p:nvPr/>
        </p:nvSpPr>
        <p:spPr>
          <a:xfrm>
            <a:off x="4242816" y="3800856"/>
            <a:ext cx="3401568" cy="201168"/>
          </a:xfrm>
          <a:prstGeom prst="rect">
            <a:avLst/>
          </a:prstGeom>
          <a:noFill/>
          <a:ln/>
        </p:spPr>
        <p:txBody>
          <a:bodyPr wrap="square" lIns="0" tIns="0" rIns="0" bIns="0" rtlCol="0" anchor="ctr"/>
          <a:lstStyle/>
          <a:p>
            <a:pPr algn="l" indent="0" marL="0">
              <a:buNone/>
            </a:pPr>
            <a:r>
              <a:rPr lang="en-US" sz="800" b="1" dirty="0">
                <a:solidFill>
                  <a:srgbClr val="1B2A4A"/>
                </a:solidFill>
                <a:latin typeface="Calibri" pitchFamily="34" charset="0"/>
                <a:ea typeface="Calibri" pitchFamily="34" charset="-122"/>
                <a:cs typeface="Calibri" pitchFamily="34" charset="-120"/>
              </a:rPr>
              <a:t>DECISION</a:t>
            </a:r>
            <a:endParaRPr lang="en-US" sz="800" dirty="0"/>
          </a:p>
        </p:txBody>
      </p:sp>
      <p:sp>
        <p:nvSpPr>
          <p:cNvPr id="27" name="Text 25"/>
          <p:cNvSpPr/>
          <p:nvPr/>
        </p:nvSpPr>
        <p:spPr>
          <a:xfrm>
            <a:off x="4242816" y="400202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Two layers: structural_label (A/B/C — similarity claim) and semantic_label (Intro/Verse/Chorus — musical role claim, heuristic)</a:t>
            </a:r>
            <a:endParaRPr lang="en-US" sz="1100" dirty="0"/>
          </a:p>
        </p:txBody>
      </p:sp>
      <p:sp>
        <p:nvSpPr>
          <p:cNvPr id="28" name="Shape 26"/>
          <p:cNvSpPr/>
          <p:nvPr/>
        </p:nvSpPr>
        <p:spPr>
          <a:xfrm>
            <a:off x="4242816" y="5242560"/>
            <a:ext cx="3401568" cy="9144"/>
          </a:xfrm>
          <a:prstGeom prst="rect">
            <a:avLst/>
          </a:prstGeom>
          <a:solidFill>
            <a:srgbClr val="E2E8F0"/>
          </a:solidFill>
          <a:ln w="12700">
            <a:solidFill>
              <a:srgbClr val="E2E8F0"/>
            </a:solidFill>
            <a:prstDash val="solid"/>
          </a:ln>
        </p:spPr>
      </p:sp>
      <p:sp>
        <p:nvSpPr>
          <p:cNvPr id="29" name="Text 27"/>
          <p:cNvSpPr/>
          <p:nvPr/>
        </p:nvSpPr>
        <p:spPr>
          <a:xfrm>
            <a:off x="4242816" y="5279136"/>
            <a:ext cx="3401568" cy="201168"/>
          </a:xfrm>
          <a:prstGeom prst="rect">
            <a:avLst/>
          </a:prstGeom>
          <a:noFill/>
          <a:ln/>
        </p:spPr>
        <p:txBody>
          <a:bodyPr wrap="square" lIns="0" tIns="0" rIns="0" bIns="0" rtlCol="0" anchor="ctr"/>
          <a:lstStyle/>
          <a:p>
            <a:pPr algn="l" indent="0" marL="0">
              <a:buNone/>
            </a:pPr>
            <a:r>
              <a:rPr lang="en-US" sz="800" b="1" dirty="0">
                <a:solidFill>
                  <a:srgbClr val="2D6A4F"/>
                </a:solidFill>
                <a:latin typeface="Calibri" pitchFamily="34" charset="0"/>
                <a:ea typeface="Calibri" pitchFamily="34" charset="-122"/>
                <a:cs typeface="Calibri" pitchFamily="34" charset="-120"/>
              </a:rPr>
              <a:t>WHY IT WORKS</a:t>
            </a:r>
            <a:endParaRPr lang="en-US" sz="800" dirty="0"/>
          </a:p>
        </p:txBody>
      </p:sp>
      <p:sp>
        <p:nvSpPr>
          <p:cNvPr id="30" name="Text 28"/>
          <p:cNvSpPr/>
          <p:nvPr/>
        </p:nvSpPr>
        <p:spPr>
          <a:xfrm>
            <a:off x="4242816" y="5480304"/>
            <a:ext cx="340156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The system does not present what it does not know as fact. Each label carries confidence and semantic_reason fields.</a:t>
            </a:r>
            <a:endParaRPr lang="en-US" sz="1100" dirty="0"/>
          </a:p>
        </p:txBody>
      </p:sp>
      <p:sp>
        <p:nvSpPr>
          <p:cNvPr id="31" name="Shape 29"/>
          <p:cNvSpPr/>
          <p:nvPr/>
        </p:nvSpPr>
        <p:spPr>
          <a:xfrm>
            <a:off x="7955280" y="2212848"/>
            <a:ext cx="3931920" cy="452628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32" name="Shape 30"/>
          <p:cNvSpPr/>
          <p:nvPr/>
        </p:nvSpPr>
        <p:spPr>
          <a:xfrm>
            <a:off x="7955280" y="2212848"/>
            <a:ext cx="3931920" cy="50292"/>
          </a:xfrm>
          <a:prstGeom prst="rect">
            <a:avLst/>
          </a:prstGeom>
          <a:solidFill>
            <a:srgbClr val="2D6A4F"/>
          </a:solidFill>
          <a:ln w="12700">
            <a:solidFill>
              <a:srgbClr val="2D6A4F"/>
            </a:solidFill>
            <a:prstDash val="solid"/>
          </a:ln>
        </p:spPr>
      </p:sp>
      <p:sp>
        <p:nvSpPr>
          <p:cNvPr id="33" name="Text 31"/>
          <p:cNvSpPr/>
          <p:nvPr/>
        </p:nvSpPr>
        <p:spPr>
          <a:xfrm>
            <a:off x="8083296" y="2322576"/>
            <a:ext cx="3675888" cy="201168"/>
          </a:xfrm>
          <a:prstGeom prst="rect">
            <a:avLst/>
          </a:prstGeom>
          <a:noFill/>
          <a:ln/>
        </p:spPr>
        <p:txBody>
          <a:bodyPr wrap="square" lIns="0" tIns="0" rIns="0" bIns="0" rtlCol="0" anchor="ctr"/>
          <a:lstStyle/>
          <a:p>
            <a:pPr algn="l" indent="0" marL="0">
              <a:buNone/>
            </a:pPr>
            <a:r>
              <a:rPr lang="en-US" sz="800" b="1" dirty="0">
                <a:solidFill>
                  <a:srgbClr val="9B1C1C"/>
                </a:solidFill>
                <a:latin typeface="Calibri" pitchFamily="34" charset="0"/>
                <a:ea typeface="Calibri" pitchFamily="34" charset="-122"/>
                <a:cs typeface="Calibri" pitchFamily="34" charset="-120"/>
              </a:rPr>
              <a:t>PROBLEM</a:t>
            </a:r>
            <a:endParaRPr lang="en-US" sz="800" dirty="0"/>
          </a:p>
        </p:txBody>
      </p:sp>
      <p:sp>
        <p:nvSpPr>
          <p:cNvPr id="34" name="Text 32"/>
          <p:cNvSpPr/>
          <p:nvPr/>
        </p:nvSpPr>
        <p:spPr>
          <a:xfrm>
            <a:off x="8083296" y="2523744"/>
            <a:ext cx="367588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ResultListener must serve two consumers at once: the frontend needs a simple segment list; fusion needs the full normalized result</a:t>
            </a:r>
            <a:endParaRPr lang="en-US" sz="1100" dirty="0"/>
          </a:p>
        </p:txBody>
      </p:sp>
      <p:sp>
        <p:nvSpPr>
          <p:cNvPr id="35" name="Shape 33"/>
          <p:cNvSpPr/>
          <p:nvPr/>
        </p:nvSpPr>
        <p:spPr>
          <a:xfrm>
            <a:off x="8083296" y="3764280"/>
            <a:ext cx="3675888" cy="9144"/>
          </a:xfrm>
          <a:prstGeom prst="rect">
            <a:avLst/>
          </a:prstGeom>
          <a:solidFill>
            <a:srgbClr val="E2E8F0"/>
          </a:solidFill>
          <a:ln w="12700">
            <a:solidFill>
              <a:srgbClr val="E2E8F0"/>
            </a:solidFill>
            <a:prstDash val="solid"/>
          </a:ln>
        </p:spPr>
      </p:sp>
      <p:sp>
        <p:nvSpPr>
          <p:cNvPr id="36" name="Text 34"/>
          <p:cNvSpPr/>
          <p:nvPr/>
        </p:nvSpPr>
        <p:spPr>
          <a:xfrm>
            <a:off x="8083296" y="3800856"/>
            <a:ext cx="3675888" cy="201168"/>
          </a:xfrm>
          <a:prstGeom prst="rect">
            <a:avLst/>
          </a:prstGeom>
          <a:noFill/>
          <a:ln/>
        </p:spPr>
        <p:txBody>
          <a:bodyPr wrap="square" lIns="0" tIns="0" rIns="0" bIns="0" rtlCol="0" anchor="ctr"/>
          <a:lstStyle/>
          <a:p>
            <a:pPr algn="l" indent="0" marL="0">
              <a:buNone/>
            </a:pPr>
            <a:r>
              <a:rPr lang="en-US" sz="800" b="1" dirty="0">
                <a:solidFill>
                  <a:srgbClr val="1B2A4A"/>
                </a:solidFill>
                <a:latin typeface="Calibri" pitchFamily="34" charset="0"/>
                <a:ea typeface="Calibri" pitchFamily="34" charset="-122"/>
                <a:cs typeface="Calibri" pitchFamily="34" charset="-120"/>
              </a:rPr>
              <a:t>DECISION</a:t>
            </a:r>
            <a:endParaRPr lang="en-US" sz="800" dirty="0"/>
          </a:p>
        </p:txBody>
      </p:sp>
      <p:sp>
        <p:nvSpPr>
          <p:cNvPr id="37" name="Text 35"/>
          <p:cNvSpPr/>
          <p:nvPr/>
        </p:nvSpPr>
        <p:spPr>
          <a:xfrm>
            <a:off x="8083296" y="4002024"/>
            <a:ext cx="367588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results[algo] → segment list (frontend). results[algo__result] → full result (fusion). results[algo__diagnostics] → explainability.</a:t>
            </a:r>
            <a:endParaRPr lang="en-US" sz="1100" dirty="0"/>
          </a:p>
        </p:txBody>
      </p:sp>
      <p:sp>
        <p:nvSpPr>
          <p:cNvPr id="38" name="Shape 36"/>
          <p:cNvSpPr/>
          <p:nvPr/>
        </p:nvSpPr>
        <p:spPr>
          <a:xfrm>
            <a:off x="8083296" y="5242560"/>
            <a:ext cx="3675888" cy="9144"/>
          </a:xfrm>
          <a:prstGeom prst="rect">
            <a:avLst/>
          </a:prstGeom>
          <a:solidFill>
            <a:srgbClr val="E2E8F0"/>
          </a:solidFill>
          <a:ln w="12700">
            <a:solidFill>
              <a:srgbClr val="E2E8F0"/>
            </a:solidFill>
            <a:prstDash val="solid"/>
          </a:ln>
        </p:spPr>
      </p:sp>
      <p:sp>
        <p:nvSpPr>
          <p:cNvPr id="39" name="Text 37"/>
          <p:cNvSpPr/>
          <p:nvPr/>
        </p:nvSpPr>
        <p:spPr>
          <a:xfrm>
            <a:off x="8083296" y="5279136"/>
            <a:ext cx="3675888" cy="201168"/>
          </a:xfrm>
          <a:prstGeom prst="rect">
            <a:avLst/>
          </a:prstGeom>
          <a:noFill/>
          <a:ln/>
        </p:spPr>
        <p:txBody>
          <a:bodyPr wrap="square" lIns="0" tIns="0" rIns="0" bIns="0" rtlCol="0" anchor="ctr"/>
          <a:lstStyle/>
          <a:p>
            <a:pPr algn="l" indent="0" marL="0">
              <a:buNone/>
            </a:pPr>
            <a:r>
              <a:rPr lang="en-US" sz="800" b="1" dirty="0">
                <a:solidFill>
                  <a:srgbClr val="2D6A4F"/>
                </a:solidFill>
                <a:latin typeface="Calibri" pitchFamily="34" charset="0"/>
                <a:ea typeface="Calibri" pitchFamily="34" charset="-122"/>
                <a:cs typeface="Calibri" pitchFamily="34" charset="-120"/>
              </a:rPr>
              <a:t>WHY IT WORKS</a:t>
            </a:r>
            <a:endParaRPr lang="en-US" sz="800" dirty="0"/>
          </a:p>
        </p:txBody>
      </p:sp>
      <p:sp>
        <p:nvSpPr>
          <p:cNvPr id="40" name="Text 38"/>
          <p:cNvSpPr/>
          <p:nvPr/>
        </p:nvSpPr>
        <p:spPr>
          <a:xfrm>
            <a:off x="8083296" y="5480304"/>
            <a:ext cx="3675888" cy="1222248"/>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Old frontend kept working without changes when the new fusion system was added. Backwards compatibility and extensibility together.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2651760"/>
            <a:ext cx="12161520" cy="54864"/>
          </a:xfrm>
          <a:prstGeom prst="rect">
            <a:avLst/>
          </a:prstGeom>
          <a:solidFill>
            <a:srgbClr val="B87333"/>
          </a:solidFill>
          <a:ln w="12700">
            <a:solidFill>
              <a:srgbClr val="B87333"/>
            </a:solidFill>
            <a:prstDash val="solid"/>
          </a:ln>
        </p:spPr>
      </p:sp>
      <p:sp>
        <p:nvSpPr>
          <p:cNvPr id="3" name="Text 1"/>
          <p:cNvSpPr/>
          <p:nvPr/>
        </p:nvSpPr>
        <p:spPr>
          <a:xfrm>
            <a:off x="914400" y="1554480"/>
            <a:ext cx="10332720" cy="109728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Segmentation Algorithms</a:t>
            </a:r>
            <a:endParaRPr lang="en-US" sz="4000" dirty="0"/>
          </a:p>
        </p:txBody>
      </p:sp>
      <p:sp>
        <p:nvSpPr>
          <p:cNvPr id="4" name="Text 2"/>
          <p:cNvSpPr/>
          <p:nvPr/>
        </p:nvSpPr>
        <p:spPr>
          <a:xfrm>
            <a:off x="1371600" y="2926080"/>
            <a:ext cx="9418320" cy="822960"/>
          </a:xfrm>
          <a:prstGeom prst="rect">
            <a:avLst/>
          </a:prstGeom>
          <a:noFill/>
          <a:ln/>
        </p:spPr>
        <p:txBody>
          <a:bodyPr wrap="square" rtlCol="0" anchor="ctr"/>
          <a:lstStyle/>
          <a:p>
            <a:pPr algn="ctr" indent="0" marL="0">
              <a:buNone/>
            </a:pPr>
            <a:r>
              <a:rPr lang="en-US" sz="1600" dirty="0">
                <a:solidFill>
                  <a:srgbClr val="D4944A"/>
                </a:solidFill>
                <a:latin typeface="Calibri" pitchFamily="34" charset="0"/>
                <a:ea typeface="Calibri" pitchFamily="34" charset="-122"/>
                <a:cs typeface="Calibri" pitchFamily="34" charset="-120"/>
              </a:rPr>
              <a:t>Why these 4, and why do they work together?</a:t>
            </a:r>
            <a:endParaRPr lang="en-US" sz="1600" dirty="0"/>
          </a:p>
        </p:txBody>
      </p:sp>
      <p:sp>
        <p:nvSpPr>
          <p:cNvPr id="5" name="Shape 3"/>
          <p:cNvSpPr/>
          <p:nvPr/>
        </p:nvSpPr>
        <p:spPr>
          <a:xfrm>
            <a:off x="9601200" y="6400800"/>
            <a:ext cx="2377440" cy="310896"/>
          </a:xfrm>
          <a:prstGeom prst="roundRect">
            <a:avLst/>
          </a:prstGeom>
          <a:solidFill>
            <a:srgbClr val="0D9488"/>
          </a:solidFill>
          <a:ln w="12700">
            <a:solidFill>
              <a:srgbClr val="0D9488"/>
            </a:solidFill>
            <a:prstDash val="solid"/>
          </a:ln>
        </p:spPr>
      </p:sp>
      <p:sp>
        <p:nvSpPr>
          <p:cNvPr id="6" name="Text 4"/>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7" name="Text 5"/>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8/21</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Custom Librosa Pipeline — Why Multi-Feature?</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Each signal sees a different type of transition</a:t>
            </a:r>
            <a:endParaRPr lang="en-US" sz="1300" dirty="0"/>
          </a:p>
        </p:txBody>
      </p:sp>
      <p:sp>
        <p:nvSpPr>
          <p:cNvPr id="6" name="Shape 4"/>
          <p:cNvSpPr/>
          <p:nvPr/>
        </p:nvSpPr>
        <p:spPr>
          <a:xfrm>
            <a:off x="9601200" y="6400800"/>
            <a:ext cx="2377440" cy="310896"/>
          </a:xfrm>
          <a:prstGeom prst="roundRect">
            <a:avLst/>
          </a:prstGeom>
          <a:solidFill>
            <a:srgbClr val="0D9488"/>
          </a:solidFill>
          <a:ln w="12700">
            <a:solidFill>
              <a:srgbClr val="0D9488"/>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9/21</a:t>
            </a:r>
            <a:endParaRPr lang="en-US" sz="800" dirty="0"/>
          </a:p>
        </p:txBody>
      </p:sp>
      <p:sp>
        <p:nvSpPr>
          <p:cNvPr id="9" name="Text 7"/>
          <p:cNvSpPr/>
          <p:nvPr/>
        </p:nvSpPr>
        <p:spPr>
          <a:xfrm>
            <a:off x="274320" y="1298448"/>
            <a:ext cx="5486400" cy="320040"/>
          </a:xfrm>
          <a:prstGeom prst="rect">
            <a:avLst/>
          </a:prstGeom>
          <a:noFill/>
          <a:ln/>
        </p:spPr>
        <p:txBody>
          <a:bodyPr wrap="square" rtlCol="0" anchor="ctr"/>
          <a:lstStyle/>
          <a:p>
            <a:pPr algn="l" indent="0" marL="0">
              <a:buNone/>
            </a:pPr>
            <a:r>
              <a:rPr lang="en-US" sz="1200" b="1" dirty="0">
                <a:solidFill>
                  <a:srgbClr val="1B2A4A"/>
                </a:solidFill>
                <a:latin typeface="Georgia" pitchFamily="34" charset="0"/>
                <a:ea typeface="Georgia" pitchFamily="34" charset="-122"/>
                <a:cs typeface="Georgia" pitchFamily="34" charset="-120"/>
              </a:rPr>
              <a:t>We built the pipeline in this order for a reason:</a:t>
            </a:r>
            <a:endParaRPr lang="en-US" sz="1200" dirty="0"/>
          </a:p>
        </p:txBody>
      </p:sp>
      <p:sp>
        <p:nvSpPr>
          <p:cNvPr id="10" name="Shape 8"/>
          <p:cNvSpPr/>
          <p:nvPr/>
        </p:nvSpPr>
        <p:spPr>
          <a:xfrm>
            <a:off x="274320" y="1737360"/>
            <a:ext cx="1828800" cy="1463040"/>
          </a:xfrm>
          <a:prstGeom prst="roundRect">
            <a:avLst/>
          </a:prstGeom>
          <a:solidFill>
            <a:srgbClr val="4A5568"/>
          </a:solidFill>
          <a:ln w="12700">
            <a:solidFill>
              <a:srgbClr val="4A5568"/>
            </a:solidFill>
            <a:prstDash val="solid"/>
          </a:ln>
        </p:spPr>
      </p:sp>
      <p:sp>
        <p:nvSpPr>
          <p:cNvPr id="11" name="Text 9"/>
          <p:cNvSpPr/>
          <p:nvPr/>
        </p:nvSpPr>
        <p:spPr>
          <a:xfrm>
            <a:off x="274320"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Load Audio</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(ffmpeg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mono 22050Hz)</a:t>
            </a:r>
            <a:endParaRPr lang="en-US" sz="1000" dirty="0"/>
          </a:p>
        </p:txBody>
      </p:sp>
      <p:sp>
        <p:nvSpPr>
          <p:cNvPr id="12" name="Text 10"/>
          <p:cNvSpPr/>
          <p:nvPr/>
        </p:nvSpPr>
        <p:spPr>
          <a:xfrm>
            <a:off x="2103120" y="2331720"/>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13" name="Shape 11"/>
          <p:cNvSpPr/>
          <p:nvPr/>
        </p:nvSpPr>
        <p:spPr>
          <a:xfrm>
            <a:off x="2304288" y="1737360"/>
            <a:ext cx="1828800" cy="1463040"/>
          </a:xfrm>
          <a:prstGeom prst="roundRect">
            <a:avLst/>
          </a:prstGeom>
          <a:solidFill>
            <a:srgbClr val="0D9488"/>
          </a:solidFill>
          <a:ln w="12700">
            <a:solidFill>
              <a:srgbClr val="0D9488"/>
            </a:solidFill>
            <a:prstDash val="solid"/>
          </a:ln>
        </p:spPr>
      </p:sp>
      <p:sp>
        <p:nvSpPr>
          <p:cNvPr id="14" name="Text 12"/>
          <p:cNvSpPr/>
          <p:nvPr/>
        </p:nvSpPr>
        <p:spPr>
          <a:xfrm>
            <a:off x="2304288"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Detect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Active Region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(crop silence)</a:t>
            </a:r>
            <a:endParaRPr lang="en-US" sz="1000" dirty="0"/>
          </a:p>
        </p:txBody>
      </p:sp>
      <p:sp>
        <p:nvSpPr>
          <p:cNvPr id="15" name="Text 13"/>
          <p:cNvSpPr/>
          <p:nvPr/>
        </p:nvSpPr>
        <p:spPr>
          <a:xfrm>
            <a:off x="4133088" y="2331720"/>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16" name="Shape 14"/>
          <p:cNvSpPr/>
          <p:nvPr/>
        </p:nvSpPr>
        <p:spPr>
          <a:xfrm>
            <a:off x="4334256" y="1737360"/>
            <a:ext cx="1828800" cy="1463040"/>
          </a:xfrm>
          <a:prstGeom prst="roundRect">
            <a:avLst/>
          </a:prstGeom>
          <a:solidFill>
            <a:srgbClr val="2D6A4F"/>
          </a:solidFill>
          <a:ln w="12700">
            <a:solidFill>
              <a:srgbClr val="2D6A4F"/>
            </a:solidFill>
            <a:prstDash val="solid"/>
          </a:ln>
        </p:spPr>
      </p:sp>
      <p:sp>
        <p:nvSpPr>
          <p:cNvPr id="17" name="Text 15"/>
          <p:cNvSpPr/>
          <p:nvPr/>
        </p:nvSpPr>
        <p:spPr>
          <a:xfrm>
            <a:off x="4334256"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Extract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Features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(Chroma+MFCC)</a:t>
            </a:r>
            <a:endParaRPr lang="en-US" sz="1000" dirty="0"/>
          </a:p>
        </p:txBody>
      </p:sp>
      <p:sp>
        <p:nvSpPr>
          <p:cNvPr id="18" name="Text 16"/>
          <p:cNvSpPr/>
          <p:nvPr/>
        </p:nvSpPr>
        <p:spPr>
          <a:xfrm>
            <a:off x="6163056" y="2331720"/>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19" name="Shape 17"/>
          <p:cNvSpPr/>
          <p:nvPr/>
        </p:nvSpPr>
        <p:spPr>
          <a:xfrm>
            <a:off x="6364224" y="1737360"/>
            <a:ext cx="1828800" cy="1463040"/>
          </a:xfrm>
          <a:prstGeom prst="roundRect">
            <a:avLst/>
          </a:prstGeom>
          <a:solidFill>
            <a:srgbClr val="B87333"/>
          </a:solidFill>
          <a:ln w="12700">
            <a:solidFill>
              <a:srgbClr val="B87333"/>
            </a:solidFill>
            <a:prstDash val="solid"/>
          </a:ln>
        </p:spPr>
      </p:sp>
      <p:sp>
        <p:nvSpPr>
          <p:cNvPr id="20" name="Text 18"/>
          <p:cNvSpPr/>
          <p:nvPr/>
        </p:nvSpPr>
        <p:spPr>
          <a:xfrm>
            <a:off x="6364224"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Build SSM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(every frame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vs every frame)</a:t>
            </a:r>
            <a:endParaRPr lang="en-US" sz="1000" dirty="0"/>
          </a:p>
        </p:txBody>
      </p:sp>
      <p:sp>
        <p:nvSpPr>
          <p:cNvPr id="21" name="Text 19"/>
          <p:cNvSpPr/>
          <p:nvPr/>
        </p:nvSpPr>
        <p:spPr>
          <a:xfrm>
            <a:off x="8193024" y="2331720"/>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22" name="Shape 20"/>
          <p:cNvSpPr/>
          <p:nvPr/>
        </p:nvSpPr>
        <p:spPr>
          <a:xfrm>
            <a:off x="8394192" y="1737360"/>
            <a:ext cx="1828800" cy="1463040"/>
          </a:xfrm>
          <a:prstGeom prst="roundRect">
            <a:avLst/>
          </a:prstGeom>
          <a:solidFill>
            <a:srgbClr val="B45309"/>
          </a:solidFill>
          <a:ln w="12700">
            <a:solidFill>
              <a:srgbClr val="B45309"/>
            </a:solidFill>
            <a:prstDash val="solid"/>
          </a:ln>
        </p:spPr>
      </p:sp>
      <p:sp>
        <p:nvSpPr>
          <p:cNvPr id="23" name="Text 21"/>
          <p:cNvSpPr/>
          <p:nvPr/>
        </p:nvSpPr>
        <p:spPr>
          <a:xfrm>
            <a:off x="8394192"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Candidates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(6 signals)</a:t>
            </a:r>
            <a:endParaRPr lang="en-US" sz="1000" dirty="0"/>
          </a:p>
        </p:txBody>
      </p:sp>
      <p:sp>
        <p:nvSpPr>
          <p:cNvPr id="24" name="Text 22"/>
          <p:cNvSpPr/>
          <p:nvPr/>
        </p:nvSpPr>
        <p:spPr>
          <a:xfrm>
            <a:off x="10222992" y="2331720"/>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25" name="Shape 23"/>
          <p:cNvSpPr/>
          <p:nvPr/>
        </p:nvSpPr>
        <p:spPr>
          <a:xfrm>
            <a:off x="10424160" y="1737360"/>
            <a:ext cx="1828800" cy="1463040"/>
          </a:xfrm>
          <a:prstGeom prst="roundRect">
            <a:avLst/>
          </a:prstGeom>
          <a:solidFill>
            <a:srgbClr val="6D28D9"/>
          </a:solidFill>
          <a:ln w="12700">
            <a:solidFill>
              <a:srgbClr val="6D28D9"/>
            </a:solidFill>
            <a:prstDash val="solid"/>
          </a:ln>
        </p:spPr>
      </p:sp>
      <p:sp>
        <p:nvSpPr>
          <p:cNvPr id="26" name="Text 24"/>
          <p:cNvSpPr/>
          <p:nvPr/>
        </p:nvSpPr>
        <p:spPr>
          <a:xfrm>
            <a:off x="10424160" y="1737360"/>
            <a:ext cx="1828800" cy="1463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Fuse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(feature fusion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 snapping)</a:t>
            </a:r>
            <a:endParaRPr lang="en-US" sz="1000" dirty="0"/>
          </a:p>
        </p:txBody>
      </p:sp>
      <p:sp>
        <p:nvSpPr>
          <p:cNvPr id="27" name="Shape 25"/>
          <p:cNvSpPr/>
          <p:nvPr/>
        </p:nvSpPr>
        <p:spPr>
          <a:xfrm>
            <a:off x="274320" y="3429000"/>
            <a:ext cx="5577840" cy="1371600"/>
          </a:xfrm>
          <a:prstGeom prst="rect">
            <a:avLst/>
          </a:prstGeom>
          <a:solidFill>
            <a:srgbClr val="FFFFFF"/>
          </a:solidFill>
          <a:ln w="12700">
            <a:solidFill>
              <a:srgbClr val="E2E8F0"/>
            </a:solidFill>
            <a:prstDash val="solid"/>
          </a:ln>
        </p:spPr>
      </p:sp>
      <p:sp>
        <p:nvSpPr>
          <p:cNvPr id="28" name="Shape 26"/>
          <p:cNvSpPr/>
          <p:nvPr/>
        </p:nvSpPr>
        <p:spPr>
          <a:xfrm>
            <a:off x="274320" y="3429000"/>
            <a:ext cx="54864" cy="1371600"/>
          </a:xfrm>
          <a:prstGeom prst="rect">
            <a:avLst/>
          </a:prstGeom>
          <a:solidFill>
            <a:srgbClr val="0D9488"/>
          </a:solidFill>
          <a:ln w="12700">
            <a:solidFill>
              <a:srgbClr val="0D9488"/>
            </a:solidFill>
            <a:prstDash val="solid"/>
          </a:ln>
        </p:spPr>
      </p:sp>
      <p:sp>
        <p:nvSpPr>
          <p:cNvPr id="29" name="Text 27"/>
          <p:cNvSpPr/>
          <p:nvPr/>
        </p:nvSpPr>
        <p:spPr>
          <a:xfrm>
            <a:off x="438912" y="3502152"/>
            <a:ext cx="5303520" cy="347472"/>
          </a:xfrm>
          <a:prstGeom prst="rect">
            <a:avLst/>
          </a:prstGeom>
          <a:noFill/>
          <a:ln/>
        </p:spPr>
        <p:txBody>
          <a:bodyPr wrap="square" lIns="0" tIns="0" rIns="0" bIns="0" rtlCol="0" anchor="ctr"/>
          <a:lstStyle/>
          <a:p>
            <a:pPr algn="l" indent="0" marL="0">
              <a:buNone/>
            </a:pPr>
            <a:r>
              <a:rPr lang="en-US" sz="1200" b="1" dirty="0">
                <a:solidFill>
                  <a:srgbClr val="0D9488"/>
                </a:solidFill>
                <a:latin typeface="Georgia" pitchFamily="34" charset="0"/>
                <a:ea typeface="Georgia" pitchFamily="34" charset="-122"/>
                <a:cs typeface="Georgia" pitchFamily="34" charset="-120"/>
              </a:rPr>
              <a:t>1. Why detect the active region first?</a:t>
            </a:r>
            <a:endParaRPr lang="en-US" sz="1200" dirty="0"/>
          </a:p>
        </p:txBody>
      </p:sp>
      <p:sp>
        <p:nvSpPr>
          <p:cNvPr id="30" name="Text 28"/>
          <p:cNvSpPr/>
          <p:nvPr/>
        </p:nvSpPr>
        <p:spPr>
          <a:xfrm>
            <a:off x="438912" y="3886200"/>
            <a:ext cx="530352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Silence distorts SSM calculations and segment duration measurements. We analyze only the musical content, then add active_start back to all timestamps at the end.</a:t>
            </a:r>
            <a:endParaRPr lang="en-US" sz="1100" dirty="0"/>
          </a:p>
        </p:txBody>
      </p:sp>
      <p:sp>
        <p:nvSpPr>
          <p:cNvPr id="31" name="Shape 29"/>
          <p:cNvSpPr/>
          <p:nvPr/>
        </p:nvSpPr>
        <p:spPr>
          <a:xfrm>
            <a:off x="6263640" y="3429000"/>
            <a:ext cx="5577840" cy="1371600"/>
          </a:xfrm>
          <a:prstGeom prst="rect">
            <a:avLst/>
          </a:prstGeom>
          <a:solidFill>
            <a:srgbClr val="FFFFFF"/>
          </a:solidFill>
          <a:ln w="12700">
            <a:solidFill>
              <a:srgbClr val="E2E8F0"/>
            </a:solidFill>
            <a:prstDash val="solid"/>
          </a:ln>
        </p:spPr>
      </p:sp>
      <p:sp>
        <p:nvSpPr>
          <p:cNvPr id="32" name="Shape 30"/>
          <p:cNvSpPr/>
          <p:nvPr/>
        </p:nvSpPr>
        <p:spPr>
          <a:xfrm>
            <a:off x="6263640" y="3429000"/>
            <a:ext cx="54864" cy="1371600"/>
          </a:xfrm>
          <a:prstGeom prst="rect">
            <a:avLst/>
          </a:prstGeom>
          <a:solidFill>
            <a:srgbClr val="B87333"/>
          </a:solidFill>
          <a:ln w="12700">
            <a:solidFill>
              <a:srgbClr val="B87333"/>
            </a:solidFill>
            <a:prstDash val="solid"/>
          </a:ln>
        </p:spPr>
      </p:sp>
      <p:sp>
        <p:nvSpPr>
          <p:cNvPr id="33" name="Text 31"/>
          <p:cNvSpPr/>
          <p:nvPr/>
        </p:nvSpPr>
        <p:spPr>
          <a:xfrm>
            <a:off x="6428232" y="3502152"/>
            <a:ext cx="5303520" cy="347472"/>
          </a:xfrm>
          <a:prstGeom prst="rect">
            <a:avLst/>
          </a:prstGeom>
          <a:noFill/>
          <a:ln/>
        </p:spPr>
        <p:txBody>
          <a:bodyPr wrap="square" lIns="0" tIns="0" rIns="0" bIns="0" rtlCol="0" anchor="ctr"/>
          <a:lstStyle/>
          <a:p>
            <a:pPr algn="l" indent="0" marL="0">
              <a:buNone/>
            </a:pPr>
            <a:r>
              <a:rPr lang="en-US" sz="1200" b="1" dirty="0">
                <a:solidFill>
                  <a:srgbClr val="B87333"/>
                </a:solidFill>
                <a:latin typeface="Georgia" pitchFamily="34" charset="0"/>
                <a:ea typeface="Georgia" pitchFamily="34" charset="-122"/>
                <a:cs typeface="Georgia" pitchFamily="34" charset="-120"/>
              </a:rPr>
              <a:t>2. Why is SSM the heaviest step?</a:t>
            </a:r>
            <a:endParaRPr lang="en-US" sz="1200" dirty="0"/>
          </a:p>
        </p:txBody>
      </p:sp>
      <p:sp>
        <p:nvSpPr>
          <p:cNvPr id="34" name="Text 32"/>
          <p:cNvSpPr/>
          <p:nvPr/>
        </p:nvSpPr>
        <p:spPr>
          <a:xfrm>
            <a:off x="6428232" y="3886200"/>
            <a:ext cx="530352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Every frame is compared to every other frame (O(N²)). Repeated Chorus sections appear as bright diagonal blocks in the matrix — structural information no other signal can provide.</a:t>
            </a:r>
            <a:endParaRPr lang="en-US" sz="1100" dirty="0"/>
          </a:p>
        </p:txBody>
      </p:sp>
      <p:sp>
        <p:nvSpPr>
          <p:cNvPr id="35" name="Shape 33"/>
          <p:cNvSpPr/>
          <p:nvPr/>
        </p:nvSpPr>
        <p:spPr>
          <a:xfrm>
            <a:off x="274320" y="4937760"/>
            <a:ext cx="5577840" cy="1371600"/>
          </a:xfrm>
          <a:prstGeom prst="rect">
            <a:avLst/>
          </a:prstGeom>
          <a:solidFill>
            <a:srgbClr val="FFFFFF"/>
          </a:solidFill>
          <a:ln w="12700">
            <a:solidFill>
              <a:srgbClr val="E2E8F0"/>
            </a:solidFill>
            <a:prstDash val="solid"/>
          </a:ln>
        </p:spPr>
      </p:sp>
      <p:sp>
        <p:nvSpPr>
          <p:cNvPr id="36" name="Shape 34"/>
          <p:cNvSpPr/>
          <p:nvPr/>
        </p:nvSpPr>
        <p:spPr>
          <a:xfrm>
            <a:off x="274320" y="4937760"/>
            <a:ext cx="54864" cy="1371600"/>
          </a:xfrm>
          <a:prstGeom prst="rect">
            <a:avLst/>
          </a:prstGeom>
          <a:solidFill>
            <a:srgbClr val="2D6A4F"/>
          </a:solidFill>
          <a:ln w="12700">
            <a:solidFill>
              <a:srgbClr val="2D6A4F"/>
            </a:solidFill>
            <a:prstDash val="solid"/>
          </a:ln>
        </p:spPr>
      </p:sp>
      <p:sp>
        <p:nvSpPr>
          <p:cNvPr id="37" name="Text 35"/>
          <p:cNvSpPr/>
          <p:nvPr/>
        </p:nvSpPr>
        <p:spPr>
          <a:xfrm>
            <a:off x="438912" y="5010912"/>
            <a:ext cx="5303520" cy="347472"/>
          </a:xfrm>
          <a:prstGeom prst="rect">
            <a:avLst/>
          </a:prstGeom>
          <a:noFill/>
          <a:ln/>
        </p:spPr>
        <p:txBody>
          <a:bodyPr wrap="square" lIns="0" tIns="0" rIns="0" bIns="0" rtlCol="0" anchor="ctr"/>
          <a:lstStyle/>
          <a:p>
            <a:pPr algn="l" indent="0" marL="0">
              <a:buNone/>
            </a:pPr>
            <a:r>
              <a:rPr lang="en-US" sz="1200" b="1" dirty="0">
                <a:solidFill>
                  <a:srgbClr val="2D6A4F"/>
                </a:solidFill>
                <a:latin typeface="Georgia" pitchFamily="34" charset="0"/>
                <a:ea typeface="Georgia" pitchFamily="34" charset="-122"/>
                <a:cs typeface="Georgia" pitchFamily="34" charset="-120"/>
              </a:rPr>
              <a:t>3. Why run 6 signals simultaneously?</a:t>
            </a:r>
            <a:endParaRPr lang="en-US" sz="1200" dirty="0"/>
          </a:p>
        </p:txBody>
      </p:sp>
      <p:sp>
        <p:nvSpPr>
          <p:cNvPr id="38" name="Text 36"/>
          <p:cNvSpPr/>
          <p:nvPr/>
        </p:nvSpPr>
        <p:spPr>
          <a:xfrm>
            <a:off x="438912" y="5394960"/>
            <a:ext cx="530352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RMS captures energy change, Chroma captures harmonic shift, Onset captures attack density, Beat captures rhythmic alignment, SSM captures structural repetition, Lyrics capture text boundaries. None sees what the others see.</a:t>
            </a:r>
            <a:endParaRPr lang="en-US" sz="1100" dirty="0"/>
          </a:p>
        </p:txBody>
      </p:sp>
      <p:sp>
        <p:nvSpPr>
          <p:cNvPr id="39" name="Shape 37"/>
          <p:cNvSpPr/>
          <p:nvPr/>
        </p:nvSpPr>
        <p:spPr>
          <a:xfrm>
            <a:off x="6263640" y="4937760"/>
            <a:ext cx="5577840" cy="1371600"/>
          </a:xfrm>
          <a:prstGeom prst="rect">
            <a:avLst/>
          </a:prstGeom>
          <a:solidFill>
            <a:srgbClr val="FFFFFF"/>
          </a:solidFill>
          <a:ln w="12700">
            <a:solidFill>
              <a:srgbClr val="E2E8F0"/>
            </a:solidFill>
            <a:prstDash val="solid"/>
          </a:ln>
        </p:spPr>
      </p:sp>
      <p:sp>
        <p:nvSpPr>
          <p:cNvPr id="40" name="Shape 38"/>
          <p:cNvSpPr/>
          <p:nvPr/>
        </p:nvSpPr>
        <p:spPr>
          <a:xfrm>
            <a:off x="6263640" y="4937760"/>
            <a:ext cx="54864" cy="1371600"/>
          </a:xfrm>
          <a:prstGeom prst="rect">
            <a:avLst/>
          </a:prstGeom>
          <a:solidFill>
            <a:srgbClr val="B45309"/>
          </a:solidFill>
          <a:ln w="12700">
            <a:solidFill>
              <a:srgbClr val="B45309"/>
            </a:solidFill>
            <a:prstDash val="solid"/>
          </a:ln>
        </p:spPr>
      </p:sp>
      <p:sp>
        <p:nvSpPr>
          <p:cNvPr id="41" name="Text 39"/>
          <p:cNvSpPr/>
          <p:nvPr/>
        </p:nvSpPr>
        <p:spPr>
          <a:xfrm>
            <a:off x="6428232" y="5010912"/>
            <a:ext cx="5303520" cy="347472"/>
          </a:xfrm>
          <a:prstGeom prst="rect">
            <a:avLst/>
          </a:prstGeom>
          <a:noFill/>
          <a:ln/>
        </p:spPr>
        <p:txBody>
          <a:bodyPr wrap="square" lIns="0" tIns="0" rIns="0" bIns="0" rtlCol="0" anchor="ctr"/>
          <a:lstStyle/>
          <a:p>
            <a:pPr algn="l" indent="0" marL="0">
              <a:buNone/>
            </a:pPr>
            <a:r>
              <a:rPr lang="en-US" sz="1200" b="1" dirty="0">
                <a:solidFill>
                  <a:srgbClr val="B45309"/>
                </a:solidFill>
                <a:latin typeface="Georgia" pitchFamily="34" charset="0"/>
                <a:ea typeface="Georgia" pitchFamily="34" charset="-122"/>
                <a:cs typeface="Georgia" pitchFamily="34" charset="-120"/>
              </a:rPr>
              <a:t>4. Why is snapping the final step?</a:t>
            </a:r>
            <a:endParaRPr lang="en-US" sz="1200" dirty="0"/>
          </a:p>
        </p:txBody>
      </p:sp>
      <p:sp>
        <p:nvSpPr>
          <p:cNvPr id="42" name="Text 40"/>
          <p:cNvSpPr/>
          <p:nvPr/>
        </p:nvSpPr>
        <p:spPr>
          <a:xfrm>
            <a:off x="6428232" y="5394960"/>
            <a:ext cx="5303520" cy="868680"/>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SSM finds the right region but timestamp precision is limited by frame resolution. At the very end we snap to a nearby strong onset or beat — structural detector answers 'where', onset answers 'exactly when'.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Self-Similarity Matrix — Why the Central Signal?</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Repetition information exists only in the SSM</a:t>
            </a:r>
            <a:endParaRPr lang="en-US" sz="1300" dirty="0"/>
          </a:p>
        </p:txBody>
      </p:sp>
      <p:sp>
        <p:nvSpPr>
          <p:cNvPr id="6" name="Shape 4"/>
          <p:cNvSpPr/>
          <p:nvPr/>
        </p:nvSpPr>
        <p:spPr>
          <a:xfrm>
            <a:off x="9601200" y="6400800"/>
            <a:ext cx="2377440" cy="310896"/>
          </a:xfrm>
          <a:prstGeom prst="roundRect">
            <a:avLst/>
          </a:prstGeom>
          <a:solidFill>
            <a:srgbClr val="0D9488"/>
          </a:solidFill>
          <a:ln w="12700">
            <a:solidFill>
              <a:srgbClr val="0D9488"/>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10/21</a:t>
            </a:r>
            <a:endParaRPr lang="en-US" sz="800" dirty="0"/>
          </a:p>
        </p:txBody>
      </p:sp>
      <p:sp>
        <p:nvSpPr>
          <p:cNvPr id="9" name="Text 7"/>
          <p:cNvSpPr/>
          <p:nvPr/>
        </p:nvSpPr>
        <p:spPr>
          <a:xfrm>
            <a:off x="274320" y="1298448"/>
            <a:ext cx="3657600" cy="32004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What we see in the SSM:</a:t>
            </a:r>
            <a:endParaRPr lang="en-US" sz="1300" dirty="0"/>
          </a:p>
        </p:txBody>
      </p:sp>
      <p:sp>
        <p:nvSpPr>
          <p:cNvPr id="10" name="Shape 8"/>
          <p:cNvSpPr/>
          <p:nvPr/>
        </p:nvSpPr>
        <p:spPr>
          <a:xfrm>
            <a:off x="274320" y="1719072"/>
            <a:ext cx="402336" cy="402336"/>
          </a:xfrm>
          <a:prstGeom prst="rect">
            <a:avLst/>
          </a:prstGeom>
          <a:solidFill>
            <a:srgbClr val="2D6A4F"/>
          </a:solidFill>
          <a:ln w="12700">
            <a:solidFill>
              <a:srgbClr val="FFFFFF"/>
            </a:solidFill>
            <a:prstDash val="solid"/>
          </a:ln>
        </p:spPr>
      </p:sp>
      <p:sp>
        <p:nvSpPr>
          <p:cNvPr id="11" name="Shape 9"/>
          <p:cNvSpPr/>
          <p:nvPr/>
        </p:nvSpPr>
        <p:spPr>
          <a:xfrm>
            <a:off x="694944" y="1719072"/>
            <a:ext cx="402336" cy="402336"/>
          </a:xfrm>
          <a:prstGeom prst="rect">
            <a:avLst/>
          </a:prstGeom>
          <a:solidFill>
            <a:srgbClr val="E2E8F0"/>
          </a:solidFill>
          <a:ln w="12700">
            <a:solidFill>
              <a:srgbClr val="FFFFFF"/>
            </a:solidFill>
            <a:prstDash val="solid"/>
          </a:ln>
        </p:spPr>
      </p:sp>
      <p:sp>
        <p:nvSpPr>
          <p:cNvPr id="12" name="Shape 10"/>
          <p:cNvSpPr/>
          <p:nvPr/>
        </p:nvSpPr>
        <p:spPr>
          <a:xfrm>
            <a:off x="1115568" y="1719072"/>
            <a:ext cx="402336" cy="402336"/>
          </a:xfrm>
          <a:prstGeom prst="rect">
            <a:avLst/>
          </a:prstGeom>
          <a:solidFill>
            <a:srgbClr val="E2E8F0"/>
          </a:solidFill>
          <a:ln w="12700">
            <a:solidFill>
              <a:srgbClr val="FFFFFF"/>
            </a:solidFill>
            <a:prstDash val="solid"/>
          </a:ln>
        </p:spPr>
      </p:sp>
      <p:sp>
        <p:nvSpPr>
          <p:cNvPr id="13" name="Shape 11"/>
          <p:cNvSpPr/>
          <p:nvPr/>
        </p:nvSpPr>
        <p:spPr>
          <a:xfrm>
            <a:off x="1536192" y="1719072"/>
            <a:ext cx="402336" cy="402336"/>
          </a:xfrm>
          <a:prstGeom prst="rect">
            <a:avLst/>
          </a:prstGeom>
          <a:solidFill>
            <a:srgbClr val="E2E8F0"/>
          </a:solidFill>
          <a:ln w="12700">
            <a:solidFill>
              <a:srgbClr val="FFFFFF"/>
            </a:solidFill>
            <a:prstDash val="solid"/>
          </a:ln>
        </p:spPr>
      </p:sp>
      <p:sp>
        <p:nvSpPr>
          <p:cNvPr id="14" name="Shape 12"/>
          <p:cNvSpPr/>
          <p:nvPr/>
        </p:nvSpPr>
        <p:spPr>
          <a:xfrm>
            <a:off x="1956816" y="1719072"/>
            <a:ext cx="402336" cy="402336"/>
          </a:xfrm>
          <a:prstGeom prst="rect">
            <a:avLst/>
          </a:prstGeom>
          <a:solidFill>
            <a:srgbClr val="E2E8F0"/>
          </a:solidFill>
          <a:ln w="12700">
            <a:solidFill>
              <a:srgbClr val="FFFFFF"/>
            </a:solidFill>
            <a:prstDash val="solid"/>
          </a:ln>
        </p:spPr>
      </p:sp>
      <p:sp>
        <p:nvSpPr>
          <p:cNvPr id="15" name="Shape 13"/>
          <p:cNvSpPr/>
          <p:nvPr/>
        </p:nvSpPr>
        <p:spPr>
          <a:xfrm>
            <a:off x="2377440" y="1719072"/>
            <a:ext cx="402336" cy="402336"/>
          </a:xfrm>
          <a:prstGeom prst="rect">
            <a:avLst/>
          </a:prstGeom>
          <a:solidFill>
            <a:srgbClr val="E2E8F0"/>
          </a:solidFill>
          <a:ln w="12700">
            <a:solidFill>
              <a:srgbClr val="FFFFFF"/>
            </a:solidFill>
            <a:prstDash val="solid"/>
          </a:ln>
        </p:spPr>
      </p:sp>
      <p:sp>
        <p:nvSpPr>
          <p:cNvPr id="16" name="Shape 14"/>
          <p:cNvSpPr/>
          <p:nvPr/>
        </p:nvSpPr>
        <p:spPr>
          <a:xfrm>
            <a:off x="2798064" y="1719072"/>
            <a:ext cx="402336" cy="402336"/>
          </a:xfrm>
          <a:prstGeom prst="rect">
            <a:avLst/>
          </a:prstGeom>
          <a:solidFill>
            <a:srgbClr val="E2E8F0"/>
          </a:solidFill>
          <a:ln w="12700">
            <a:solidFill>
              <a:srgbClr val="FFFFFF"/>
            </a:solidFill>
            <a:prstDash val="solid"/>
          </a:ln>
        </p:spPr>
      </p:sp>
      <p:sp>
        <p:nvSpPr>
          <p:cNvPr id="17" name="Shape 15"/>
          <p:cNvSpPr/>
          <p:nvPr/>
        </p:nvSpPr>
        <p:spPr>
          <a:xfrm>
            <a:off x="3218688" y="1719072"/>
            <a:ext cx="402336" cy="402336"/>
          </a:xfrm>
          <a:prstGeom prst="rect">
            <a:avLst/>
          </a:prstGeom>
          <a:solidFill>
            <a:srgbClr val="E2E8F0"/>
          </a:solidFill>
          <a:ln w="12700">
            <a:solidFill>
              <a:srgbClr val="FFFFFF"/>
            </a:solidFill>
            <a:prstDash val="solid"/>
          </a:ln>
        </p:spPr>
      </p:sp>
      <p:sp>
        <p:nvSpPr>
          <p:cNvPr id="18" name="Shape 16"/>
          <p:cNvSpPr/>
          <p:nvPr/>
        </p:nvSpPr>
        <p:spPr>
          <a:xfrm>
            <a:off x="274320" y="2139696"/>
            <a:ext cx="402336" cy="402336"/>
          </a:xfrm>
          <a:prstGeom prst="rect">
            <a:avLst/>
          </a:prstGeom>
          <a:solidFill>
            <a:srgbClr val="E2E8F0"/>
          </a:solidFill>
          <a:ln w="12700">
            <a:solidFill>
              <a:srgbClr val="FFFFFF"/>
            </a:solidFill>
            <a:prstDash val="solid"/>
          </a:ln>
        </p:spPr>
      </p:sp>
      <p:sp>
        <p:nvSpPr>
          <p:cNvPr id="19" name="Shape 17"/>
          <p:cNvSpPr/>
          <p:nvPr/>
        </p:nvSpPr>
        <p:spPr>
          <a:xfrm>
            <a:off x="694944" y="2139696"/>
            <a:ext cx="402336" cy="402336"/>
          </a:xfrm>
          <a:prstGeom prst="rect">
            <a:avLst/>
          </a:prstGeom>
          <a:solidFill>
            <a:srgbClr val="2D6A4F"/>
          </a:solidFill>
          <a:ln w="12700">
            <a:solidFill>
              <a:srgbClr val="FFFFFF"/>
            </a:solidFill>
            <a:prstDash val="solid"/>
          </a:ln>
        </p:spPr>
      </p:sp>
      <p:sp>
        <p:nvSpPr>
          <p:cNvPr id="20" name="Shape 18"/>
          <p:cNvSpPr/>
          <p:nvPr/>
        </p:nvSpPr>
        <p:spPr>
          <a:xfrm>
            <a:off x="1115568" y="2139696"/>
            <a:ext cx="402336" cy="402336"/>
          </a:xfrm>
          <a:prstGeom prst="rect">
            <a:avLst/>
          </a:prstGeom>
          <a:solidFill>
            <a:srgbClr val="2D6A4F"/>
          </a:solidFill>
          <a:ln w="12700">
            <a:solidFill>
              <a:srgbClr val="FFFFFF"/>
            </a:solidFill>
            <a:prstDash val="solid"/>
          </a:ln>
        </p:spPr>
      </p:sp>
      <p:sp>
        <p:nvSpPr>
          <p:cNvPr id="21" name="Shape 19"/>
          <p:cNvSpPr/>
          <p:nvPr/>
        </p:nvSpPr>
        <p:spPr>
          <a:xfrm>
            <a:off x="1536192" y="2139696"/>
            <a:ext cx="402336" cy="402336"/>
          </a:xfrm>
          <a:prstGeom prst="rect">
            <a:avLst/>
          </a:prstGeom>
          <a:solidFill>
            <a:srgbClr val="E2E8F0"/>
          </a:solidFill>
          <a:ln w="12700">
            <a:solidFill>
              <a:srgbClr val="FFFFFF"/>
            </a:solidFill>
            <a:prstDash val="solid"/>
          </a:ln>
        </p:spPr>
      </p:sp>
      <p:sp>
        <p:nvSpPr>
          <p:cNvPr id="22" name="Shape 20"/>
          <p:cNvSpPr/>
          <p:nvPr/>
        </p:nvSpPr>
        <p:spPr>
          <a:xfrm>
            <a:off x="1956816" y="2139696"/>
            <a:ext cx="402336" cy="402336"/>
          </a:xfrm>
          <a:prstGeom prst="rect">
            <a:avLst/>
          </a:prstGeom>
          <a:solidFill>
            <a:srgbClr val="E2E8F0"/>
          </a:solidFill>
          <a:ln w="12700">
            <a:solidFill>
              <a:srgbClr val="FFFFFF"/>
            </a:solidFill>
            <a:prstDash val="solid"/>
          </a:ln>
        </p:spPr>
      </p:sp>
      <p:sp>
        <p:nvSpPr>
          <p:cNvPr id="23" name="Shape 21"/>
          <p:cNvSpPr/>
          <p:nvPr/>
        </p:nvSpPr>
        <p:spPr>
          <a:xfrm>
            <a:off x="2377440" y="2139696"/>
            <a:ext cx="402336" cy="402336"/>
          </a:xfrm>
          <a:prstGeom prst="rect">
            <a:avLst/>
          </a:prstGeom>
          <a:solidFill>
            <a:srgbClr val="2D6A4F"/>
          </a:solidFill>
          <a:ln w="12700">
            <a:solidFill>
              <a:srgbClr val="FFFFFF"/>
            </a:solidFill>
            <a:prstDash val="solid"/>
          </a:ln>
        </p:spPr>
      </p:sp>
      <p:sp>
        <p:nvSpPr>
          <p:cNvPr id="24" name="Shape 22"/>
          <p:cNvSpPr/>
          <p:nvPr/>
        </p:nvSpPr>
        <p:spPr>
          <a:xfrm>
            <a:off x="2798064" y="2139696"/>
            <a:ext cx="402336" cy="402336"/>
          </a:xfrm>
          <a:prstGeom prst="rect">
            <a:avLst/>
          </a:prstGeom>
          <a:solidFill>
            <a:srgbClr val="2D6A4F"/>
          </a:solidFill>
          <a:ln w="12700">
            <a:solidFill>
              <a:srgbClr val="FFFFFF"/>
            </a:solidFill>
            <a:prstDash val="solid"/>
          </a:ln>
        </p:spPr>
      </p:sp>
      <p:sp>
        <p:nvSpPr>
          <p:cNvPr id="25" name="Shape 23"/>
          <p:cNvSpPr/>
          <p:nvPr/>
        </p:nvSpPr>
        <p:spPr>
          <a:xfrm>
            <a:off x="3218688" y="2139696"/>
            <a:ext cx="402336" cy="402336"/>
          </a:xfrm>
          <a:prstGeom prst="rect">
            <a:avLst/>
          </a:prstGeom>
          <a:solidFill>
            <a:srgbClr val="E2E8F0"/>
          </a:solidFill>
          <a:ln w="12700">
            <a:solidFill>
              <a:srgbClr val="FFFFFF"/>
            </a:solidFill>
            <a:prstDash val="solid"/>
          </a:ln>
        </p:spPr>
      </p:sp>
      <p:sp>
        <p:nvSpPr>
          <p:cNvPr id="26" name="Shape 24"/>
          <p:cNvSpPr/>
          <p:nvPr/>
        </p:nvSpPr>
        <p:spPr>
          <a:xfrm>
            <a:off x="274320" y="2560320"/>
            <a:ext cx="402336" cy="402336"/>
          </a:xfrm>
          <a:prstGeom prst="rect">
            <a:avLst/>
          </a:prstGeom>
          <a:solidFill>
            <a:srgbClr val="E2E8F0"/>
          </a:solidFill>
          <a:ln w="12700">
            <a:solidFill>
              <a:srgbClr val="FFFFFF"/>
            </a:solidFill>
            <a:prstDash val="solid"/>
          </a:ln>
        </p:spPr>
      </p:sp>
      <p:sp>
        <p:nvSpPr>
          <p:cNvPr id="27" name="Shape 25"/>
          <p:cNvSpPr/>
          <p:nvPr/>
        </p:nvSpPr>
        <p:spPr>
          <a:xfrm>
            <a:off x="694944" y="2560320"/>
            <a:ext cx="402336" cy="402336"/>
          </a:xfrm>
          <a:prstGeom prst="rect">
            <a:avLst/>
          </a:prstGeom>
          <a:solidFill>
            <a:srgbClr val="2D6A4F"/>
          </a:solidFill>
          <a:ln w="12700">
            <a:solidFill>
              <a:srgbClr val="FFFFFF"/>
            </a:solidFill>
            <a:prstDash val="solid"/>
          </a:ln>
        </p:spPr>
      </p:sp>
      <p:sp>
        <p:nvSpPr>
          <p:cNvPr id="28" name="Shape 26"/>
          <p:cNvSpPr/>
          <p:nvPr/>
        </p:nvSpPr>
        <p:spPr>
          <a:xfrm>
            <a:off x="1115568" y="2560320"/>
            <a:ext cx="402336" cy="402336"/>
          </a:xfrm>
          <a:prstGeom prst="rect">
            <a:avLst/>
          </a:prstGeom>
          <a:solidFill>
            <a:srgbClr val="2D6A4F"/>
          </a:solidFill>
          <a:ln w="12700">
            <a:solidFill>
              <a:srgbClr val="FFFFFF"/>
            </a:solidFill>
            <a:prstDash val="solid"/>
          </a:ln>
        </p:spPr>
      </p:sp>
      <p:sp>
        <p:nvSpPr>
          <p:cNvPr id="29" name="Shape 27"/>
          <p:cNvSpPr/>
          <p:nvPr/>
        </p:nvSpPr>
        <p:spPr>
          <a:xfrm>
            <a:off x="1536192" y="2560320"/>
            <a:ext cx="402336" cy="402336"/>
          </a:xfrm>
          <a:prstGeom prst="rect">
            <a:avLst/>
          </a:prstGeom>
          <a:solidFill>
            <a:srgbClr val="E2E8F0"/>
          </a:solidFill>
          <a:ln w="12700">
            <a:solidFill>
              <a:srgbClr val="FFFFFF"/>
            </a:solidFill>
            <a:prstDash val="solid"/>
          </a:ln>
        </p:spPr>
      </p:sp>
      <p:sp>
        <p:nvSpPr>
          <p:cNvPr id="30" name="Shape 28"/>
          <p:cNvSpPr/>
          <p:nvPr/>
        </p:nvSpPr>
        <p:spPr>
          <a:xfrm>
            <a:off x="1956816" y="2560320"/>
            <a:ext cx="402336" cy="402336"/>
          </a:xfrm>
          <a:prstGeom prst="rect">
            <a:avLst/>
          </a:prstGeom>
          <a:solidFill>
            <a:srgbClr val="E2E8F0"/>
          </a:solidFill>
          <a:ln w="12700">
            <a:solidFill>
              <a:srgbClr val="FFFFFF"/>
            </a:solidFill>
            <a:prstDash val="solid"/>
          </a:ln>
        </p:spPr>
      </p:sp>
      <p:sp>
        <p:nvSpPr>
          <p:cNvPr id="31" name="Shape 29"/>
          <p:cNvSpPr/>
          <p:nvPr/>
        </p:nvSpPr>
        <p:spPr>
          <a:xfrm>
            <a:off x="2377440" y="2560320"/>
            <a:ext cx="402336" cy="402336"/>
          </a:xfrm>
          <a:prstGeom prst="rect">
            <a:avLst/>
          </a:prstGeom>
          <a:solidFill>
            <a:srgbClr val="2D6A4F"/>
          </a:solidFill>
          <a:ln w="12700">
            <a:solidFill>
              <a:srgbClr val="FFFFFF"/>
            </a:solidFill>
            <a:prstDash val="solid"/>
          </a:ln>
        </p:spPr>
      </p:sp>
      <p:sp>
        <p:nvSpPr>
          <p:cNvPr id="32" name="Shape 30"/>
          <p:cNvSpPr/>
          <p:nvPr/>
        </p:nvSpPr>
        <p:spPr>
          <a:xfrm>
            <a:off x="2798064" y="2560320"/>
            <a:ext cx="402336" cy="402336"/>
          </a:xfrm>
          <a:prstGeom prst="rect">
            <a:avLst/>
          </a:prstGeom>
          <a:solidFill>
            <a:srgbClr val="2D6A4F"/>
          </a:solidFill>
          <a:ln w="12700">
            <a:solidFill>
              <a:srgbClr val="FFFFFF"/>
            </a:solidFill>
            <a:prstDash val="solid"/>
          </a:ln>
        </p:spPr>
      </p:sp>
      <p:sp>
        <p:nvSpPr>
          <p:cNvPr id="33" name="Shape 31"/>
          <p:cNvSpPr/>
          <p:nvPr/>
        </p:nvSpPr>
        <p:spPr>
          <a:xfrm>
            <a:off x="3218688" y="2560320"/>
            <a:ext cx="402336" cy="402336"/>
          </a:xfrm>
          <a:prstGeom prst="rect">
            <a:avLst/>
          </a:prstGeom>
          <a:solidFill>
            <a:srgbClr val="E2E8F0"/>
          </a:solidFill>
          <a:ln w="12700">
            <a:solidFill>
              <a:srgbClr val="FFFFFF"/>
            </a:solidFill>
            <a:prstDash val="solid"/>
          </a:ln>
        </p:spPr>
      </p:sp>
      <p:sp>
        <p:nvSpPr>
          <p:cNvPr id="34" name="Shape 32"/>
          <p:cNvSpPr/>
          <p:nvPr/>
        </p:nvSpPr>
        <p:spPr>
          <a:xfrm>
            <a:off x="274320" y="2980944"/>
            <a:ext cx="402336" cy="402336"/>
          </a:xfrm>
          <a:prstGeom prst="rect">
            <a:avLst/>
          </a:prstGeom>
          <a:solidFill>
            <a:srgbClr val="E2E8F0"/>
          </a:solidFill>
          <a:ln w="12700">
            <a:solidFill>
              <a:srgbClr val="FFFFFF"/>
            </a:solidFill>
            <a:prstDash val="solid"/>
          </a:ln>
        </p:spPr>
      </p:sp>
      <p:sp>
        <p:nvSpPr>
          <p:cNvPr id="35" name="Shape 33"/>
          <p:cNvSpPr/>
          <p:nvPr/>
        </p:nvSpPr>
        <p:spPr>
          <a:xfrm>
            <a:off x="694944" y="2980944"/>
            <a:ext cx="402336" cy="402336"/>
          </a:xfrm>
          <a:prstGeom prst="rect">
            <a:avLst/>
          </a:prstGeom>
          <a:solidFill>
            <a:srgbClr val="E2E8F0"/>
          </a:solidFill>
          <a:ln w="12700">
            <a:solidFill>
              <a:srgbClr val="FFFFFF"/>
            </a:solidFill>
            <a:prstDash val="solid"/>
          </a:ln>
        </p:spPr>
      </p:sp>
      <p:sp>
        <p:nvSpPr>
          <p:cNvPr id="36" name="Shape 34"/>
          <p:cNvSpPr/>
          <p:nvPr/>
        </p:nvSpPr>
        <p:spPr>
          <a:xfrm>
            <a:off x="1115568" y="2980944"/>
            <a:ext cx="402336" cy="402336"/>
          </a:xfrm>
          <a:prstGeom prst="rect">
            <a:avLst/>
          </a:prstGeom>
          <a:solidFill>
            <a:srgbClr val="E2E8F0"/>
          </a:solidFill>
          <a:ln w="12700">
            <a:solidFill>
              <a:srgbClr val="FFFFFF"/>
            </a:solidFill>
            <a:prstDash val="solid"/>
          </a:ln>
        </p:spPr>
      </p:sp>
      <p:sp>
        <p:nvSpPr>
          <p:cNvPr id="37" name="Shape 35"/>
          <p:cNvSpPr/>
          <p:nvPr/>
        </p:nvSpPr>
        <p:spPr>
          <a:xfrm>
            <a:off x="1536192" y="2980944"/>
            <a:ext cx="402336" cy="402336"/>
          </a:xfrm>
          <a:prstGeom prst="rect">
            <a:avLst/>
          </a:prstGeom>
          <a:solidFill>
            <a:srgbClr val="2D6A4F"/>
          </a:solidFill>
          <a:ln w="12700">
            <a:solidFill>
              <a:srgbClr val="FFFFFF"/>
            </a:solidFill>
            <a:prstDash val="solid"/>
          </a:ln>
        </p:spPr>
      </p:sp>
      <p:sp>
        <p:nvSpPr>
          <p:cNvPr id="38" name="Shape 36"/>
          <p:cNvSpPr/>
          <p:nvPr/>
        </p:nvSpPr>
        <p:spPr>
          <a:xfrm>
            <a:off x="1956816" y="2980944"/>
            <a:ext cx="402336" cy="402336"/>
          </a:xfrm>
          <a:prstGeom prst="rect">
            <a:avLst/>
          </a:prstGeom>
          <a:solidFill>
            <a:srgbClr val="2D6A4F"/>
          </a:solidFill>
          <a:ln w="12700">
            <a:solidFill>
              <a:srgbClr val="FFFFFF"/>
            </a:solidFill>
            <a:prstDash val="solid"/>
          </a:ln>
        </p:spPr>
      </p:sp>
      <p:sp>
        <p:nvSpPr>
          <p:cNvPr id="39" name="Shape 37"/>
          <p:cNvSpPr/>
          <p:nvPr/>
        </p:nvSpPr>
        <p:spPr>
          <a:xfrm>
            <a:off x="2377440" y="2980944"/>
            <a:ext cx="402336" cy="402336"/>
          </a:xfrm>
          <a:prstGeom prst="rect">
            <a:avLst/>
          </a:prstGeom>
          <a:solidFill>
            <a:srgbClr val="E2E8F0"/>
          </a:solidFill>
          <a:ln w="12700">
            <a:solidFill>
              <a:srgbClr val="FFFFFF"/>
            </a:solidFill>
            <a:prstDash val="solid"/>
          </a:ln>
        </p:spPr>
      </p:sp>
      <p:sp>
        <p:nvSpPr>
          <p:cNvPr id="40" name="Shape 38"/>
          <p:cNvSpPr/>
          <p:nvPr/>
        </p:nvSpPr>
        <p:spPr>
          <a:xfrm>
            <a:off x="2798064" y="2980944"/>
            <a:ext cx="402336" cy="402336"/>
          </a:xfrm>
          <a:prstGeom prst="rect">
            <a:avLst/>
          </a:prstGeom>
          <a:solidFill>
            <a:srgbClr val="E2E8F0"/>
          </a:solidFill>
          <a:ln w="12700">
            <a:solidFill>
              <a:srgbClr val="FFFFFF"/>
            </a:solidFill>
            <a:prstDash val="solid"/>
          </a:ln>
        </p:spPr>
      </p:sp>
      <p:sp>
        <p:nvSpPr>
          <p:cNvPr id="41" name="Shape 39"/>
          <p:cNvSpPr/>
          <p:nvPr/>
        </p:nvSpPr>
        <p:spPr>
          <a:xfrm>
            <a:off x="3218688" y="2980944"/>
            <a:ext cx="402336" cy="402336"/>
          </a:xfrm>
          <a:prstGeom prst="rect">
            <a:avLst/>
          </a:prstGeom>
          <a:solidFill>
            <a:srgbClr val="2D6A4F"/>
          </a:solidFill>
          <a:ln w="12700">
            <a:solidFill>
              <a:srgbClr val="FFFFFF"/>
            </a:solidFill>
            <a:prstDash val="solid"/>
          </a:ln>
        </p:spPr>
      </p:sp>
      <p:sp>
        <p:nvSpPr>
          <p:cNvPr id="42" name="Shape 40"/>
          <p:cNvSpPr/>
          <p:nvPr/>
        </p:nvSpPr>
        <p:spPr>
          <a:xfrm>
            <a:off x="274320" y="3401568"/>
            <a:ext cx="402336" cy="402336"/>
          </a:xfrm>
          <a:prstGeom prst="rect">
            <a:avLst/>
          </a:prstGeom>
          <a:solidFill>
            <a:srgbClr val="E2E8F0"/>
          </a:solidFill>
          <a:ln w="12700">
            <a:solidFill>
              <a:srgbClr val="FFFFFF"/>
            </a:solidFill>
            <a:prstDash val="solid"/>
          </a:ln>
        </p:spPr>
      </p:sp>
      <p:sp>
        <p:nvSpPr>
          <p:cNvPr id="43" name="Shape 41"/>
          <p:cNvSpPr/>
          <p:nvPr/>
        </p:nvSpPr>
        <p:spPr>
          <a:xfrm>
            <a:off x="694944" y="3401568"/>
            <a:ext cx="402336" cy="402336"/>
          </a:xfrm>
          <a:prstGeom prst="rect">
            <a:avLst/>
          </a:prstGeom>
          <a:solidFill>
            <a:srgbClr val="E2E8F0"/>
          </a:solidFill>
          <a:ln w="12700">
            <a:solidFill>
              <a:srgbClr val="FFFFFF"/>
            </a:solidFill>
            <a:prstDash val="solid"/>
          </a:ln>
        </p:spPr>
      </p:sp>
      <p:sp>
        <p:nvSpPr>
          <p:cNvPr id="44" name="Shape 42"/>
          <p:cNvSpPr/>
          <p:nvPr/>
        </p:nvSpPr>
        <p:spPr>
          <a:xfrm>
            <a:off x="1115568" y="3401568"/>
            <a:ext cx="402336" cy="402336"/>
          </a:xfrm>
          <a:prstGeom prst="rect">
            <a:avLst/>
          </a:prstGeom>
          <a:solidFill>
            <a:srgbClr val="E2E8F0"/>
          </a:solidFill>
          <a:ln w="12700">
            <a:solidFill>
              <a:srgbClr val="FFFFFF"/>
            </a:solidFill>
            <a:prstDash val="solid"/>
          </a:ln>
        </p:spPr>
      </p:sp>
      <p:sp>
        <p:nvSpPr>
          <p:cNvPr id="45" name="Shape 43"/>
          <p:cNvSpPr/>
          <p:nvPr/>
        </p:nvSpPr>
        <p:spPr>
          <a:xfrm>
            <a:off x="1536192" y="3401568"/>
            <a:ext cx="402336" cy="402336"/>
          </a:xfrm>
          <a:prstGeom prst="rect">
            <a:avLst/>
          </a:prstGeom>
          <a:solidFill>
            <a:srgbClr val="2D6A4F"/>
          </a:solidFill>
          <a:ln w="12700">
            <a:solidFill>
              <a:srgbClr val="FFFFFF"/>
            </a:solidFill>
            <a:prstDash val="solid"/>
          </a:ln>
        </p:spPr>
      </p:sp>
      <p:sp>
        <p:nvSpPr>
          <p:cNvPr id="46" name="Shape 44"/>
          <p:cNvSpPr/>
          <p:nvPr/>
        </p:nvSpPr>
        <p:spPr>
          <a:xfrm>
            <a:off x="1956816" y="3401568"/>
            <a:ext cx="402336" cy="402336"/>
          </a:xfrm>
          <a:prstGeom prst="rect">
            <a:avLst/>
          </a:prstGeom>
          <a:solidFill>
            <a:srgbClr val="2D6A4F"/>
          </a:solidFill>
          <a:ln w="12700">
            <a:solidFill>
              <a:srgbClr val="FFFFFF"/>
            </a:solidFill>
            <a:prstDash val="solid"/>
          </a:ln>
        </p:spPr>
      </p:sp>
      <p:sp>
        <p:nvSpPr>
          <p:cNvPr id="47" name="Shape 45"/>
          <p:cNvSpPr/>
          <p:nvPr/>
        </p:nvSpPr>
        <p:spPr>
          <a:xfrm>
            <a:off x="2377440" y="3401568"/>
            <a:ext cx="402336" cy="402336"/>
          </a:xfrm>
          <a:prstGeom prst="rect">
            <a:avLst/>
          </a:prstGeom>
          <a:solidFill>
            <a:srgbClr val="E2E8F0"/>
          </a:solidFill>
          <a:ln w="12700">
            <a:solidFill>
              <a:srgbClr val="FFFFFF"/>
            </a:solidFill>
            <a:prstDash val="solid"/>
          </a:ln>
        </p:spPr>
      </p:sp>
      <p:sp>
        <p:nvSpPr>
          <p:cNvPr id="48" name="Shape 46"/>
          <p:cNvSpPr/>
          <p:nvPr/>
        </p:nvSpPr>
        <p:spPr>
          <a:xfrm>
            <a:off x="2798064" y="3401568"/>
            <a:ext cx="402336" cy="402336"/>
          </a:xfrm>
          <a:prstGeom prst="rect">
            <a:avLst/>
          </a:prstGeom>
          <a:solidFill>
            <a:srgbClr val="E2E8F0"/>
          </a:solidFill>
          <a:ln w="12700">
            <a:solidFill>
              <a:srgbClr val="FFFFFF"/>
            </a:solidFill>
            <a:prstDash val="solid"/>
          </a:ln>
        </p:spPr>
      </p:sp>
      <p:sp>
        <p:nvSpPr>
          <p:cNvPr id="49" name="Shape 47"/>
          <p:cNvSpPr/>
          <p:nvPr/>
        </p:nvSpPr>
        <p:spPr>
          <a:xfrm>
            <a:off x="3218688" y="3401568"/>
            <a:ext cx="402336" cy="402336"/>
          </a:xfrm>
          <a:prstGeom prst="rect">
            <a:avLst/>
          </a:prstGeom>
          <a:solidFill>
            <a:srgbClr val="2D6A4F"/>
          </a:solidFill>
          <a:ln w="12700">
            <a:solidFill>
              <a:srgbClr val="FFFFFF"/>
            </a:solidFill>
            <a:prstDash val="solid"/>
          </a:ln>
        </p:spPr>
      </p:sp>
      <p:sp>
        <p:nvSpPr>
          <p:cNvPr id="50" name="Shape 48"/>
          <p:cNvSpPr/>
          <p:nvPr/>
        </p:nvSpPr>
        <p:spPr>
          <a:xfrm>
            <a:off x="274320" y="3822192"/>
            <a:ext cx="402336" cy="402336"/>
          </a:xfrm>
          <a:prstGeom prst="rect">
            <a:avLst/>
          </a:prstGeom>
          <a:solidFill>
            <a:srgbClr val="E2E8F0"/>
          </a:solidFill>
          <a:ln w="12700">
            <a:solidFill>
              <a:srgbClr val="FFFFFF"/>
            </a:solidFill>
            <a:prstDash val="solid"/>
          </a:ln>
        </p:spPr>
      </p:sp>
      <p:sp>
        <p:nvSpPr>
          <p:cNvPr id="51" name="Shape 49"/>
          <p:cNvSpPr/>
          <p:nvPr/>
        </p:nvSpPr>
        <p:spPr>
          <a:xfrm>
            <a:off x="694944" y="3822192"/>
            <a:ext cx="402336" cy="402336"/>
          </a:xfrm>
          <a:prstGeom prst="rect">
            <a:avLst/>
          </a:prstGeom>
          <a:solidFill>
            <a:srgbClr val="2D6A4F"/>
          </a:solidFill>
          <a:ln w="12700">
            <a:solidFill>
              <a:srgbClr val="FFFFFF"/>
            </a:solidFill>
            <a:prstDash val="solid"/>
          </a:ln>
        </p:spPr>
      </p:sp>
      <p:sp>
        <p:nvSpPr>
          <p:cNvPr id="52" name="Shape 50"/>
          <p:cNvSpPr/>
          <p:nvPr/>
        </p:nvSpPr>
        <p:spPr>
          <a:xfrm>
            <a:off x="1115568" y="3822192"/>
            <a:ext cx="402336" cy="402336"/>
          </a:xfrm>
          <a:prstGeom prst="rect">
            <a:avLst/>
          </a:prstGeom>
          <a:solidFill>
            <a:srgbClr val="2D6A4F"/>
          </a:solidFill>
          <a:ln w="12700">
            <a:solidFill>
              <a:srgbClr val="FFFFFF"/>
            </a:solidFill>
            <a:prstDash val="solid"/>
          </a:ln>
        </p:spPr>
      </p:sp>
      <p:sp>
        <p:nvSpPr>
          <p:cNvPr id="53" name="Shape 51"/>
          <p:cNvSpPr/>
          <p:nvPr/>
        </p:nvSpPr>
        <p:spPr>
          <a:xfrm>
            <a:off x="1536192" y="3822192"/>
            <a:ext cx="402336" cy="402336"/>
          </a:xfrm>
          <a:prstGeom prst="rect">
            <a:avLst/>
          </a:prstGeom>
          <a:solidFill>
            <a:srgbClr val="E2E8F0"/>
          </a:solidFill>
          <a:ln w="12700">
            <a:solidFill>
              <a:srgbClr val="FFFFFF"/>
            </a:solidFill>
            <a:prstDash val="solid"/>
          </a:ln>
        </p:spPr>
      </p:sp>
      <p:sp>
        <p:nvSpPr>
          <p:cNvPr id="54" name="Shape 52"/>
          <p:cNvSpPr/>
          <p:nvPr/>
        </p:nvSpPr>
        <p:spPr>
          <a:xfrm>
            <a:off x="1956816" y="3822192"/>
            <a:ext cx="402336" cy="402336"/>
          </a:xfrm>
          <a:prstGeom prst="rect">
            <a:avLst/>
          </a:prstGeom>
          <a:solidFill>
            <a:srgbClr val="E2E8F0"/>
          </a:solidFill>
          <a:ln w="12700">
            <a:solidFill>
              <a:srgbClr val="FFFFFF"/>
            </a:solidFill>
            <a:prstDash val="solid"/>
          </a:ln>
        </p:spPr>
      </p:sp>
      <p:sp>
        <p:nvSpPr>
          <p:cNvPr id="55" name="Shape 53"/>
          <p:cNvSpPr/>
          <p:nvPr/>
        </p:nvSpPr>
        <p:spPr>
          <a:xfrm>
            <a:off x="2377440" y="3822192"/>
            <a:ext cx="402336" cy="402336"/>
          </a:xfrm>
          <a:prstGeom prst="rect">
            <a:avLst/>
          </a:prstGeom>
          <a:solidFill>
            <a:srgbClr val="2D6A4F"/>
          </a:solidFill>
          <a:ln w="12700">
            <a:solidFill>
              <a:srgbClr val="FFFFFF"/>
            </a:solidFill>
            <a:prstDash val="solid"/>
          </a:ln>
        </p:spPr>
      </p:sp>
      <p:sp>
        <p:nvSpPr>
          <p:cNvPr id="56" name="Shape 54"/>
          <p:cNvSpPr/>
          <p:nvPr/>
        </p:nvSpPr>
        <p:spPr>
          <a:xfrm>
            <a:off x="2798064" y="3822192"/>
            <a:ext cx="402336" cy="402336"/>
          </a:xfrm>
          <a:prstGeom prst="rect">
            <a:avLst/>
          </a:prstGeom>
          <a:solidFill>
            <a:srgbClr val="2D6A4F"/>
          </a:solidFill>
          <a:ln w="12700">
            <a:solidFill>
              <a:srgbClr val="FFFFFF"/>
            </a:solidFill>
            <a:prstDash val="solid"/>
          </a:ln>
        </p:spPr>
      </p:sp>
      <p:sp>
        <p:nvSpPr>
          <p:cNvPr id="57" name="Shape 55"/>
          <p:cNvSpPr/>
          <p:nvPr/>
        </p:nvSpPr>
        <p:spPr>
          <a:xfrm>
            <a:off x="3218688" y="3822192"/>
            <a:ext cx="402336" cy="402336"/>
          </a:xfrm>
          <a:prstGeom prst="rect">
            <a:avLst/>
          </a:prstGeom>
          <a:solidFill>
            <a:srgbClr val="E2E8F0"/>
          </a:solidFill>
          <a:ln w="12700">
            <a:solidFill>
              <a:srgbClr val="FFFFFF"/>
            </a:solidFill>
            <a:prstDash val="solid"/>
          </a:ln>
        </p:spPr>
      </p:sp>
      <p:sp>
        <p:nvSpPr>
          <p:cNvPr id="58" name="Shape 56"/>
          <p:cNvSpPr/>
          <p:nvPr/>
        </p:nvSpPr>
        <p:spPr>
          <a:xfrm>
            <a:off x="274320" y="4242816"/>
            <a:ext cx="402336" cy="402336"/>
          </a:xfrm>
          <a:prstGeom prst="rect">
            <a:avLst/>
          </a:prstGeom>
          <a:solidFill>
            <a:srgbClr val="E2E8F0"/>
          </a:solidFill>
          <a:ln w="12700">
            <a:solidFill>
              <a:srgbClr val="FFFFFF"/>
            </a:solidFill>
            <a:prstDash val="solid"/>
          </a:ln>
        </p:spPr>
      </p:sp>
      <p:sp>
        <p:nvSpPr>
          <p:cNvPr id="59" name="Shape 57"/>
          <p:cNvSpPr/>
          <p:nvPr/>
        </p:nvSpPr>
        <p:spPr>
          <a:xfrm>
            <a:off x="694944" y="4242816"/>
            <a:ext cx="402336" cy="402336"/>
          </a:xfrm>
          <a:prstGeom prst="rect">
            <a:avLst/>
          </a:prstGeom>
          <a:solidFill>
            <a:srgbClr val="2D6A4F"/>
          </a:solidFill>
          <a:ln w="12700">
            <a:solidFill>
              <a:srgbClr val="FFFFFF"/>
            </a:solidFill>
            <a:prstDash val="solid"/>
          </a:ln>
        </p:spPr>
      </p:sp>
      <p:sp>
        <p:nvSpPr>
          <p:cNvPr id="60" name="Shape 58"/>
          <p:cNvSpPr/>
          <p:nvPr/>
        </p:nvSpPr>
        <p:spPr>
          <a:xfrm>
            <a:off x="1115568" y="4242816"/>
            <a:ext cx="402336" cy="402336"/>
          </a:xfrm>
          <a:prstGeom prst="rect">
            <a:avLst/>
          </a:prstGeom>
          <a:solidFill>
            <a:srgbClr val="2D6A4F"/>
          </a:solidFill>
          <a:ln w="12700">
            <a:solidFill>
              <a:srgbClr val="FFFFFF"/>
            </a:solidFill>
            <a:prstDash val="solid"/>
          </a:ln>
        </p:spPr>
      </p:sp>
      <p:sp>
        <p:nvSpPr>
          <p:cNvPr id="61" name="Shape 59"/>
          <p:cNvSpPr/>
          <p:nvPr/>
        </p:nvSpPr>
        <p:spPr>
          <a:xfrm>
            <a:off x="1536192" y="4242816"/>
            <a:ext cx="402336" cy="402336"/>
          </a:xfrm>
          <a:prstGeom prst="rect">
            <a:avLst/>
          </a:prstGeom>
          <a:solidFill>
            <a:srgbClr val="E2E8F0"/>
          </a:solidFill>
          <a:ln w="12700">
            <a:solidFill>
              <a:srgbClr val="FFFFFF"/>
            </a:solidFill>
            <a:prstDash val="solid"/>
          </a:ln>
        </p:spPr>
      </p:sp>
      <p:sp>
        <p:nvSpPr>
          <p:cNvPr id="62" name="Shape 60"/>
          <p:cNvSpPr/>
          <p:nvPr/>
        </p:nvSpPr>
        <p:spPr>
          <a:xfrm>
            <a:off x="1956816" y="4242816"/>
            <a:ext cx="402336" cy="402336"/>
          </a:xfrm>
          <a:prstGeom prst="rect">
            <a:avLst/>
          </a:prstGeom>
          <a:solidFill>
            <a:srgbClr val="E2E8F0"/>
          </a:solidFill>
          <a:ln w="12700">
            <a:solidFill>
              <a:srgbClr val="FFFFFF"/>
            </a:solidFill>
            <a:prstDash val="solid"/>
          </a:ln>
        </p:spPr>
      </p:sp>
      <p:sp>
        <p:nvSpPr>
          <p:cNvPr id="63" name="Shape 61"/>
          <p:cNvSpPr/>
          <p:nvPr/>
        </p:nvSpPr>
        <p:spPr>
          <a:xfrm>
            <a:off x="2377440" y="4242816"/>
            <a:ext cx="402336" cy="402336"/>
          </a:xfrm>
          <a:prstGeom prst="rect">
            <a:avLst/>
          </a:prstGeom>
          <a:solidFill>
            <a:srgbClr val="2D6A4F"/>
          </a:solidFill>
          <a:ln w="12700">
            <a:solidFill>
              <a:srgbClr val="FFFFFF"/>
            </a:solidFill>
            <a:prstDash val="solid"/>
          </a:ln>
        </p:spPr>
      </p:sp>
      <p:sp>
        <p:nvSpPr>
          <p:cNvPr id="64" name="Shape 62"/>
          <p:cNvSpPr/>
          <p:nvPr/>
        </p:nvSpPr>
        <p:spPr>
          <a:xfrm>
            <a:off x="2798064" y="4242816"/>
            <a:ext cx="402336" cy="402336"/>
          </a:xfrm>
          <a:prstGeom prst="rect">
            <a:avLst/>
          </a:prstGeom>
          <a:solidFill>
            <a:srgbClr val="2D6A4F"/>
          </a:solidFill>
          <a:ln w="12700">
            <a:solidFill>
              <a:srgbClr val="FFFFFF"/>
            </a:solidFill>
            <a:prstDash val="solid"/>
          </a:ln>
        </p:spPr>
      </p:sp>
      <p:sp>
        <p:nvSpPr>
          <p:cNvPr id="65" name="Shape 63"/>
          <p:cNvSpPr/>
          <p:nvPr/>
        </p:nvSpPr>
        <p:spPr>
          <a:xfrm>
            <a:off x="3218688" y="4242816"/>
            <a:ext cx="402336" cy="402336"/>
          </a:xfrm>
          <a:prstGeom prst="rect">
            <a:avLst/>
          </a:prstGeom>
          <a:solidFill>
            <a:srgbClr val="E2E8F0"/>
          </a:solidFill>
          <a:ln w="12700">
            <a:solidFill>
              <a:srgbClr val="FFFFFF"/>
            </a:solidFill>
            <a:prstDash val="solid"/>
          </a:ln>
        </p:spPr>
      </p:sp>
      <p:sp>
        <p:nvSpPr>
          <p:cNvPr id="66" name="Shape 64"/>
          <p:cNvSpPr/>
          <p:nvPr/>
        </p:nvSpPr>
        <p:spPr>
          <a:xfrm>
            <a:off x="274320" y="4663440"/>
            <a:ext cx="402336" cy="402336"/>
          </a:xfrm>
          <a:prstGeom prst="rect">
            <a:avLst/>
          </a:prstGeom>
          <a:solidFill>
            <a:srgbClr val="E2E8F0"/>
          </a:solidFill>
          <a:ln w="12700">
            <a:solidFill>
              <a:srgbClr val="FFFFFF"/>
            </a:solidFill>
            <a:prstDash val="solid"/>
          </a:ln>
        </p:spPr>
      </p:sp>
      <p:sp>
        <p:nvSpPr>
          <p:cNvPr id="67" name="Shape 65"/>
          <p:cNvSpPr/>
          <p:nvPr/>
        </p:nvSpPr>
        <p:spPr>
          <a:xfrm>
            <a:off x="694944" y="4663440"/>
            <a:ext cx="402336" cy="402336"/>
          </a:xfrm>
          <a:prstGeom prst="rect">
            <a:avLst/>
          </a:prstGeom>
          <a:solidFill>
            <a:srgbClr val="E2E8F0"/>
          </a:solidFill>
          <a:ln w="12700">
            <a:solidFill>
              <a:srgbClr val="FFFFFF"/>
            </a:solidFill>
            <a:prstDash val="solid"/>
          </a:ln>
        </p:spPr>
      </p:sp>
      <p:sp>
        <p:nvSpPr>
          <p:cNvPr id="68" name="Shape 66"/>
          <p:cNvSpPr/>
          <p:nvPr/>
        </p:nvSpPr>
        <p:spPr>
          <a:xfrm>
            <a:off x="1115568" y="4663440"/>
            <a:ext cx="402336" cy="402336"/>
          </a:xfrm>
          <a:prstGeom prst="rect">
            <a:avLst/>
          </a:prstGeom>
          <a:solidFill>
            <a:srgbClr val="E2E8F0"/>
          </a:solidFill>
          <a:ln w="12700">
            <a:solidFill>
              <a:srgbClr val="FFFFFF"/>
            </a:solidFill>
            <a:prstDash val="solid"/>
          </a:ln>
        </p:spPr>
      </p:sp>
      <p:sp>
        <p:nvSpPr>
          <p:cNvPr id="69" name="Shape 67"/>
          <p:cNvSpPr/>
          <p:nvPr/>
        </p:nvSpPr>
        <p:spPr>
          <a:xfrm>
            <a:off x="1536192" y="4663440"/>
            <a:ext cx="402336" cy="402336"/>
          </a:xfrm>
          <a:prstGeom prst="rect">
            <a:avLst/>
          </a:prstGeom>
          <a:solidFill>
            <a:srgbClr val="2D6A4F"/>
          </a:solidFill>
          <a:ln w="12700">
            <a:solidFill>
              <a:srgbClr val="FFFFFF"/>
            </a:solidFill>
            <a:prstDash val="solid"/>
          </a:ln>
        </p:spPr>
      </p:sp>
      <p:sp>
        <p:nvSpPr>
          <p:cNvPr id="70" name="Shape 68"/>
          <p:cNvSpPr/>
          <p:nvPr/>
        </p:nvSpPr>
        <p:spPr>
          <a:xfrm>
            <a:off x="1956816" y="4663440"/>
            <a:ext cx="402336" cy="402336"/>
          </a:xfrm>
          <a:prstGeom prst="rect">
            <a:avLst/>
          </a:prstGeom>
          <a:solidFill>
            <a:srgbClr val="2D6A4F"/>
          </a:solidFill>
          <a:ln w="12700">
            <a:solidFill>
              <a:srgbClr val="FFFFFF"/>
            </a:solidFill>
            <a:prstDash val="solid"/>
          </a:ln>
        </p:spPr>
      </p:sp>
      <p:sp>
        <p:nvSpPr>
          <p:cNvPr id="71" name="Shape 69"/>
          <p:cNvSpPr/>
          <p:nvPr/>
        </p:nvSpPr>
        <p:spPr>
          <a:xfrm>
            <a:off x="2377440" y="4663440"/>
            <a:ext cx="402336" cy="402336"/>
          </a:xfrm>
          <a:prstGeom prst="rect">
            <a:avLst/>
          </a:prstGeom>
          <a:solidFill>
            <a:srgbClr val="E2E8F0"/>
          </a:solidFill>
          <a:ln w="12700">
            <a:solidFill>
              <a:srgbClr val="FFFFFF"/>
            </a:solidFill>
            <a:prstDash val="solid"/>
          </a:ln>
        </p:spPr>
      </p:sp>
      <p:sp>
        <p:nvSpPr>
          <p:cNvPr id="72" name="Shape 70"/>
          <p:cNvSpPr/>
          <p:nvPr/>
        </p:nvSpPr>
        <p:spPr>
          <a:xfrm>
            <a:off x="2798064" y="4663440"/>
            <a:ext cx="402336" cy="402336"/>
          </a:xfrm>
          <a:prstGeom prst="rect">
            <a:avLst/>
          </a:prstGeom>
          <a:solidFill>
            <a:srgbClr val="E2E8F0"/>
          </a:solidFill>
          <a:ln w="12700">
            <a:solidFill>
              <a:srgbClr val="FFFFFF"/>
            </a:solidFill>
            <a:prstDash val="solid"/>
          </a:ln>
        </p:spPr>
      </p:sp>
      <p:sp>
        <p:nvSpPr>
          <p:cNvPr id="73" name="Shape 71"/>
          <p:cNvSpPr/>
          <p:nvPr/>
        </p:nvSpPr>
        <p:spPr>
          <a:xfrm>
            <a:off x="3218688" y="4663440"/>
            <a:ext cx="402336" cy="402336"/>
          </a:xfrm>
          <a:prstGeom prst="rect">
            <a:avLst/>
          </a:prstGeom>
          <a:solidFill>
            <a:srgbClr val="2D6A4F"/>
          </a:solidFill>
          <a:ln w="12700">
            <a:solidFill>
              <a:srgbClr val="FFFFFF"/>
            </a:solidFill>
            <a:prstDash val="solid"/>
          </a:ln>
        </p:spPr>
      </p:sp>
      <p:sp>
        <p:nvSpPr>
          <p:cNvPr id="74" name="Text 72"/>
          <p:cNvSpPr/>
          <p:nvPr/>
        </p:nvSpPr>
        <p:spPr>
          <a:xfrm>
            <a:off x="283464" y="5120640"/>
            <a:ext cx="420624" cy="274320"/>
          </a:xfrm>
          <a:prstGeom prst="rect">
            <a:avLst/>
          </a:prstGeom>
          <a:noFill/>
          <a:ln/>
        </p:spPr>
        <p:txBody>
          <a:bodyPr wrap="square" rtlCol="0" anchor="ctr"/>
          <a:lstStyle/>
          <a:p>
            <a:pPr algn="ctr" indent="0" marL="0">
              <a:buNone/>
            </a:pPr>
            <a:r>
              <a:rPr lang="en-US" sz="650" dirty="0">
                <a:solidFill>
                  <a:srgbClr val="4A5568"/>
                </a:solidFill>
              </a:rPr>
              <a:t>Intro</a:t>
            </a:r>
            <a:endParaRPr lang="en-US" sz="650" dirty="0"/>
          </a:p>
        </p:txBody>
      </p:sp>
      <p:sp>
        <p:nvSpPr>
          <p:cNvPr id="75" name="Text 73"/>
          <p:cNvSpPr/>
          <p:nvPr/>
        </p:nvSpPr>
        <p:spPr>
          <a:xfrm>
            <a:off x="-228600" y="1719072"/>
            <a:ext cx="493776" cy="420624"/>
          </a:xfrm>
          <a:prstGeom prst="rect">
            <a:avLst/>
          </a:prstGeom>
          <a:noFill/>
          <a:ln/>
        </p:spPr>
        <p:txBody>
          <a:bodyPr wrap="square" rtlCol="0" anchor="ctr"/>
          <a:lstStyle/>
          <a:p>
            <a:pPr algn="r" indent="0" marL="0">
              <a:buNone/>
            </a:pPr>
            <a:r>
              <a:rPr lang="en-US" sz="650" dirty="0">
                <a:solidFill>
                  <a:srgbClr val="4A5568"/>
                </a:solidFill>
              </a:rPr>
              <a:t>Intro</a:t>
            </a:r>
            <a:endParaRPr lang="en-US" sz="650" dirty="0"/>
          </a:p>
        </p:txBody>
      </p:sp>
      <p:sp>
        <p:nvSpPr>
          <p:cNvPr id="76" name="Text 74"/>
          <p:cNvSpPr/>
          <p:nvPr/>
        </p:nvSpPr>
        <p:spPr>
          <a:xfrm>
            <a:off x="704088" y="5120640"/>
            <a:ext cx="420624" cy="274320"/>
          </a:xfrm>
          <a:prstGeom prst="rect">
            <a:avLst/>
          </a:prstGeom>
          <a:noFill/>
          <a:ln/>
        </p:spPr>
        <p:txBody>
          <a:bodyPr wrap="square" rtlCol="0" anchor="ctr"/>
          <a:lstStyle/>
          <a:p>
            <a:pPr algn="ctr" indent="0" marL="0">
              <a:buNone/>
            </a:pPr>
            <a:r>
              <a:rPr lang="en-US" sz="650" dirty="0">
                <a:solidFill>
                  <a:srgbClr val="4A5568"/>
                </a:solidFill>
              </a:rPr>
              <a:t>Verse</a:t>
            </a:r>
            <a:endParaRPr lang="en-US" sz="650" dirty="0"/>
          </a:p>
        </p:txBody>
      </p:sp>
      <p:sp>
        <p:nvSpPr>
          <p:cNvPr id="77" name="Text 75"/>
          <p:cNvSpPr/>
          <p:nvPr/>
        </p:nvSpPr>
        <p:spPr>
          <a:xfrm>
            <a:off x="-228600" y="2139696"/>
            <a:ext cx="493776" cy="420624"/>
          </a:xfrm>
          <a:prstGeom prst="rect">
            <a:avLst/>
          </a:prstGeom>
          <a:noFill/>
          <a:ln/>
        </p:spPr>
        <p:txBody>
          <a:bodyPr wrap="square" rtlCol="0" anchor="ctr"/>
          <a:lstStyle/>
          <a:p>
            <a:pPr algn="r" indent="0" marL="0">
              <a:buNone/>
            </a:pPr>
            <a:r>
              <a:rPr lang="en-US" sz="650" dirty="0">
                <a:solidFill>
                  <a:srgbClr val="4A5568"/>
                </a:solidFill>
              </a:rPr>
              <a:t>Verse</a:t>
            </a:r>
            <a:endParaRPr lang="en-US" sz="650" dirty="0"/>
          </a:p>
        </p:txBody>
      </p:sp>
      <p:sp>
        <p:nvSpPr>
          <p:cNvPr id="78" name="Text 76"/>
          <p:cNvSpPr/>
          <p:nvPr/>
        </p:nvSpPr>
        <p:spPr>
          <a:xfrm>
            <a:off x="1124712" y="5120640"/>
            <a:ext cx="420624" cy="274320"/>
          </a:xfrm>
          <a:prstGeom prst="rect">
            <a:avLst/>
          </a:prstGeom>
          <a:noFill/>
          <a:ln/>
        </p:spPr>
        <p:txBody>
          <a:bodyPr wrap="square" rtlCol="0" anchor="ctr"/>
          <a:lstStyle/>
          <a:p>
            <a:pPr algn="ctr" indent="0" marL="0">
              <a:buNone/>
            </a:pPr>
            <a:r>
              <a:rPr lang="en-US" sz="650" dirty="0">
                <a:solidFill>
                  <a:srgbClr val="4A5568"/>
                </a:solidFill>
              </a:rPr>
              <a:t>Verse</a:t>
            </a:r>
            <a:endParaRPr lang="en-US" sz="650" dirty="0"/>
          </a:p>
        </p:txBody>
      </p:sp>
      <p:sp>
        <p:nvSpPr>
          <p:cNvPr id="79" name="Text 77"/>
          <p:cNvSpPr/>
          <p:nvPr/>
        </p:nvSpPr>
        <p:spPr>
          <a:xfrm>
            <a:off x="-228600" y="2560320"/>
            <a:ext cx="493776" cy="420624"/>
          </a:xfrm>
          <a:prstGeom prst="rect">
            <a:avLst/>
          </a:prstGeom>
          <a:noFill/>
          <a:ln/>
        </p:spPr>
        <p:txBody>
          <a:bodyPr wrap="square" rtlCol="0" anchor="ctr"/>
          <a:lstStyle/>
          <a:p>
            <a:pPr algn="r" indent="0" marL="0">
              <a:buNone/>
            </a:pPr>
            <a:r>
              <a:rPr lang="en-US" sz="650" dirty="0">
                <a:solidFill>
                  <a:srgbClr val="4A5568"/>
                </a:solidFill>
              </a:rPr>
              <a:t>Verse</a:t>
            </a:r>
            <a:endParaRPr lang="en-US" sz="650" dirty="0"/>
          </a:p>
        </p:txBody>
      </p:sp>
      <p:sp>
        <p:nvSpPr>
          <p:cNvPr id="80" name="Text 78"/>
          <p:cNvSpPr/>
          <p:nvPr/>
        </p:nvSpPr>
        <p:spPr>
          <a:xfrm>
            <a:off x="1545336" y="5120640"/>
            <a:ext cx="420624" cy="274320"/>
          </a:xfrm>
          <a:prstGeom prst="rect">
            <a:avLst/>
          </a:prstGeom>
          <a:noFill/>
          <a:ln/>
        </p:spPr>
        <p:txBody>
          <a:bodyPr wrap="square" rtlCol="0" anchor="ctr"/>
          <a:lstStyle/>
          <a:p>
            <a:pPr algn="ctr" indent="0" marL="0">
              <a:buNone/>
            </a:pPr>
            <a:r>
              <a:rPr lang="en-US" sz="650" dirty="0">
                <a:solidFill>
                  <a:srgbClr val="4A5568"/>
                </a:solidFill>
              </a:rPr>
              <a:t>Chorus</a:t>
            </a:r>
            <a:endParaRPr lang="en-US" sz="650" dirty="0"/>
          </a:p>
        </p:txBody>
      </p:sp>
      <p:sp>
        <p:nvSpPr>
          <p:cNvPr id="81" name="Text 79"/>
          <p:cNvSpPr/>
          <p:nvPr/>
        </p:nvSpPr>
        <p:spPr>
          <a:xfrm>
            <a:off x="-228600" y="2980944"/>
            <a:ext cx="493776" cy="420624"/>
          </a:xfrm>
          <a:prstGeom prst="rect">
            <a:avLst/>
          </a:prstGeom>
          <a:noFill/>
          <a:ln/>
        </p:spPr>
        <p:txBody>
          <a:bodyPr wrap="square" rtlCol="0" anchor="ctr"/>
          <a:lstStyle/>
          <a:p>
            <a:pPr algn="r" indent="0" marL="0">
              <a:buNone/>
            </a:pPr>
            <a:r>
              <a:rPr lang="en-US" sz="650" dirty="0">
                <a:solidFill>
                  <a:srgbClr val="4A5568"/>
                </a:solidFill>
              </a:rPr>
              <a:t>Chorus</a:t>
            </a:r>
            <a:endParaRPr lang="en-US" sz="650" dirty="0"/>
          </a:p>
        </p:txBody>
      </p:sp>
      <p:sp>
        <p:nvSpPr>
          <p:cNvPr id="82" name="Text 80"/>
          <p:cNvSpPr/>
          <p:nvPr/>
        </p:nvSpPr>
        <p:spPr>
          <a:xfrm>
            <a:off x="1965960" y="5120640"/>
            <a:ext cx="420624" cy="274320"/>
          </a:xfrm>
          <a:prstGeom prst="rect">
            <a:avLst/>
          </a:prstGeom>
          <a:noFill/>
          <a:ln/>
        </p:spPr>
        <p:txBody>
          <a:bodyPr wrap="square" rtlCol="0" anchor="ctr"/>
          <a:lstStyle/>
          <a:p>
            <a:pPr algn="ctr" indent="0" marL="0">
              <a:buNone/>
            </a:pPr>
            <a:r>
              <a:rPr lang="en-US" sz="650" dirty="0">
                <a:solidFill>
                  <a:srgbClr val="4A5568"/>
                </a:solidFill>
              </a:rPr>
              <a:t>Chorus</a:t>
            </a:r>
            <a:endParaRPr lang="en-US" sz="650" dirty="0"/>
          </a:p>
        </p:txBody>
      </p:sp>
      <p:sp>
        <p:nvSpPr>
          <p:cNvPr id="83" name="Text 81"/>
          <p:cNvSpPr/>
          <p:nvPr/>
        </p:nvSpPr>
        <p:spPr>
          <a:xfrm>
            <a:off x="-228600" y="3401568"/>
            <a:ext cx="493776" cy="420624"/>
          </a:xfrm>
          <a:prstGeom prst="rect">
            <a:avLst/>
          </a:prstGeom>
          <a:noFill/>
          <a:ln/>
        </p:spPr>
        <p:txBody>
          <a:bodyPr wrap="square" rtlCol="0" anchor="ctr"/>
          <a:lstStyle/>
          <a:p>
            <a:pPr algn="r" indent="0" marL="0">
              <a:buNone/>
            </a:pPr>
            <a:r>
              <a:rPr lang="en-US" sz="650" dirty="0">
                <a:solidFill>
                  <a:srgbClr val="4A5568"/>
                </a:solidFill>
              </a:rPr>
              <a:t>Chorus</a:t>
            </a:r>
            <a:endParaRPr lang="en-US" sz="650" dirty="0"/>
          </a:p>
        </p:txBody>
      </p:sp>
      <p:sp>
        <p:nvSpPr>
          <p:cNvPr id="84" name="Text 82"/>
          <p:cNvSpPr/>
          <p:nvPr/>
        </p:nvSpPr>
        <p:spPr>
          <a:xfrm>
            <a:off x="2386584" y="5120640"/>
            <a:ext cx="420624" cy="274320"/>
          </a:xfrm>
          <a:prstGeom prst="rect">
            <a:avLst/>
          </a:prstGeom>
          <a:noFill/>
          <a:ln/>
        </p:spPr>
        <p:txBody>
          <a:bodyPr wrap="square" rtlCol="0" anchor="ctr"/>
          <a:lstStyle/>
          <a:p>
            <a:pPr algn="ctr" indent="0" marL="0">
              <a:buNone/>
            </a:pPr>
            <a:r>
              <a:rPr lang="en-US" sz="650" dirty="0">
                <a:solidFill>
                  <a:srgbClr val="4A5568"/>
                </a:solidFill>
              </a:rPr>
              <a:t>Verse</a:t>
            </a:r>
            <a:endParaRPr lang="en-US" sz="650" dirty="0"/>
          </a:p>
        </p:txBody>
      </p:sp>
      <p:sp>
        <p:nvSpPr>
          <p:cNvPr id="85" name="Text 83"/>
          <p:cNvSpPr/>
          <p:nvPr/>
        </p:nvSpPr>
        <p:spPr>
          <a:xfrm>
            <a:off x="-228600" y="3822192"/>
            <a:ext cx="493776" cy="420624"/>
          </a:xfrm>
          <a:prstGeom prst="rect">
            <a:avLst/>
          </a:prstGeom>
          <a:noFill/>
          <a:ln/>
        </p:spPr>
        <p:txBody>
          <a:bodyPr wrap="square" rtlCol="0" anchor="ctr"/>
          <a:lstStyle/>
          <a:p>
            <a:pPr algn="r" indent="0" marL="0">
              <a:buNone/>
            </a:pPr>
            <a:r>
              <a:rPr lang="en-US" sz="650" dirty="0">
                <a:solidFill>
                  <a:srgbClr val="4A5568"/>
                </a:solidFill>
              </a:rPr>
              <a:t>Verse</a:t>
            </a:r>
            <a:endParaRPr lang="en-US" sz="650" dirty="0"/>
          </a:p>
        </p:txBody>
      </p:sp>
      <p:sp>
        <p:nvSpPr>
          <p:cNvPr id="86" name="Text 84"/>
          <p:cNvSpPr/>
          <p:nvPr/>
        </p:nvSpPr>
        <p:spPr>
          <a:xfrm>
            <a:off x="2807208" y="5120640"/>
            <a:ext cx="420624" cy="274320"/>
          </a:xfrm>
          <a:prstGeom prst="rect">
            <a:avLst/>
          </a:prstGeom>
          <a:noFill/>
          <a:ln/>
        </p:spPr>
        <p:txBody>
          <a:bodyPr wrap="square" rtlCol="0" anchor="ctr"/>
          <a:lstStyle/>
          <a:p>
            <a:pPr algn="ctr" indent="0" marL="0">
              <a:buNone/>
            </a:pPr>
            <a:r>
              <a:rPr lang="en-US" sz="650" dirty="0">
                <a:solidFill>
                  <a:srgbClr val="4A5568"/>
                </a:solidFill>
              </a:rPr>
              <a:t>Verse</a:t>
            </a:r>
            <a:endParaRPr lang="en-US" sz="650" dirty="0"/>
          </a:p>
        </p:txBody>
      </p:sp>
      <p:sp>
        <p:nvSpPr>
          <p:cNvPr id="87" name="Text 85"/>
          <p:cNvSpPr/>
          <p:nvPr/>
        </p:nvSpPr>
        <p:spPr>
          <a:xfrm>
            <a:off x="-228600" y="4242816"/>
            <a:ext cx="493776" cy="420624"/>
          </a:xfrm>
          <a:prstGeom prst="rect">
            <a:avLst/>
          </a:prstGeom>
          <a:noFill/>
          <a:ln/>
        </p:spPr>
        <p:txBody>
          <a:bodyPr wrap="square" rtlCol="0" anchor="ctr"/>
          <a:lstStyle/>
          <a:p>
            <a:pPr algn="r" indent="0" marL="0">
              <a:buNone/>
            </a:pPr>
            <a:r>
              <a:rPr lang="en-US" sz="650" dirty="0">
                <a:solidFill>
                  <a:srgbClr val="4A5568"/>
                </a:solidFill>
              </a:rPr>
              <a:t>Verse</a:t>
            </a:r>
            <a:endParaRPr lang="en-US" sz="650" dirty="0"/>
          </a:p>
        </p:txBody>
      </p:sp>
      <p:sp>
        <p:nvSpPr>
          <p:cNvPr id="88" name="Text 86"/>
          <p:cNvSpPr/>
          <p:nvPr/>
        </p:nvSpPr>
        <p:spPr>
          <a:xfrm>
            <a:off x="3227832" y="5120640"/>
            <a:ext cx="420624" cy="274320"/>
          </a:xfrm>
          <a:prstGeom prst="rect">
            <a:avLst/>
          </a:prstGeom>
          <a:noFill/>
          <a:ln/>
        </p:spPr>
        <p:txBody>
          <a:bodyPr wrap="square" rtlCol="0" anchor="ctr"/>
          <a:lstStyle/>
          <a:p>
            <a:pPr algn="ctr" indent="0" marL="0">
              <a:buNone/>
            </a:pPr>
            <a:r>
              <a:rPr lang="en-US" sz="650" dirty="0">
                <a:solidFill>
                  <a:srgbClr val="4A5568"/>
                </a:solidFill>
              </a:rPr>
              <a:t>Chorus</a:t>
            </a:r>
            <a:endParaRPr lang="en-US" sz="650" dirty="0"/>
          </a:p>
        </p:txBody>
      </p:sp>
      <p:sp>
        <p:nvSpPr>
          <p:cNvPr id="89" name="Text 87"/>
          <p:cNvSpPr/>
          <p:nvPr/>
        </p:nvSpPr>
        <p:spPr>
          <a:xfrm>
            <a:off x="-228600" y="4663440"/>
            <a:ext cx="493776" cy="420624"/>
          </a:xfrm>
          <a:prstGeom prst="rect">
            <a:avLst/>
          </a:prstGeom>
          <a:noFill/>
          <a:ln/>
        </p:spPr>
        <p:txBody>
          <a:bodyPr wrap="square" rtlCol="0" anchor="ctr"/>
          <a:lstStyle/>
          <a:p>
            <a:pPr algn="r" indent="0" marL="0">
              <a:buNone/>
            </a:pPr>
            <a:r>
              <a:rPr lang="en-US" sz="650" dirty="0">
                <a:solidFill>
                  <a:srgbClr val="4A5568"/>
                </a:solidFill>
              </a:rPr>
              <a:t>Chorus</a:t>
            </a:r>
            <a:endParaRPr lang="en-US" sz="650" dirty="0"/>
          </a:p>
        </p:txBody>
      </p:sp>
      <p:sp>
        <p:nvSpPr>
          <p:cNvPr id="90" name="Text 88"/>
          <p:cNvSpPr/>
          <p:nvPr/>
        </p:nvSpPr>
        <p:spPr>
          <a:xfrm>
            <a:off x="274320" y="5468112"/>
            <a:ext cx="3364992" cy="320040"/>
          </a:xfrm>
          <a:prstGeom prst="rect">
            <a:avLst/>
          </a:prstGeom>
          <a:noFill/>
          <a:ln/>
        </p:spPr>
        <p:txBody>
          <a:bodyPr wrap="square" rtlCol="0" anchor="ctr"/>
          <a:lstStyle/>
          <a:p>
            <a:pPr algn="ctr" indent="0" marL="0">
              <a:buNone/>
            </a:pPr>
            <a:r>
              <a:rPr lang="en-US" sz="900" dirty="0">
                <a:solidFill>
                  <a:srgbClr val="2D6A4F"/>
                </a:solidFill>
                <a:latin typeface="Calibri" pitchFamily="34" charset="0"/>
                <a:ea typeface="Calibri" pitchFamily="34" charset="-122"/>
                <a:cs typeface="Calibri" pitchFamily="34" charset="-120"/>
              </a:rPr>
              <a:t>🟩 = similar regions (Verse–Verse, Chorus–Chorus)</a:t>
            </a:r>
            <a:endParaRPr lang="en-US" sz="900" dirty="0"/>
          </a:p>
        </p:txBody>
      </p:sp>
      <p:sp>
        <p:nvSpPr>
          <p:cNvPr id="91" name="Shape 89"/>
          <p:cNvSpPr/>
          <p:nvPr/>
        </p:nvSpPr>
        <p:spPr>
          <a:xfrm>
            <a:off x="4023360" y="1298448"/>
            <a:ext cx="7955280" cy="1298448"/>
          </a:xfrm>
          <a:prstGeom prst="rect">
            <a:avLst/>
          </a:prstGeom>
          <a:solidFill>
            <a:srgbClr val="FFFFFF"/>
          </a:solidFill>
          <a:ln w="12700">
            <a:solidFill>
              <a:srgbClr val="E2E8F0"/>
            </a:solidFill>
            <a:prstDash val="solid"/>
          </a:ln>
        </p:spPr>
      </p:sp>
      <p:sp>
        <p:nvSpPr>
          <p:cNvPr id="92" name="Shape 90"/>
          <p:cNvSpPr/>
          <p:nvPr/>
        </p:nvSpPr>
        <p:spPr>
          <a:xfrm>
            <a:off x="4023360" y="1298448"/>
            <a:ext cx="54864" cy="1298448"/>
          </a:xfrm>
          <a:prstGeom prst="rect">
            <a:avLst/>
          </a:prstGeom>
          <a:solidFill>
            <a:srgbClr val="B87333"/>
          </a:solidFill>
          <a:ln w="12700">
            <a:solidFill>
              <a:srgbClr val="B87333"/>
            </a:solidFill>
            <a:prstDash val="solid"/>
          </a:ln>
        </p:spPr>
      </p:sp>
      <p:sp>
        <p:nvSpPr>
          <p:cNvPr id="93" name="Text 91"/>
          <p:cNvSpPr/>
          <p:nvPr/>
        </p:nvSpPr>
        <p:spPr>
          <a:xfrm>
            <a:off x="4187952" y="1371600"/>
            <a:ext cx="7680960" cy="347472"/>
          </a:xfrm>
          <a:prstGeom prst="rect">
            <a:avLst/>
          </a:prstGeom>
          <a:noFill/>
          <a:ln/>
        </p:spPr>
        <p:txBody>
          <a:bodyPr wrap="square" lIns="0" tIns="0" rIns="0" bIns="0" rtlCol="0" anchor="ctr"/>
          <a:lstStyle/>
          <a:p>
            <a:pPr algn="l" indent="0" marL="0">
              <a:buNone/>
            </a:pPr>
            <a:r>
              <a:rPr lang="en-US" sz="1200" b="1" dirty="0">
                <a:solidFill>
                  <a:srgbClr val="B87333"/>
                </a:solidFill>
                <a:latin typeface="Georgia" pitchFamily="34" charset="0"/>
                <a:ea typeface="Georgia" pitchFamily="34" charset="-122"/>
                <a:cs typeface="Georgia" pitchFamily="34" charset="-120"/>
              </a:rPr>
              <a:t>Instantaneous change vs structural repetition</a:t>
            </a:r>
            <a:endParaRPr lang="en-US" sz="1200" dirty="0"/>
          </a:p>
        </p:txBody>
      </p:sp>
      <p:sp>
        <p:nvSpPr>
          <p:cNvPr id="94" name="Text 92"/>
          <p:cNvSpPr/>
          <p:nvPr/>
        </p:nvSpPr>
        <p:spPr>
          <a:xfrm>
            <a:off x="4187952" y="1755648"/>
            <a:ext cx="7680960" cy="804672"/>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RMS and onset measure what is happening right now. SSM asks 'do two distant moments in this track sound similar?' Only SSM can detect that the Chorus is appearing for the third time.</a:t>
            </a:r>
            <a:endParaRPr lang="en-US" sz="1100" dirty="0"/>
          </a:p>
        </p:txBody>
      </p:sp>
      <p:sp>
        <p:nvSpPr>
          <p:cNvPr id="95" name="Shape 93"/>
          <p:cNvSpPr/>
          <p:nvPr/>
        </p:nvSpPr>
        <p:spPr>
          <a:xfrm>
            <a:off x="4023360" y="2715768"/>
            <a:ext cx="7955280" cy="1298448"/>
          </a:xfrm>
          <a:prstGeom prst="rect">
            <a:avLst/>
          </a:prstGeom>
          <a:solidFill>
            <a:srgbClr val="FFFFFF"/>
          </a:solidFill>
          <a:ln w="12700">
            <a:solidFill>
              <a:srgbClr val="E2E8F0"/>
            </a:solidFill>
            <a:prstDash val="solid"/>
          </a:ln>
        </p:spPr>
      </p:sp>
      <p:sp>
        <p:nvSpPr>
          <p:cNvPr id="96" name="Shape 94"/>
          <p:cNvSpPr/>
          <p:nvPr/>
        </p:nvSpPr>
        <p:spPr>
          <a:xfrm>
            <a:off x="4023360" y="2715768"/>
            <a:ext cx="54864" cy="1298448"/>
          </a:xfrm>
          <a:prstGeom prst="rect">
            <a:avLst/>
          </a:prstGeom>
          <a:solidFill>
            <a:srgbClr val="2D6A4F"/>
          </a:solidFill>
          <a:ln w="12700">
            <a:solidFill>
              <a:srgbClr val="2D6A4F"/>
            </a:solidFill>
            <a:prstDash val="solid"/>
          </a:ln>
        </p:spPr>
      </p:sp>
      <p:sp>
        <p:nvSpPr>
          <p:cNvPr id="97" name="Text 95"/>
          <p:cNvSpPr/>
          <p:nvPr/>
        </p:nvSpPr>
        <p:spPr>
          <a:xfrm>
            <a:off x="4187952" y="2788920"/>
            <a:ext cx="7680960" cy="347472"/>
          </a:xfrm>
          <a:prstGeom prst="rect">
            <a:avLst/>
          </a:prstGeom>
          <a:noFill/>
          <a:ln/>
        </p:spPr>
        <p:txBody>
          <a:bodyPr wrap="square" lIns="0" tIns="0" rIns="0" bIns="0" rtlCol="0" anchor="ctr"/>
          <a:lstStyle/>
          <a:p>
            <a:pPr algn="l" indent="0" marL="0">
              <a:buNone/>
            </a:pPr>
            <a:r>
              <a:rPr lang="en-US" sz="1200" b="1" dirty="0">
                <a:solidFill>
                  <a:srgbClr val="2D6A4F"/>
                </a:solidFill>
                <a:latin typeface="Georgia" pitchFamily="34" charset="0"/>
                <a:ea typeface="Georgia" pitchFamily="34" charset="-122"/>
                <a:cs typeface="Georgia" pitchFamily="34" charset="-120"/>
              </a:rPr>
              <a:t>Why the highest weight (0.42)?</a:t>
            </a:r>
            <a:endParaRPr lang="en-US" sz="1200" dirty="0"/>
          </a:p>
        </p:txBody>
      </p:sp>
      <p:sp>
        <p:nvSpPr>
          <p:cNvPr id="98" name="Text 96"/>
          <p:cNvSpPr/>
          <p:nvPr/>
        </p:nvSpPr>
        <p:spPr>
          <a:xfrm>
            <a:off x="4187952" y="3172968"/>
            <a:ext cx="7680960" cy="804672"/>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In feature-level fusion, a strong SSM candidate (confidence ≥ 0.5) can pass acceptance on its own. Other signals provide support — without SSM, real section boundaries are likely to be missed.</a:t>
            </a:r>
            <a:endParaRPr lang="en-US" sz="1100" dirty="0"/>
          </a:p>
        </p:txBody>
      </p:sp>
      <p:sp>
        <p:nvSpPr>
          <p:cNvPr id="99" name="Shape 97"/>
          <p:cNvSpPr/>
          <p:nvPr/>
        </p:nvSpPr>
        <p:spPr>
          <a:xfrm>
            <a:off x="4023360" y="4133088"/>
            <a:ext cx="7955280" cy="1298448"/>
          </a:xfrm>
          <a:prstGeom prst="rect">
            <a:avLst/>
          </a:prstGeom>
          <a:solidFill>
            <a:srgbClr val="FFFFFF"/>
          </a:solidFill>
          <a:ln w="12700">
            <a:solidFill>
              <a:srgbClr val="E2E8F0"/>
            </a:solidFill>
            <a:prstDash val="solid"/>
          </a:ln>
        </p:spPr>
      </p:sp>
      <p:sp>
        <p:nvSpPr>
          <p:cNvPr id="100" name="Shape 98"/>
          <p:cNvSpPr/>
          <p:nvPr/>
        </p:nvSpPr>
        <p:spPr>
          <a:xfrm>
            <a:off x="4023360" y="4133088"/>
            <a:ext cx="54864" cy="1298448"/>
          </a:xfrm>
          <a:prstGeom prst="rect">
            <a:avLst/>
          </a:prstGeom>
          <a:solidFill>
            <a:srgbClr val="0D9488"/>
          </a:solidFill>
          <a:ln w="12700">
            <a:solidFill>
              <a:srgbClr val="0D9488"/>
            </a:solidFill>
            <a:prstDash val="solid"/>
          </a:ln>
        </p:spPr>
      </p:sp>
      <p:sp>
        <p:nvSpPr>
          <p:cNvPr id="101" name="Text 99"/>
          <p:cNvSpPr/>
          <p:nvPr/>
        </p:nvSpPr>
        <p:spPr>
          <a:xfrm>
            <a:off x="4187952" y="4206240"/>
            <a:ext cx="7680960" cy="347472"/>
          </a:xfrm>
          <a:prstGeom prst="rect">
            <a:avLst/>
          </a:prstGeom>
          <a:noFill/>
          <a:ln/>
        </p:spPr>
        <p:txBody>
          <a:bodyPr wrap="square" lIns="0" tIns="0" rIns="0" bIns="0" rtlCol="0" anchor="ctr"/>
          <a:lstStyle/>
          <a:p>
            <a:pPr algn="l" indent="0" marL="0">
              <a:buNone/>
            </a:pPr>
            <a:r>
              <a:rPr lang="en-US" sz="1200" b="1" dirty="0">
                <a:solidFill>
                  <a:srgbClr val="0D9488"/>
                </a:solidFill>
                <a:latin typeface="Georgia" pitchFamily="34" charset="0"/>
                <a:ea typeface="Georgia" pitchFamily="34" charset="-122"/>
                <a:cs typeface="Georgia" pitchFamily="34" charset="-120"/>
              </a:rPr>
              <a:t>Why transposition invariance?</a:t>
            </a:r>
            <a:endParaRPr lang="en-US" sz="1200" dirty="0"/>
          </a:p>
        </p:txBody>
      </p:sp>
      <p:sp>
        <p:nvSpPr>
          <p:cNvPr id="102" name="Text 100"/>
          <p:cNvSpPr/>
          <p:nvPr/>
        </p:nvSpPr>
        <p:spPr>
          <a:xfrm>
            <a:off x="4187952" y="4590288"/>
            <a:ext cx="7680960" cy="804672"/>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The same motif can repeat in a different key. We try all 12 pitch shifts and keep the maximum similarity. Structural repetition survives even when the key changes.</a:t>
            </a:r>
            <a:endParaRPr lang="en-US" sz="1100" dirty="0"/>
          </a:p>
        </p:txBody>
      </p:sp>
      <p:sp>
        <p:nvSpPr>
          <p:cNvPr id="103" name="Shape 101"/>
          <p:cNvSpPr/>
          <p:nvPr/>
        </p:nvSpPr>
        <p:spPr>
          <a:xfrm>
            <a:off x="4023360" y="5550408"/>
            <a:ext cx="7955280" cy="1298448"/>
          </a:xfrm>
          <a:prstGeom prst="rect">
            <a:avLst/>
          </a:prstGeom>
          <a:solidFill>
            <a:srgbClr val="FFFFFF"/>
          </a:solidFill>
          <a:ln w="12700">
            <a:solidFill>
              <a:srgbClr val="E2E8F0"/>
            </a:solidFill>
            <a:prstDash val="solid"/>
          </a:ln>
        </p:spPr>
      </p:sp>
      <p:sp>
        <p:nvSpPr>
          <p:cNvPr id="104" name="Shape 102"/>
          <p:cNvSpPr/>
          <p:nvPr/>
        </p:nvSpPr>
        <p:spPr>
          <a:xfrm>
            <a:off x="4023360" y="5550408"/>
            <a:ext cx="54864" cy="1298448"/>
          </a:xfrm>
          <a:prstGeom prst="rect">
            <a:avLst/>
          </a:prstGeom>
          <a:solidFill>
            <a:srgbClr val="B45309"/>
          </a:solidFill>
          <a:ln w="12700">
            <a:solidFill>
              <a:srgbClr val="B45309"/>
            </a:solidFill>
            <a:prstDash val="solid"/>
          </a:ln>
        </p:spPr>
      </p:sp>
      <p:sp>
        <p:nvSpPr>
          <p:cNvPr id="105" name="Text 103"/>
          <p:cNvSpPr/>
          <p:nvPr/>
        </p:nvSpPr>
        <p:spPr>
          <a:xfrm>
            <a:off x="4187952" y="5623560"/>
            <a:ext cx="7680960" cy="347472"/>
          </a:xfrm>
          <a:prstGeom prst="rect">
            <a:avLst/>
          </a:prstGeom>
          <a:noFill/>
          <a:ln/>
        </p:spPr>
        <p:txBody>
          <a:bodyPr wrap="square" lIns="0" tIns="0" rIns="0" bIns="0" rtlCol="0" anchor="ctr"/>
          <a:lstStyle/>
          <a:p>
            <a:pPr algn="l" indent="0" marL="0">
              <a:buNone/>
            </a:pPr>
            <a:r>
              <a:rPr lang="en-US" sz="1200" b="1" dirty="0">
                <a:solidFill>
                  <a:srgbClr val="B45309"/>
                </a:solidFill>
                <a:latin typeface="Georgia" pitchFamily="34" charset="0"/>
                <a:ea typeface="Georgia" pitchFamily="34" charset="-122"/>
                <a:cs typeface="Georgia" pitchFamily="34" charset="-120"/>
              </a:rPr>
              <a:t>Why diagonal smoothing and enhancement?</a:t>
            </a:r>
            <a:endParaRPr lang="en-US" sz="1200" dirty="0"/>
          </a:p>
        </p:txBody>
      </p:sp>
      <p:sp>
        <p:nvSpPr>
          <p:cNvPr id="106" name="Text 104"/>
          <p:cNvSpPr/>
          <p:nvPr/>
        </p:nvSpPr>
        <p:spPr>
          <a:xfrm>
            <a:off x="4187952" y="6007608"/>
            <a:ext cx="7680960" cy="804672"/>
          </a:xfrm>
          <a:prstGeom prst="rect">
            <a:avLst/>
          </a:prstGeom>
          <a:noFill/>
          <a:ln/>
        </p:spPr>
        <p:txBody>
          <a:bodyPr wrap="square" lIns="0" tIns="0" rIns="0" bIns="0"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The raw SSM is noisy. We smooth along diagonals — accounting for tempo variation — to strengthen repetition paths. The checkerboard kernel produces its highest response exactly at boundaries.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MSAF Baselines — Why 3 Different Methods?</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Different mathematical assumptions produce different error profiles</a:t>
            </a:r>
            <a:endParaRPr lang="en-US" sz="1300" dirty="0"/>
          </a:p>
        </p:txBody>
      </p:sp>
      <p:sp>
        <p:nvSpPr>
          <p:cNvPr id="6" name="Shape 4"/>
          <p:cNvSpPr/>
          <p:nvPr/>
        </p:nvSpPr>
        <p:spPr>
          <a:xfrm>
            <a:off x="9601200" y="6400800"/>
            <a:ext cx="2377440" cy="310896"/>
          </a:xfrm>
          <a:prstGeom prst="roundRect">
            <a:avLst/>
          </a:prstGeom>
          <a:solidFill>
            <a:srgbClr val="0D9488"/>
          </a:solidFill>
          <a:ln w="12700">
            <a:solidFill>
              <a:srgbClr val="0D9488"/>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11/21</a:t>
            </a:r>
            <a:endParaRPr lang="en-US" sz="800" dirty="0"/>
          </a:p>
        </p:txBody>
      </p:sp>
      <p:sp>
        <p:nvSpPr>
          <p:cNvPr id="9" name="Shape 7"/>
          <p:cNvSpPr/>
          <p:nvPr/>
        </p:nvSpPr>
        <p:spPr>
          <a:xfrm>
            <a:off x="274320" y="1298448"/>
            <a:ext cx="11612880" cy="658368"/>
          </a:xfrm>
          <a:prstGeom prst="roundRect">
            <a:avLst/>
          </a:prstGeom>
          <a:solidFill>
            <a:srgbClr val="EFF6FF"/>
          </a:solidFill>
          <a:ln w="12700">
            <a:solidFill>
              <a:srgbClr val="0D9488"/>
            </a:solidFill>
            <a:prstDash val="solid"/>
          </a:ln>
        </p:spPr>
      </p:sp>
      <p:sp>
        <p:nvSpPr>
          <p:cNvPr id="10" name="Text 8"/>
          <p:cNvSpPr/>
          <p:nvPr/>
        </p:nvSpPr>
        <p:spPr>
          <a:xfrm>
            <a:off x="457200" y="1298448"/>
            <a:ext cx="11247120" cy="658368"/>
          </a:xfrm>
          <a:prstGeom prst="rect">
            <a:avLst/>
          </a:prstGeom>
          <a:noFill/>
          <a:ln/>
        </p:spPr>
        <p:txBody>
          <a:bodyPr wrap="square" rtlCol="0" anchor="ctr"/>
          <a:lstStyle/>
          <a:p>
            <a:pPr algn="l" indent="0" marL="0">
              <a:buNone/>
            </a:pPr>
            <a:r>
              <a:rPr lang="en-US" sz="1200" dirty="0">
                <a:solidFill>
                  <a:srgbClr val="1B2A4A"/>
                </a:solidFill>
                <a:latin typeface="Calibri" pitchFamily="34" charset="0"/>
                <a:ea typeface="Calibri" pitchFamily="34" charset="-122"/>
                <a:cs typeface="Calibri" pitchFamily="34" charset="-120"/>
              </a:rPr>
              <a:t>The value of fusion is not combining 4 variations of the same algorithm — it is combining independent opinions from different mathematical perspectives. Similar error profiles make fusion pointless.</a:t>
            </a:r>
            <a:endParaRPr lang="en-US" sz="1200" dirty="0"/>
          </a:p>
        </p:txBody>
      </p:sp>
      <p:sp>
        <p:nvSpPr>
          <p:cNvPr id="11" name="Shape 9"/>
          <p:cNvSpPr/>
          <p:nvPr/>
        </p:nvSpPr>
        <p:spPr>
          <a:xfrm>
            <a:off x="274320" y="2148840"/>
            <a:ext cx="3703320" cy="48006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12" name="Shape 10"/>
          <p:cNvSpPr/>
          <p:nvPr/>
        </p:nvSpPr>
        <p:spPr>
          <a:xfrm>
            <a:off x="274320" y="2148840"/>
            <a:ext cx="3703320" cy="502920"/>
          </a:xfrm>
          <a:prstGeom prst="rect">
            <a:avLst/>
          </a:prstGeom>
          <a:solidFill>
            <a:srgbClr val="5B21B6"/>
          </a:solidFill>
          <a:ln w="12700">
            <a:solidFill>
              <a:srgbClr val="5B21B6"/>
            </a:solidFill>
            <a:prstDash val="solid"/>
          </a:ln>
        </p:spPr>
      </p:sp>
      <p:sp>
        <p:nvSpPr>
          <p:cNvPr id="13" name="Text 11"/>
          <p:cNvSpPr/>
          <p:nvPr/>
        </p:nvSpPr>
        <p:spPr>
          <a:xfrm>
            <a:off x="274320" y="2148840"/>
            <a:ext cx="37033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Foote</a:t>
            </a:r>
            <a:endParaRPr lang="en-US" sz="2000" dirty="0"/>
          </a:p>
        </p:txBody>
      </p:sp>
      <p:sp>
        <p:nvSpPr>
          <p:cNvPr id="14" name="Text 12"/>
          <p:cNvSpPr/>
          <p:nvPr/>
        </p:nvSpPr>
        <p:spPr>
          <a:xfrm>
            <a:off x="384048" y="2715768"/>
            <a:ext cx="3483864" cy="347472"/>
          </a:xfrm>
          <a:prstGeom prst="rect">
            <a:avLst/>
          </a:prstGeom>
          <a:noFill/>
          <a:ln/>
        </p:spPr>
        <p:txBody>
          <a:bodyPr wrap="square" rtlCol="0" anchor="ctr"/>
          <a:lstStyle/>
          <a:p>
            <a:pPr algn="ctr" indent="0" marL="0">
              <a:buNone/>
            </a:pPr>
            <a:r>
              <a:rPr lang="en-US" sz="1000" b="1" dirty="0">
                <a:solidFill>
                  <a:srgbClr val="5B21B6"/>
                </a:solidFill>
                <a:latin typeface="Calibri" pitchFamily="34" charset="0"/>
                <a:ea typeface="Calibri" pitchFamily="34" charset="-122"/>
                <a:cs typeface="Calibri" pitchFamily="34" charset="-120"/>
              </a:rPr>
              <a:t>Local Novelty Detection</a:t>
            </a:r>
            <a:endParaRPr lang="en-US" sz="1000" dirty="0"/>
          </a:p>
        </p:txBody>
      </p:sp>
      <p:sp>
        <p:nvSpPr>
          <p:cNvPr id="15" name="Text 13"/>
          <p:cNvSpPr/>
          <p:nvPr/>
        </p:nvSpPr>
        <p:spPr>
          <a:xfrm>
            <a:off x="384048" y="3108960"/>
            <a:ext cx="3483864" cy="256032"/>
          </a:xfrm>
          <a:prstGeom prst="rect">
            <a:avLst/>
          </a:prstGeom>
          <a:noFill/>
          <a:ln/>
        </p:spPr>
        <p:txBody>
          <a:bodyPr wrap="square" rtlCol="0" anchor="ctr"/>
          <a:lstStyle/>
          <a:p>
            <a:pPr indent="0" marL="0">
              <a:buNone/>
            </a:pPr>
            <a:r>
              <a:rPr lang="en-US" sz="900" b="1" dirty="0">
                <a:solidFill>
                  <a:srgbClr val="718096"/>
                </a:solidFill>
                <a:latin typeface="Calibri" pitchFamily="34" charset="0"/>
                <a:ea typeface="Calibri" pitchFamily="34" charset="-122"/>
                <a:cs typeface="Calibri" pitchFamily="34" charset="-120"/>
              </a:rPr>
              <a:t>Perspective</a:t>
            </a:r>
            <a:endParaRPr lang="en-US" sz="900" dirty="0"/>
          </a:p>
        </p:txBody>
      </p:sp>
      <p:sp>
        <p:nvSpPr>
          <p:cNvPr id="16" name="Text 14"/>
          <p:cNvSpPr/>
          <p:nvPr/>
        </p:nvSpPr>
        <p:spPr>
          <a:xfrm>
            <a:off x="384048" y="3364992"/>
            <a:ext cx="3483864" cy="502920"/>
          </a:xfrm>
          <a:prstGeom prst="rect">
            <a:avLst/>
          </a:prstGeom>
          <a:noFill/>
          <a:ln/>
        </p:spPr>
        <p:txBody>
          <a:bodyPr wrap="square" rtlCol="0" anchor="ctr"/>
          <a:lstStyle/>
          <a:p>
            <a:pPr indent="0" marL="0">
              <a:buNone/>
            </a:pPr>
            <a:r>
              <a:rPr lang="en-US" sz="1100" i="1" dirty="0">
                <a:solidFill>
                  <a:srgbClr val="1B2A4A"/>
                </a:solidFill>
                <a:latin typeface="Calibri" pitchFamily="34" charset="0"/>
                <a:ea typeface="Calibri" pitchFamily="34" charset="-122"/>
                <a:cs typeface="Calibri" pitchFamily="34" charset="-120"/>
              </a:rPr>
              <a:t>'How much has the structure changed compared to a moment ago?'</a:t>
            </a:r>
            <a:endParaRPr lang="en-US" sz="1100" dirty="0"/>
          </a:p>
        </p:txBody>
      </p:sp>
      <p:sp>
        <p:nvSpPr>
          <p:cNvPr id="17" name="Shape 15"/>
          <p:cNvSpPr/>
          <p:nvPr/>
        </p:nvSpPr>
        <p:spPr>
          <a:xfrm>
            <a:off x="384048" y="3913632"/>
            <a:ext cx="3483864" cy="9144"/>
          </a:xfrm>
          <a:prstGeom prst="rect">
            <a:avLst/>
          </a:prstGeom>
          <a:solidFill>
            <a:srgbClr val="E2E8F0"/>
          </a:solidFill>
          <a:ln w="12700">
            <a:solidFill>
              <a:srgbClr val="E2E8F0"/>
            </a:solidFill>
            <a:prstDash val="solid"/>
          </a:ln>
        </p:spPr>
      </p:sp>
      <p:sp>
        <p:nvSpPr>
          <p:cNvPr id="18" name="Text 16"/>
          <p:cNvSpPr/>
          <p:nvPr/>
        </p:nvSpPr>
        <p:spPr>
          <a:xfrm>
            <a:off x="384048" y="3950208"/>
            <a:ext cx="3483864" cy="777240"/>
          </a:xfrm>
          <a:prstGeom prst="rect">
            <a:avLst/>
          </a:prstGeom>
          <a:noFill/>
          <a:ln/>
        </p:spPr>
        <p:txBody>
          <a:bodyPr wrap="square" rtlCol="0" anchor="t"/>
          <a:lstStyle/>
          <a:p>
            <a:pPr indent="0" marL="0">
              <a:buNone/>
            </a:pPr>
            <a:r>
              <a:rPr lang="en-US" sz="1000" dirty="0">
                <a:solidFill>
                  <a:srgbClr val="2D6A4F"/>
                </a:solidFill>
                <a:latin typeface="Calibri" pitchFamily="34" charset="0"/>
                <a:ea typeface="Calibri" pitchFamily="34" charset="-122"/>
                <a:cs typeface="Calibri" pitchFamily="34" charset="-120"/>
              </a:rPr>
              <a:t>✓ Captures sharp, local transitions. Fast and explainable.</a:t>
            </a:r>
            <a:endParaRPr lang="en-US" sz="1000" dirty="0"/>
          </a:p>
        </p:txBody>
      </p:sp>
      <p:sp>
        <p:nvSpPr>
          <p:cNvPr id="19" name="Text 17"/>
          <p:cNvSpPr/>
          <p:nvPr/>
        </p:nvSpPr>
        <p:spPr>
          <a:xfrm>
            <a:off x="384048" y="4773168"/>
            <a:ext cx="3483864" cy="685800"/>
          </a:xfrm>
          <a:prstGeom prst="rect">
            <a:avLst/>
          </a:prstGeom>
          <a:noFill/>
          <a:ln/>
        </p:spPr>
        <p:txBody>
          <a:bodyPr wrap="square" rtlCol="0" anchor="t"/>
          <a:lstStyle/>
          <a:p>
            <a:pPr indent="0" marL="0">
              <a:buNone/>
            </a:pPr>
            <a:r>
              <a:rPr lang="en-US" sz="1000" dirty="0">
                <a:solidFill>
                  <a:srgbClr val="B45309"/>
                </a:solidFill>
                <a:latin typeface="Calibri" pitchFamily="34" charset="0"/>
                <a:ea typeface="Calibri" pitchFamily="34" charset="-122"/>
                <a:cs typeface="Calibri" pitchFamily="34" charset="-120"/>
              </a:rPr>
              <a:t>⚠ Sensitive to non-structural transients (e.g., drum fills).</a:t>
            </a:r>
            <a:endParaRPr lang="en-US" sz="1000" dirty="0"/>
          </a:p>
        </p:txBody>
      </p:sp>
      <p:sp>
        <p:nvSpPr>
          <p:cNvPr id="20" name="Shape 18"/>
          <p:cNvSpPr/>
          <p:nvPr/>
        </p:nvSpPr>
        <p:spPr>
          <a:xfrm>
            <a:off x="384048" y="5504688"/>
            <a:ext cx="3483864" cy="347472"/>
          </a:xfrm>
          <a:prstGeom prst="roundRect">
            <a:avLst/>
          </a:prstGeom>
          <a:solidFill>
            <a:srgbClr val="5B21B6"/>
          </a:solidFill>
          <a:ln w="12700">
            <a:solidFill>
              <a:srgbClr val="5B21B6"/>
            </a:solidFill>
            <a:prstDash val="solid"/>
          </a:ln>
        </p:spPr>
      </p:sp>
      <p:sp>
        <p:nvSpPr>
          <p:cNvPr id="21" name="Text 19"/>
          <p:cNvSpPr/>
          <p:nvPr/>
        </p:nvSpPr>
        <p:spPr>
          <a:xfrm>
            <a:off x="384048" y="5504688"/>
            <a:ext cx="3483864" cy="347472"/>
          </a:xfrm>
          <a:prstGeom prst="rect">
            <a:avLst/>
          </a:prstGeom>
          <a:noFill/>
          <a:ln/>
        </p:spPr>
        <p:txBody>
          <a:bodyPr wrap="square" lIns="0" tIns="0" rIns="0" bIns="0" rtlCol="0" anchor="ctr"/>
          <a:lstStyle/>
          <a:p>
            <a:pPr algn="ctr" indent="0" marL="0">
              <a:buNone/>
            </a:pPr>
            <a:r>
              <a:rPr lang="en-US" sz="900" b="1" dirty="0">
                <a:solidFill>
                  <a:srgbClr val="FFFFFF"/>
                </a:solidFill>
              </a:rPr>
              <a:t>Weight: 0.15 — local signal only, no global structural knowledge</a:t>
            </a:r>
            <a:endParaRPr lang="en-US" sz="900" dirty="0"/>
          </a:p>
        </p:txBody>
      </p:sp>
      <p:sp>
        <p:nvSpPr>
          <p:cNvPr id="22" name="Shape 20"/>
          <p:cNvSpPr/>
          <p:nvPr/>
        </p:nvSpPr>
        <p:spPr>
          <a:xfrm>
            <a:off x="4251960" y="2148840"/>
            <a:ext cx="3703320" cy="48006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23" name="Shape 21"/>
          <p:cNvSpPr/>
          <p:nvPr/>
        </p:nvSpPr>
        <p:spPr>
          <a:xfrm>
            <a:off x="4251960" y="2148840"/>
            <a:ext cx="3703320" cy="502920"/>
          </a:xfrm>
          <a:prstGeom prst="rect">
            <a:avLst/>
          </a:prstGeom>
          <a:solidFill>
            <a:srgbClr val="0D9488"/>
          </a:solidFill>
          <a:ln w="12700">
            <a:solidFill>
              <a:srgbClr val="0D9488"/>
            </a:solidFill>
            <a:prstDash val="solid"/>
          </a:ln>
        </p:spPr>
      </p:sp>
      <p:sp>
        <p:nvSpPr>
          <p:cNvPr id="24" name="Text 22"/>
          <p:cNvSpPr/>
          <p:nvPr/>
        </p:nvSpPr>
        <p:spPr>
          <a:xfrm>
            <a:off x="4251960" y="2148840"/>
            <a:ext cx="37033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CNMF</a:t>
            </a:r>
            <a:endParaRPr lang="en-US" sz="2000" dirty="0"/>
          </a:p>
        </p:txBody>
      </p:sp>
      <p:sp>
        <p:nvSpPr>
          <p:cNvPr id="25" name="Text 23"/>
          <p:cNvSpPr/>
          <p:nvPr/>
        </p:nvSpPr>
        <p:spPr>
          <a:xfrm>
            <a:off x="4361688" y="2715768"/>
            <a:ext cx="3483864" cy="347472"/>
          </a:xfrm>
          <a:prstGeom prst="rect">
            <a:avLst/>
          </a:prstGeom>
          <a:noFill/>
          <a:ln/>
        </p:spPr>
        <p:txBody>
          <a:bodyPr wrap="square"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Convex Non-negative Matrix Factorization</a:t>
            </a:r>
            <a:endParaRPr lang="en-US" sz="1000" dirty="0"/>
          </a:p>
        </p:txBody>
      </p:sp>
      <p:sp>
        <p:nvSpPr>
          <p:cNvPr id="26" name="Text 24"/>
          <p:cNvSpPr/>
          <p:nvPr/>
        </p:nvSpPr>
        <p:spPr>
          <a:xfrm>
            <a:off x="4361688" y="3108960"/>
            <a:ext cx="3483864" cy="256032"/>
          </a:xfrm>
          <a:prstGeom prst="rect">
            <a:avLst/>
          </a:prstGeom>
          <a:noFill/>
          <a:ln/>
        </p:spPr>
        <p:txBody>
          <a:bodyPr wrap="square" rtlCol="0" anchor="ctr"/>
          <a:lstStyle/>
          <a:p>
            <a:pPr indent="0" marL="0">
              <a:buNone/>
            </a:pPr>
            <a:r>
              <a:rPr lang="en-US" sz="900" b="1" dirty="0">
                <a:solidFill>
                  <a:srgbClr val="718096"/>
                </a:solidFill>
                <a:latin typeface="Calibri" pitchFamily="34" charset="0"/>
                <a:ea typeface="Calibri" pitchFamily="34" charset="-122"/>
                <a:cs typeface="Calibri" pitchFamily="34" charset="-120"/>
              </a:rPr>
              <a:t>Perspective</a:t>
            </a:r>
            <a:endParaRPr lang="en-US" sz="900" dirty="0"/>
          </a:p>
        </p:txBody>
      </p:sp>
      <p:sp>
        <p:nvSpPr>
          <p:cNvPr id="27" name="Text 25"/>
          <p:cNvSpPr/>
          <p:nvPr/>
        </p:nvSpPr>
        <p:spPr>
          <a:xfrm>
            <a:off x="4361688" y="3364992"/>
            <a:ext cx="3483864" cy="502920"/>
          </a:xfrm>
          <a:prstGeom prst="rect">
            <a:avLst/>
          </a:prstGeom>
          <a:noFill/>
          <a:ln/>
        </p:spPr>
        <p:txBody>
          <a:bodyPr wrap="square" rtlCol="0" anchor="ctr"/>
          <a:lstStyle/>
          <a:p>
            <a:pPr indent="0" marL="0">
              <a:buNone/>
            </a:pPr>
            <a:r>
              <a:rPr lang="en-US" sz="1100" i="1" dirty="0">
                <a:solidFill>
                  <a:srgbClr val="1B2A4A"/>
                </a:solidFill>
                <a:latin typeface="Calibri" pitchFamily="34" charset="0"/>
                <a:ea typeface="Calibri" pitchFamily="34" charset="-122"/>
                <a:cs typeface="Calibri" pitchFamily="34" charset="-120"/>
              </a:rPr>
              <a:t>'What hidden recurring components exist in this track?'</a:t>
            </a:r>
            <a:endParaRPr lang="en-US" sz="1100" dirty="0"/>
          </a:p>
        </p:txBody>
      </p:sp>
      <p:sp>
        <p:nvSpPr>
          <p:cNvPr id="28" name="Shape 26"/>
          <p:cNvSpPr/>
          <p:nvPr/>
        </p:nvSpPr>
        <p:spPr>
          <a:xfrm>
            <a:off x="4361688" y="3913632"/>
            <a:ext cx="3483864" cy="9144"/>
          </a:xfrm>
          <a:prstGeom prst="rect">
            <a:avLst/>
          </a:prstGeom>
          <a:solidFill>
            <a:srgbClr val="E2E8F0"/>
          </a:solidFill>
          <a:ln w="12700">
            <a:solidFill>
              <a:srgbClr val="E2E8F0"/>
            </a:solidFill>
            <a:prstDash val="solid"/>
          </a:ln>
        </p:spPr>
      </p:sp>
      <p:sp>
        <p:nvSpPr>
          <p:cNvPr id="29" name="Text 27"/>
          <p:cNvSpPr/>
          <p:nvPr/>
        </p:nvSpPr>
        <p:spPr>
          <a:xfrm>
            <a:off x="4361688" y="3950208"/>
            <a:ext cx="3483864" cy="777240"/>
          </a:xfrm>
          <a:prstGeom prst="rect">
            <a:avLst/>
          </a:prstGeom>
          <a:noFill/>
          <a:ln/>
        </p:spPr>
        <p:txBody>
          <a:bodyPr wrap="square" rtlCol="0" anchor="t"/>
          <a:lstStyle/>
          <a:p>
            <a:pPr indent="0" marL="0">
              <a:buNone/>
            </a:pPr>
            <a:r>
              <a:rPr lang="en-US" sz="1000" dirty="0">
                <a:solidFill>
                  <a:srgbClr val="2D6A4F"/>
                </a:solidFill>
                <a:latin typeface="Calibri" pitchFamily="34" charset="0"/>
                <a:ea typeface="Calibri" pitchFamily="34" charset="-122"/>
                <a:cs typeface="Calibri" pitchFamily="34" charset="-120"/>
              </a:rPr>
              <a:t>✓ Factorizes latent patterns — extracts structure already inside the data.</a:t>
            </a:r>
            <a:endParaRPr lang="en-US" sz="1000" dirty="0"/>
          </a:p>
        </p:txBody>
      </p:sp>
      <p:sp>
        <p:nvSpPr>
          <p:cNvPr id="30" name="Text 28"/>
          <p:cNvSpPr/>
          <p:nvPr/>
        </p:nvSpPr>
        <p:spPr>
          <a:xfrm>
            <a:off x="4361688" y="4773168"/>
            <a:ext cx="3483864" cy="685800"/>
          </a:xfrm>
          <a:prstGeom prst="rect">
            <a:avLst/>
          </a:prstGeom>
          <a:noFill/>
          <a:ln/>
        </p:spPr>
        <p:txBody>
          <a:bodyPr wrap="square" rtlCol="0" anchor="t"/>
          <a:lstStyle/>
          <a:p>
            <a:pPr indent="0" marL="0">
              <a:buNone/>
            </a:pPr>
            <a:r>
              <a:rPr lang="en-US" sz="1000" dirty="0">
                <a:solidFill>
                  <a:srgbClr val="B45309"/>
                </a:solidFill>
                <a:latin typeface="Calibri" pitchFamily="34" charset="0"/>
                <a:ea typeface="Calibri" pitchFamily="34" charset="-122"/>
                <a:cs typeface="Calibri" pitchFamily="34" charset="-120"/>
              </a:rPr>
              <a:t>⚠ Factorization rank (k) choice affects the number of boundaries.</a:t>
            </a:r>
            <a:endParaRPr lang="en-US" sz="1000" dirty="0"/>
          </a:p>
        </p:txBody>
      </p:sp>
      <p:sp>
        <p:nvSpPr>
          <p:cNvPr id="31" name="Shape 29"/>
          <p:cNvSpPr/>
          <p:nvPr/>
        </p:nvSpPr>
        <p:spPr>
          <a:xfrm>
            <a:off x="4361688" y="5504688"/>
            <a:ext cx="3483864" cy="347472"/>
          </a:xfrm>
          <a:prstGeom prst="roundRect">
            <a:avLst/>
          </a:prstGeom>
          <a:solidFill>
            <a:srgbClr val="0D9488"/>
          </a:solidFill>
          <a:ln w="12700">
            <a:solidFill>
              <a:srgbClr val="0D9488"/>
            </a:solidFill>
            <a:prstDash val="solid"/>
          </a:ln>
        </p:spPr>
      </p:sp>
      <p:sp>
        <p:nvSpPr>
          <p:cNvPr id="32" name="Text 30"/>
          <p:cNvSpPr/>
          <p:nvPr/>
        </p:nvSpPr>
        <p:spPr>
          <a:xfrm>
            <a:off x="4361688" y="5504688"/>
            <a:ext cx="3483864" cy="347472"/>
          </a:xfrm>
          <a:prstGeom prst="rect">
            <a:avLst/>
          </a:prstGeom>
          <a:noFill/>
          <a:ln/>
        </p:spPr>
        <p:txBody>
          <a:bodyPr wrap="square" lIns="0" tIns="0" rIns="0" bIns="0" rtlCol="0" anchor="ctr"/>
          <a:lstStyle/>
          <a:p>
            <a:pPr algn="ctr" indent="0" marL="0">
              <a:buNone/>
            </a:pPr>
            <a:r>
              <a:rPr lang="en-US" sz="900" b="1" dirty="0">
                <a:solidFill>
                  <a:srgbClr val="FFFFFF"/>
                </a:solidFill>
              </a:rPr>
              <a:t>Weight: 0.20 — less sensitive to local noise than Foote</a:t>
            </a:r>
            <a:endParaRPr lang="en-US" sz="900" dirty="0"/>
          </a:p>
        </p:txBody>
      </p:sp>
      <p:sp>
        <p:nvSpPr>
          <p:cNvPr id="33" name="Shape 31"/>
          <p:cNvSpPr/>
          <p:nvPr/>
        </p:nvSpPr>
        <p:spPr>
          <a:xfrm>
            <a:off x="8229600" y="2148840"/>
            <a:ext cx="3703320" cy="48006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34" name="Shape 32"/>
          <p:cNvSpPr/>
          <p:nvPr/>
        </p:nvSpPr>
        <p:spPr>
          <a:xfrm>
            <a:off x="8229600" y="2148840"/>
            <a:ext cx="3703320" cy="502920"/>
          </a:xfrm>
          <a:prstGeom prst="rect">
            <a:avLst/>
          </a:prstGeom>
          <a:solidFill>
            <a:srgbClr val="2D6A4F"/>
          </a:solidFill>
          <a:ln w="12700">
            <a:solidFill>
              <a:srgbClr val="2D6A4F"/>
            </a:solidFill>
            <a:prstDash val="solid"/>
          </a:ln>
        </p:spPr>
      </p:sp>
      <p:sp>
        <p:nvSpPr>
          <p:cNvPr id="35" name="Text 33"/>
          <p:cNvSpPr/>
          <p:nvPr/>
        </p:nvSpPr>
        <p:spPr>
          <a:xfrm>
            <a:off x="8229600" y="2148840"/>
            <a:ext cx="37033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SCluster</a:t>
            </a:r>
            <a:endParaRPr lang="en-US" sz="2000" dirty="0"/>
          </a:p>
        </p:txBody>
      </p:sp>
      <p:sp>
        <p:nvSpPr>
          <p:cNvPr id="36" name="Text 34"/>
          <p:cNvSpPr/>
          <p:nvPr/>
        </p:nvSpPr>
        <p:spPr>
          <a:xfrm>
            <a:off x="8339328" y="2715768"/>
            <a:ext cx="3483864" cy="347472"/>
          </a:xfrm>
          <a:prstGeom prst="rect">
            <a:avLst/>
          </a:prstGeom>
          <a:noFill/>
          <a:ln/>
        </p:spPr>
        <p:txBody>
          <a:bodyPr wrap="square" rtlCol="0" anchor="ctr"/>
          <a:lstStyle/>
          <a:p>
            <a:pPr algn="ctr" indent="0" marL="0">
              <a:buNone/>
            </a:pPr>
            <a:r>
              <a:rPr lang="en-US" sz="1000" b="1" dirty="0">
                <a:solidFill>
                  <a:srgbClr val="2D6A4F"/>
                </a:solidFill>
                <a:latin typeface="Calibri" pitchFamily="34" charset="0"/>
                <a:ea typeface="Calibri" pitchFamily="34" charset="-122"/>
                <a:cs typeface="Calibri" pitchFamily="34" charset="-120"/>
              </a:rPr>
              <a:t>Spectral Clustering on Affinity Graph</a:t>
            </a:r>
            <a:endParaRPr lang="en-US" sz="1000" dirty="0"/>
          </a:p>
        </p:txBody>
      </p:sp>
      <p:sp>
        <p:nvSpPr>
          <p:cNvPr id="37" name="Text 35"/>
          <p:cNvSpPr/>
          <p:nvPr/>
        </p:nvSpPr>
        <p:spPr>
          <a:xfrm>
            <a:off x="8339328" y="3108960"/>
            <a:ext cx="3483864" cy="256032"/>
          </a:xfrm>
          <a:prstGeom prst="rect">
            <a:avLst/>
          </a:prstGeom>
          <a:noFill/>
          <a:ln/>
        </p:spPr>
        <p:txBody>
          <a:bodyPr wrap="square" rtlCol="0" anchor="ctr"/>
          <a:lstStyle/>
          <a:p>
            <a:pPr indent="0" marL="0">
              <a:buNone/>
            </a:pPr>
            <a:r>
              <a:rPr lang="en-US" sz="900" b="1" dirty="0">
                <a:solidFill>
                  <a:srgbClr val="718096"/>
                </a:solidFill>
                <a:latin typeface="Calibri" pitchFamily="34" charset="0"/>
                <a:ea typeface="Calibri" pitchFamily="34" charset="-122"/>
                <a:cs typeface="Calibri" pitchFamily="34" charset="-120"/>
              </a:rPr>
              <a:t>Perspective</a:t>
            </a:r>
            <a:endParaRPr lang="en-US" sz="900" dirty="0"/>
          </a:p>
        </p:txBody>
      </p:sp>
      <p:sp>
        <p:nvSpPr>
          <p:cNvPr id="38" name="Text 36"/>
          <p:cNvSpPr/>
          <p:nvPr/>
        </p:nvSpPr>
        <p:spPr>
          <a:xfrm>
            <a:off x="8339328" y="3364992"/>
            <a:ext cx="3483864" cy="502920"/>
          </a:xfrm>
          <a:prstGeom prst="rect">
            <a:avLst/>
          </a:prstGeom>
          <a:noFill/>
          <a:ln/>
        </p:spPr>
        <p:txBody>
          <a:bodyPr wrap="square" rtlCol="0" anchor="ctr"/>
          <a:lstStyle/>
          <a:p>
            <a:pPr indent="0" marL="0">
              <a:buNone/>
            </a:pPr>
            <a:r>
              <a:rPr lang="en-US" sz="1100" i="1" dirty="0">
                <a:solidFill>
                  <a:srgbClr val="1B2A4A"/>
                </a:solidFill>
                <a:latin typeface="Calibri" pitchFamily="34" charset="0"/>
                <a:ea typeface="Calibri" pitchFamily="34" charset="-122"/>
                <a:cs typeface="Calibri" pitchFamily="34" charset="-120"/>
              </a:rPr>
              <a:t>'How does the entire track divide into global clusters?'</a:t>
            </a:r>
            <a:endParaRPr lang="en-US" sz="1100" dirty="0"/>
          </a:p>
        </p:txBody>
      </p:sp>
      <p:sp>
        <p:nvSpPr>
          <p:cNvPr id="39" name="Shape 37"/>
          <p:cNvSpPr/>
          <p:nvPr/>
        </p:nvSpPr>
        <p:spPr>
          <a:xfrm>
            <a:off x="8339328" y="3913632"/>
            <a:ext cx="3483864" cy="9144"/>
          </a:xfrm>
          <a:prstGeom prst="rect">
            <a:avLst/>
          </a:prstGeom>
          <a:solidFill>
            <a:srgbClr val="E2E8F0"/>
          </a:solidFill>
          <a:ln w="12700">
            <a:solidFill>
              <a:srgbClr val="E2E8F0"/>
            </a:solidFill>
            <a:prstDash val="solid"/>
          </a:ln>
        </p:spPr>
      </p:sp>
      <p:sp>
        <p:nvSpPr>
          <p:cNvPr id="40" name="Text 38"/>
          <p:cNvSpPr/>
          <p:nvPr/>
        </p:nvSpPr>
        <p:spPr>
          <a:xfrm>
            <a:off x="8339328" y="3950208"/>
            <a:ext cx="3483864" cy="777240"/>
          </a:xfrm>
          <a:prstGeom prst="rect">
            <a:avLst/>
          </a:prstGeom>
          <a:noFill/>
          <a:ln/>
        </p:spPr>
        <p:txBody>
          <a:bodyPr wrap="square" rtlCol="0" anchor="t"/>
          <a:lstStyle/>
          <a:p>
            <a:pPr indent="0" marL="0">
              <a:buNone/>
            </a:pPr>
            <a:r>
              <a:rPr lang="en-US" sz="1000" dirty="0">
                <a:solidFill>
                  <a:srgbClr val="2D6A4F"/>
                </a:solidFill>
                <a:latin typeface="Calibri" pitchFamily="34" charset="0"/>
                <a:ea typeface="Calibri" pitchFamily="34" charset="-122"/>
                <a:cs typeface="Calibri" pitchFamily="34" charset="-120"/>
              </a:rPr>
              <a:t>✓ Uses global similarity structure, not local change. Captures repeated sections as clusters.</a:t>
            </a:r>
            <a:endParaRPr lang="en-US" sz="1000" dirty="0"/>
          </a:p>
        </p:txBody>
      </p:sp>
      <p:sp>
        <p:nvSpPr>
          <p:cNvPr id="41" name="Text 39"/>
          <p:cNvSpPr/>
          <p:nvPr/>
        </p:nvSpPr>
        <p:spPr>
          <a:xfrm>
            <a:off x="8339328" y="4773168"/>
            <a:ext cx="3483864" cy="685800"/>
          </a:xfrm>
          <a:prstGeom prst="rect">
            <a:avLst/>
          </a:prstGeom>
          <a:noFill/>
          <a:ln/>
        </p:spPr>
        <p:txBody>
          <a:bodyPr wrap="square" rtlCol="0" anchor="t"/>
          <a:lstStyle/>
          <a:p>
            <a:pPr indent="0" marL="0">
              <a:buNone/>
            </a:pPr>
            <a:r>
              <a:rPr lang="en-US" sz="1000" dirty="0">
                <a:solidFill>
                  <a:srgbClr val="B45309"/>
                </a:solidFill>
                <a:latin typeface="Calibri" pitchFamily="34" charset="0"/>
                <a:ea typeface="Calibri" pitchFamily="34" charset="-122"/>
                <a:cs typeface="Calibri" pitchFamily="34" charset="-120"/>
              </a:rPr>
              <a:t>⚠ Cluster count parameter determines segment granularity.</a:t>
            </a:r>
            <a:endParaRPr lang="en-US" sz="1000" dirty="0"/>
          </a:p>
        </p:txBody>
      </p:sp>
      <p:sp>
        <p:nvSpPr>
          <p:cNvPr id="42" name="Shape 40"/>
          <p:cNvSpPr/>
          <p:nvPr/>
        </p:nvSpPr>
        <p:spPr>
          <a:xfrm>
            <a:off x="8339328" y="5504688"/>
            <a:ext cx="3483864" cy="347472"/>
          </a:xfrm>
          <a:prstGeom prst="roundRect">
            <a:avLst/>
          </a:prstGeom>
          <a:solidFill>
            <a:srgbClr val="2D6A4F"/>
          </a:solidFill>
          <a:ln w="12700">
            <a:solidFill>
              <a:srgbClr val="2D6A4F"/>
            </a:solidFill>
            <a:prstDash val="solid"/>
          </a:ln>
        </p:spPr>
      </p:sp>
      <p:sp>
        <p:nvSpPr>
          <p:cNvPr id="43" name="Text 41"/>
          <p:cNvSpPr/>
          <p:nvPr/>
        </p:nvSpPr>
        <p:spPr>
          <a:xfrm>
            <a:off x="8339328" y="5504688"/>
            <a:ext cx="3483864" cy="347472"/>
          </a:xfrm>
          <a:prstGeom prst="rect">
            <a:avLst/>
          </a:prstGeom>
          <a:noFill/>
          <a:ln/>
        </p:spPr>
        <p:txBody>
          <a:bodyPr wrap="square" lIns="0" tIns="0" rIns="0" bIns="0" rtlCol="0" anchor="ctr"/>
          <a:lstStyle/>
          <a:p>
            <a:pPr algn="ctr" indent="0" marL="0">
              <a:buNone/>
            </a:pPr>
            <a:r>
              <a:rPr lang="en-US" sz="900" b="1" dirty="0">
                <a:solidFill>
                  <a:srgbClr val="FFFFFF"/>
                </a:solidFill>
              </a:rPr>
              <a:t>Weight: 0.30 — global structure; second-highest weight after custom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Feature-Level Fusion — Why This Scoring Formula?</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We reward agreement between independent sources</a:t>
            </a:r>
            <a:endParaRPr lang="en-US" sz="1300" dirty="0"/>
          </a:p>
        </p:txBody>
      </p:sp>
      <p:sp>
        <p:nvSpPr>
          <p:cNvPr id="6" name="Shape 4"/>
          <p:cNvSpPr/>
          <p:nvPr/>
        </p:nvSpPr>
        <p:spPr>
          <a:xfrm>
            <a:off x="9601200" y="6400800"/>
            <a:ext cx="2377440" cy="310896"/>
          </a:xfrm>
          <a:prstGeom prst="roundRect">
            <a:avLst/>
          </a:prstGeom>
          <a:solidFill>
            <a:srgbClr val="0D9488"/>
          </a:solidFill>
          <a:ln w="12700">
            <a:solidFill>
              <a:srgbClr val="0D9488"/>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12/21</a:t>
            </a:r>
            <a:endParaRPr lang="en-US" sz="800" dirty="0"/>
          </a:p>
        </p:txBody>
      </p:sp>
      <p:sp>
        <p:nvSpPr>
          <p:cNvPr id="9" name="Shape 7"/>
          <p:cNvSpPr/>
          <p:nvPr/>
        </p:nvSpPr>
        <p:spPr>
          <a:xfrm>
            <a:off x="274320" y="1298448"/>
            <a:ext cx="11612880" cy="621792"/>
          </a:xfrm>
          <a:prstGeom prst="roundRect">
            <a:avLst/>
          </a:prstGeom>
          <a:solidFill>
            <a:srgbClr val="FFF8F0"/>
          </a:solidFill>
          <a:ln w="12700">
            <a:solidFill>
              <a:srgbClr val="B45309"/>
            </a:solidFill>
            <a:prstDash val="solid"/>
          </a:ln>
        </p:spPr>
      </p:sp>
      <p:sp>
        <p:nvSpPr>
          <p:cNvPr id="10" name="Text 8"/>
          <p:cNvSpPr/>
          <p:nvPr/>
        </p:nvSpPr>
        <p:spPr>
          <a:xfrm>
            <a:off x="457200" y="1298448"/>
            <a:ext cx="11247120" cy="621792"/>
          </a:xfrm>
          <a:prstGeom prst="rect">
            <a:avLst/>
          </a:prstGeom>
          <a:noFill/>
          <a:ln/>
        </p:spPr>
        <p:txBody>
          <a:bodyPr wrap="square" rtlCol="0" anchor="ctr"/>
          <a:lstStyle/>
          <a:p>
            <a:pPr algn="l" indent="0" marL="0">
              <a:buNone/>
            </a:pPr>
            <a:r>
              <a:rPr lang="en-US" sz="1200" dirty="0">
                <a:solidFill>
                  <a:srgbClr val="B45309"/>
                </a:solidFill>
                <a:latin typeface="Calibri" pitchFamily="34" charset="0"/>
                <a:ea typeface="Calibri" pitchFamily="34" charset="-122"/>
                <a:cs typeface="Calibri" pitchFamily="34" charset="-120"/>
              </a:rPr>
              <a:t>Challenge: 6 signals each produce multiple candidate boundaries, offset by tens of milliseconds from each other. Which one is real?  —  Confidence grows with the number of independent sources agreeing.</a:t>
            </a:r>
            <a:endParaRPr lang="en-US" sz="1200" dirty="0"/>
          </a:p>
        </p:txBody>
      </p:sp>
      <p:sp>
        <p:nvSpPr>
          <p:cNvPr id="11" name="Shape 9"/>
          <p:cNvSpPr/>
          <p:nvPr/>
        </p:nvSpPr>
        <p:spPr>
          <a:xfrm>
            <a:off x="274320" y="2103120"/>
            <a:ext cx="5577840" cy="2011680"/>
          </a:xfrm>
          <a:prstGeom prst="rect">
            <a:avLst/>
          </a:prstGeom>
          <a:solidFill>
            <a:srgbClr val="FFFFFF"/>
          </a:solidFill>
          <a:ln w="12700">
            <a:solidFill>
              <a:srgbClr val="E2E8F0"/>
            </a:solidFill>
            <a:prstDash val="solid"/>
          </a:ln>
        </p:spPr>
      </p:sp>
      <p:sp>
        <p:nvSpPr>
          <p:cNvPr id="12" name="Shape 10"/>
          <p:cNvSpPr/>
          <p:nvPr/>
        </p:nvSpPr>
        <p:spPr>
          <a:xfrm>
            <a:off x="274320" y="2103120"/>
            <a:ext cx="64008" cy="2011680"/>
          </a:xfrm>
          <a:prstGeom prst="rect">
            <a:avLst/>
          </a:prstGeom>
          <a:solidFill>
            <a:srgbClr val="B87333"/>
          </a:solidFill>
          <a:ln w="12700">
            <a:solidFill>
              <a:srgbClr val="B87333"/>
            </a:solidFill>
            <a:prstDash val="solid"/>
          </a:ln>
        </p:spPr>
      </p:sp>
      <p:sp>
        <p:nvSpPr>
          <p:cNvPr id="13" name="Text 11"/>
          <p:cNvSpPr/>
          <p:nvPr/>
        </p:nvSpPr>
        <p:spPr>
          <a:xfrm>
            <a:off x="457200" y="2194560"/>
            <a:ext cx="5303520" cy="411480"/>
          </a:xfrm>
          <a:prstGeom prst="rect">
            <a:avLst/>
          </a:prstGeom>
          <a:noFill/>
          <a:ln/>
        </p:spPr>
        <p:txBody>
          <a:bodyPr wrap="square" lIns="0" tIns="0" rIns="0" bIns="0" rtlCol="0" anchor="ctr"/>
          <a:lstStyle/>
          <a:p>
            <a:pPr algn="l" indent="0" marL="0">
              <a:buNone/>
            </a:pPr>
            <a:r>
              <a:rPr lang="en-US" sz="1300" b="1" dirty="0">
                <a:solidFill>
                  <a:srgbClr val="B87333"/>
                </a:solidFill>
                <a:latin typeface="Georgia" pitchFamily="34" charset="0"/>
                <a:ea typeface="Georgia" pitchFamily="34" charset="-122"/>
                <a:cs typeface="Georgia" pitchFamily="34" charset="-120"/>
              </a:rPr>
              <a:t>Why temporal grouping?</a:t>
            </a:r>
            <a:endParaRPr lang="en-US" sz="1300" dirty="0"/>
          </a:p>
        </p:txBody>
      </p:sp>
      <p:sp>
        <p:nvSpPr>
          <p:cNvPr id="14" name="Text 12"/>
          <p:cNvSpPr/>
          <p:nvPr/>
        </p:nvSpPr>
        <p:spPr>
          <a:xfrm>
            <a:off x="457200" y="2651760"/>
            <a:ext cx="5303520" cy="137160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SSM says 30.8 s, RMS says 31.5 s — both detected the same transition, just in different frames. Candidates within 2.75 s are treated as one group.</a:t>
            </a:r>
            <a:endParaRPr lang="en-US" sz="1200" dirty="0"/>
          </a:p>
        </p:txBody>
      </p:sp>
      <p:sp>
        <p:nvSpPr>
          <p:cNvPr id="15" name="Shape 13"/>
          <p:cNvSpPr/>
          <p:nvPr/>
        </p:nvSpPr>
        <p:spPr>
          <a:xfrm>
            <a:off x="6263640" y="2103120"/>
            <a:ext cx="5577840" cy="2011680"/>
          </a:xfrm>
          <a:prstGeom prst="rect">
            <a:avLst/>
          </a:prstGeom>
          <a:solidFill>
            <a:srgbClr val="FFFFFF"/>
          </a:solidFill>
          <a:ln w="12700">
            <a:solidFill>
              <a:srgbClr val="E2E8F0"/>
            </a:solidFill>
            <a:prstDash val="solid"/>
          </a:ln>
        </p:spPr>
      </p:sp>
      <p:sp>
        <p:nvSpPr>
          <p:cNvPr id="16" name="Shape 14"/>
          <p:cNvSpPr/>
          <p:nvPr/>
        </p:nvSpPr>
        <p:spPr>
          <a:xfrm>
            <a:off x="6263640" y="2103120"/>
            <a:ext cx="64008" cy="2011680"/>
          </a:xfrm>
          <a:prstGeom prst="rect">
            <a:avLst/>
          </a:prstGeom>
          <a:solidFill>
            <a:srgbClr val="0D9488"/>
          </a:solidFill>
          <a:ln w="12700">
            <a:solidFill>
              <a:srgbClr val="0D9488"/>
            </a:solidFill>
            <a:prstDash val="solid"/>
          </a:ln>
        </p:spPr>
      </p:sp>
      <p:sp>
        <p:nvSpPr>
          <p:cNvPr id="17" name="Text 15"/>
          <p:cNvSpPr/>
          <p:nvPr/>
        </p:nvSpPr>
        <p:spPr>
          <a:xfrm>
            <a:off x="6446520" y="2194560"/>
            <a:ext cx="5303520" cy="411480"/>
          </a:xfrm>
          <a:prstGeom prst="rect">
            <a:avLst/>
          </a:prstGeom>
          <a:noFill/>
          <a:ln/>
        </p:spPr>
        <p:txBody>
          <a:bodyPr wrap="square" lIns="0" tIns="0" rIns="0" bIns="0" rtlCol="0" anchor="ctr"/>
          <a:lstStyle/>
          <a:p>
            <a:pPr algn="l" indent="0" marL="0">
              <a:buNone/>
            </a:pPr>
            <a:r>
              <a:rPr lang="en-US" sz="1300" b="1" dirty="0">
                <a:solidFill>
                  <a:srgbClr val="0D9488"/>
                </a:solidFill>
                <a:latin typeface="Georgia" pitchFamily="34" charset="0"/>
                <a:ea typeface="Georgia" pitchFamily="34" charset="-122"/>
                <a:cs typeface="Georgia" pitchFamily="34" charset="-120"/>
              </a:rPr>
              <a:t>Why only one vote per source?</a:t>
            </a:r>
            <a:endParaRPr lang="en-US" sz="1300" dirty="0"/>
          </a:p>
        </p:txBody>
      </p:sp>
      <p:sp>
        <p:nvSpPr>
          <p:cNvPr id="18" name="Text 16"/>
          <p:cNvSpPr/>
          <p:nvPr/>
        </p:nvSpPr>
        <p:spPr>
          <a:xfrm>
            <a:off x="6446520" y="2651760"/>
            <a:ext cx="5303520" cy="137160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A noisy SSM can produce 10 peaks in the same region. Only the highest-confidence candidate from each source counts. This prevents a single feature from dominating the vote.</a:t>
            </a:r>
            <a:endParaRPr lang="en-US" sz="1200" dirty="0"/>
          </a:p>
        </p:txBody>
      </p:sp>
      <p:sp>
        <p:nvSpPr>
          <p:cNvPr id="19" name="Shape 17"/>
          <p:cNvSpPr/>
          <p:nvPr/>
        </p:nvSpPr>
        <p:spPr>
          <a:xfrm>
            <a:off x="274320" y="4251960"/>
            <a:ext cx="5577840" cy="2011680"/>
          </a:xfrm>
          <a:prstGeom prst="rect">
            <a:avLst/>
          </a:prstGeom>
          <a:solidFill>
            <a:srgbClr val="FFFFFF"/>
          </a:solidFill>
          <a:ln w="12700">
            <a:solidFill>
              <a:srgbClr val="E2E8F0"/>
            </a:solidFill>
            <a:prstDash val="solid"/>
          </a:ln>
        </p:spPr>
      </p:sp>
      <p:sp>
        <p:nvSpPr>
          <p:cNvPr id="20" name="Shape 18"/>
          <p:cNvSpPr/>
          <p:nvPr/>
        </p:nvSpPr>
        <p:spPr>
          <a:xfrm>
            <a:off x="274320" y="4251960"/>
            <a:ext cx="64008" cy="2011680"/>
          </a:xfrm>
          <a:prstGeom prst="rect">
            <a:avLst/>
          </a:prstGeom>
          <a:solidFill>
            <a:srgbClr val="2D6A4F"/>
          </a:solidFill>
          <a:ln w="12700">
            <a:solidFill>
              <a:srgbClr val="2D6A4F"/>
            </a:solidFill>
            <a:prstDash val="solid"/>
          </a:ln>
        </p:spPr>
      </p:sp>
      <p:sp>
        <p:nvSpPr>
          <p:cNvPr id="21" name="Text 19"/>
          <p:cNvSpPr/>
          <p:nvPr/>
        </p:nvSpPr>
        <p:spPr>
          <a:xfrm>
            <a:off x="457200" y="4343400"/>
            <a:ext cx="5303520" cy="411480"/>
          </a:xfrm>
          <a:prstGeom prst="rect">
            <a:avLst/>
          </a:prstGeom>
          <a:noFill/>
          <a:ln/>
        </p:spPr>
        <p:txBody>
          <a:bodyPr wrap="square" lIns="0" tIns="0" rIns="0" bIns="0" rtlCol="0" anchor="ctr"/>
          <a:lstStyle/>
          <a:p>
            <a:pPr algn="l" indent="0" marL="0">
              <a:buNone/>
            </a:pPr>
            <a:r>
              <a:rPr lang="en-US" sz="1300" b="1" dirty="0">
                <a:solidFill>
                  <a:srgbClr val="2D6A4F"/>
                </a:solidFill>
                <a:latin typeface="Georgia" pitchFamily="34" charset="0"/>
                <a:ea typeface="Georgia" pitchFamily="34" charset="-122"/>
                <a:cs typeface="Georgia" pitchFamily="34" charset="-120"/>
              </a:rPr>
              <a:t>Why add an agreement bonus?</a:t>
            </a:r>
            <a:endParaRPr lang="en-US" sz="1300" dirty="0"/>
          </a:p>
        </p:txBody>
      </p:sp>
      <p:sp>
        <p:nvSpPr>
          <p:cNvPr id="22" name="Text 20"/>
          <p:cNvSpPr/>
          <p:nvPr/>
        </p:nvSpPr>
        <p:spPr>
          <a:xfrm>
            <a:off x="457200" y="4800600"/>
            <a:ext cx="5303520" cy="137160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A lone SSM vote gives score = 0.42 × conf. But if 3 independent signals point to the same region, we add a bonus (up to 0.15). Consensus earns extra trust.</a:t>
            </a:r>
            <a:endParaRPr lang="en-US" sz="1200" dirty="0"/>
          </a:p>
        </p:txBody>
      </p:sp>
      <p:sp>
        <p:nvSpPr>
          <p:cNvPr id="23" name="Shape 21"/>
          <p:cNvSpPr/>
          <p:nvPr/>
        </p:nvSpPr>
        <p:spPr>
          <a:xfrm>
            <a:off x="6263640" y="4251960"/>
            <a:ext cx="5577840" cy="2011680"/>
          </a:xfrm>
          <a:prstGeom prst="rect">
            <a:avLst/>
          </a:prstGeom>
          <a:solidFill>
            <a:srgbClr val="FFFFFF"/>
          </a:solidFill>
          <a:ln w="12700">
            <a:solidFill>
              <a:srgbClr val="E2E8F0"/>
            </a:solidFill>
            <a:prstDash val="solid"/>
          </a:ln>
        </p:spPr>
      </p:sp>
      <p:sp>
        <p:nvSpPr>
          <p:cNvPr id="24" name="Shape 22"/>
          <p:cNvSpPr/>
          <p:nvPr/>
        </p:nvSpPr>
        <p:spPr>
          <a:xfrm>
            <a:off x="6263640" y="4251960"/>
            <a:ext cx="64008" cy="2011680"/>
          </a:xfrm>
          <a:prstGeom prst="rect">
            <a:avLst/>
          </a:prstGeom>
          <a:solidFill>
            <a:srgbClr val="B45309"/>
          </a:solidFill>
          <a:ln w="12700">
            <a:solidFill>
              <a:srgbClr val="B45309"/>
            </a:solidFill>
            <a:prstDash val="solid"/>
          </a:ln>
        </p:spPr>
      </p:sp>
      <p:sp>
        <p:nvSpPr>
          <p:cNvPr id="25" name="Text 23"/>
          <p:cNvSpPr/>
          <p:nvPr/>
        </p:nvSpPr>
        <p:spPr>
          <a:xfrm>
            <a:off x="6446520" y="4343400"/>
            <a:ext cx="5303520" cy="411480"/>
          </a:xfrm>
          <a:prstGeom prst="rect">
            <a:avLst/>
          </a:prstGeom>
          <a:noFill/>
          <a:ln/>
        </p:spPr>
        <p:txBody>
          <a:bodyPr wrap="square" lIns="0" tIns="0" rIns="0" bIns="0" rtlCol="0" anchor="ctr"/>
          <a:lstStyle/>
          <a:p>
            <a:pPr algn="l" indent="0" marL="0">
              <a:buNone/>
            </a:pPr>
            <a:r>
              <a:rPr lang="en-US" sz="1300" b="1" dirty="0">
                <a:solidFill>
                  <a:srgbClr val="B45309"/>
                </a:solidFill>
                <a:latin typeface="Georgia" pitchFamily="34" charset="0"/>
                <a:ea typeface="Georgia" pitchFamily="34" charset="-122"/>
                <a:cs typeface="Georgia" pitchFamily="34" charset="-120"/>
              </a:rPr>
              <a:t>Why can SSM pass acceptance alone?</a:t>
            </a:r>
            <a:endParaRPr lang="en-US" sz="1300" dirty="0"/>
          </a:p>
        </p:txBody>
      </p:sp>
      <p:sp>
        <p:nvSpPr>
          <p:cNvPr id="26" name="Text 24"/>
          <p:cNvSpPr/>
          <p:nvPr/>
        </p:nvSpPr>
        <p:spPr>
          <a:xfrm>
            <a:off x="6446520" y="4800600"/>
            <a:ext cx="5303520" cy="137160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SSM is the only signal carrying structural repetition information. Even if other signals are weak, a strong SSM candidate (conf ≥ 0.5) is kept. Without this rule, real section boundaries would be missed.</a:t>
            </a:r>
            <a:endParaRPr lang="en-US" sz="1200" dirty="0"/>
          </a:p>
        </p:txBody>
      </p:sp>
      <p:sp>
        <p:nvSpPr>
          <p:cNvPr id="27" name="Shape 25"/>
          <p:cNvSpPr/>
          <p:nvPr/>
        </p:nvSpPr>
        <p:spPr>
          <a:xfrm>
            <a:off x="274320" y="6446520"/>
            <a:ext cx="11612880" cy="384048"/>
          </a:xfrm>
          <a:prstGeom prst="rect">
            <a:avLst/>
          </a:prstGeom>
          <a:solidFill>
            <a:srgbClr val="243556"/>
          </a:solidFill>
          <a:ln w="12700">
            <a:solidFill>
              <a:srgbClr val="243556"/>
            </a:solidFill>
            <a:prstDash val="solid"/>
          </a:ln>
        </p:spPr>
      </p:sp>
      <p:sp>
        <p:nvSpPr>
          <p:cNvPr id="28" name="Text 26"/>
          <p:cNvSpPr/>
          <p:nvPr/>
        </p:nvSpPr>
        <p:spPr>
          <a:xfrm>
            <a:off x="457200" y="6446520"/>
            <a:ext cx="11247120" cy="384048"/>
          </a:xfrm>
          <a:prstGeom prst="rect">
            <a:avLst/>
          </a:prstGeom>
          <a:noFill/>
          <a:ln/>
        </p:spPr>
        <p:txBody>
          <a:bodyPr wrap="square" rtlCol="0" anchor="ctr"/>
          <a:lstStyle/>
          <a:p>
            <a:pPr algn="ctr" indent="0" marL="0">
              <a:buNone/>
            </a:pPr>
            <a:r>
              <a:rPr lang="en-US" sz="1050" b="1" dirty="0">
                <a:solidFill>
                  <a:srgbClr val="D4944A"/>
                </a:solidFill>
                <a:latin typeface="Calibri" pitchFamily="34" charset="0"/>
                <a:ea typeface="Calibri" pitchFamily="34" charset="-122"/>
                <a:cs typeface="Calibri" pitchFamily="34" charset="-120"/>
              </a:rPr>
              <a:t>score = Σ(source_weight × candidate_confidence)  +  min(0.15, 0.035 × (source_count − 1))     accept: score ≥ 0.30  OR  strong SSM</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Two Levels of Fusion?</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Feature fusion is not enough — why algorithm-level fusion is necessary</a:t>
            </a:r>
            <a:endParaRPr lang="en-US" sz="1300" dirty="0"/>
          </a:p>
        </p:txBody>
      </p:sp>
      <p:sp>
        <p:nvSpPr>
          <p:cNvPr id="6" name="Shape 4"/>
          <p:cNvSpPr/>
          <p:nvPr/>
        </p:nvSpPr>
        <p:spPr>
          <a:xfrm>
            <a:off x="9601200" y="6400800"/>
            <a:ext cx="2377440" cy="310896"/>
          </a:xfrm>
          <a:prstGeom prst="roundRect">
            <a:avLst/>
          </a:prstGeom>
          <a:solidFill>
            <a:srgbClr val="0D9488"/>
          </a:solidFill>
          <a:ln w="12700">
            <a:solidFill>
              <a:srgbClr val="0D9488"/>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13/21</a:t>
            </a:r>
            <a:endParaRPr lang="en-US" sz="800" dirty="0"/>
          </a:p>
        </p:txBody>
      </p:sp>
      <p:sp>
        <p:nvSpPr>
          <p:cNvPr id="9" name="Shape 7"/>
          <p:cNvSpPr/>
          <p:nvPr/>
        </p:nvSpPr>
        <p:spPr>
          <a:xfrm>
            <a:off x="274320" y="1298448"/>
            <a:ext cx="11612880" cy="658368"/>
          </a:xfrm>
          <a:prstGeom prst="roundRect">
            <a:avLst/>
          </a:prstGeom>
          <a:solidFill>
            <a:srgbClr val="F0FDF4"/>
          </a:solidFill>
          <a:ln w="12700">
            <a:solidFill>
              <a:srgbClr val="2D6A4F"/>
            </a:solidFill>
            <a:prstDash val="solid"/>
          </a:ln>
        </p:spPr>
      </p:sp>
      <p:sp>
        <p:nvSpPr>
          <p:cNvPr id="10" name="Text 8"/>
          <p:cNvSpPr/>
          <p:nvPr/>
        </p:nvSpPr>
        <p:spPr>
          <a:xfrm>
            <a:off x="457200" y="1298448"/>
            <a:ext cx="11247120" cy="658368"/>
          </a:xfrm>
          <a:prstGeom prst="rect">
            <a:avLst/>
          </a:prstGeom>
          <a:noFill/>
          <a:ln/>
        </p:spPr>
        <p:txBody>
          <a:bodyPr wrap="square" rtlCol="0" anchor="ctr"/>
          <a:lstStyle/>
          <a:p>
            <a:pPr algn="l" indent="0" marL="0">
              <a:buNone/>
            </a:pPr>
            <a:r>
              <a:rPr lang="en-US" sz="1200" dirty="0">
                <a:solidFill>
                  <a:srgbClr val="2D6A4F"/>
                </a:solidFill>
                <a:latin typeface="Calibri" pitchFamily="34" charset="0"/>
                <a:ea typeface="Calibri" pitchFamily="34" charset="-122"/>
                <a:cs typeface="Calibri" pitchFamily="34" charset="-120"/>
              </a:rPr>
              <a:t>Feature-level fusion lives inside a single algorithm. custom_librosa's output already combines 6 signals. But custom_librosa itself can still make mistakes. The second fusion level balances the errors of different algorithms.</a:t>
            </a:r>
            <a:endParaRPr lang="en-US" sz="1200" dirty="0"/>
          </a:p>
        </p:txBody>
      </p:sp>
      <p:sp>
        <p:nvSpPr>
          <p:cNvPr id="11" name="Text 9"/>
          <p:cNvSpPr/>
          <p:nvPr/>
        </p:nvSpPr>
        <p:spPr>
          <a:xfrm>
            <a:off x="274320" y="2121408"/>
            <a:ext cx="11612880" cy="32004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Level 1 — Feature Fusion (inside custom_librosa):</a:t>
            </a:r>
            <a:endParaRPr lang="en-US" sz="1300" dirty="0"/>
          </a:p>
        </p:txBody>
      </p:sp>
      <p:sp>
        <p:nvSpPr>
          <p:cNvPr id="12" name="Shape 10"/>
          <p:cNvSpPr/>
          <p:nvPr/>
        </p:nvSpPr>
        <p:spPr>
          <a:xfrm>
            <a:off x="457200" y="2496312"/>
            <a:ext cx="1645920" cy="777240"/>
          </a:xfrm>
          <a:prstGeom prst="roundRect">
            <a:avLst/>
          </a:prstGeom>
          <a:solidFill>
            <a:srgbClr val="B87333"/>
          </a:solidFill>
          <a:ln w="12700">
            <a:solidFill>
              <a:srgbClr val="B87333"/>
            </a:solidFill>
            <a:prstDash val="solid"/>
          </a:ln>
        </p:spPr>
      </p:sp>
      <p:sp>
        <p:nvSpPr>
          <p:cNvPr id="13" name="Text 11"/>
          <p:cNvSpPr/>
          <p:nvPr/>
        </p:nvSpPr>
        <p:spPr>
          <a:xfrm>
            <a:off x="457200" y="2496312"/>
            <a:ext cx="16459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RMS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14" name="Text 12"/>
          <p:cNvSpPr/>
          <p:nvPr/>
        </p:nvSpPr>
        <p:spPr>
          <a:xfrm>
            <a:off x="2103120" y="27477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15" name="Shape 13"/>
          <p:cNvSpPr/>
          <p:nvPr/>
        </p:nvSpPr>
        <p:spPr>
          <a:xfrm>
            <a:off x="2304288" y="2496312"/>
            <a:ext cx="1645920" cy="777240"/>
          </a:xfrm>
          <a:prstGeom prst="roundRect">
            <a:avLst/>
          </a:prstGeom>
          <a:solidFill>
            <a:srgbClr val="0D9488"/>
          </a:solidFill>
          <a:ln w="12700">
            <a:solidFill>
              <a:srgbClr val="0D9488"/>
            </a:solidFill>
            <a:prstDash val="solid"/>
          </a:ln>
        </p:spPr>
      </p:sp>
      <p:sp>
        <p:nvSpPr>
          <p:cNvPr id="16" name="Text 14"/>
          <p:cNvSpPr/>
          <p:nvPr/>
        </p:nvSpPr>
        <p:spPr>
          <a:xfrm>
            <a:off x="2304288" y="2496312"/>
            <a:ext cx="16459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Chroma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17" name="Text 15"/>
          <p:cNvSpPr/>
          <p:nvPr/>
        </p:nvSpPr>
        <p:spPr>
          <a:xfrm>
            <a:off x="3950208" y="27477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18" name="Shape 16"/>
          <p:cNvSpPr/>
          <p:nvPr/>
        </p:nvSpPr>
        <p:spPr>
          <a:xfrm>
            <a:off x="4151376" y="2496312"/>
            <a:ext cx="1645920" cy="777240"/>
          </a:xfrm>
          <a:prstGeom prst="roundRect">
            <a:avLst/>
          </a:prstGeom>
          <a:solidFill>
            <a:srgbClr val="2D6A4F"/>
          </a:solidFill>
          <a:ln w="12700">
            <a:solidFill>
              <a:srgbClr val="2D6A4F"/>
            </a:solidFill>
            <a:prstDash val="solid"/>
          </a:ln>
        </p:spPr>
      </p:sp>
      <p:sp>
        <p:nvSpPr>
          <p:cNvPr id="19" name="Text 17"/>
          <p:cNvSpPr/>
          <p:nvPr/>
        </p:nvSpPr>
        <p:spPr>
          <a:xfrm>
            <a:off x="4151376" y="2496312"/>
            <a:ext cx="16459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Onset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20" name="Text 18"/>
          <p:cNvSpPr/>
          <p:nvPr/>
        </p:nvSpPr>
        <p:spPr>
          <a:xfrm>
            <a:off x="5797296" y="27477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21" name="Shape 19"/>
          <p:cNvSpPr/>
          <p:nvPr/>
        </p:nvSpPr>
        <p:spPr>
          <a:xfrm>
            <a:off x="5998464" y="2496312"/>
            <a:ext cx="1645920" cy="777240"/>
          </a:xfrm>
          <a:prstGeom prst="roundRect">
            <a:avLst/>
          </a:prstGeom>
          <a:solidFill>
            <a:srgbClr val="B45309"/>
          </a:solidFill>
          <a:ln w="12700">
            <a:solidFill>
              <a:srgbClr val="B45309"/>
            </a:solidFill>
            <a:prstDash val="solid"/>
          </a:ln>
        </p:spPr>
      </p:sp>
      <p:sp>
        <p:nvSpPr>
          <p:cNvPr id="22" name="Text 20"/>
          <p:cNvSpPr/>
          <p:nvPr/>
        </p:nvSpPr>
        <p:spPr>
          <a:xfrm>
            <a:off x="5998464" y="2496312"/>
            <a:ext cx="16459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SSM</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23" name="Text 21"/>
          <p:cNvSpPr/>
          <p:nvPr/>
        </p:nvSpPr>
        <p:spPr>
          <a:xfrm>
            <a:off x="7644384" y="27477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24" name="Shape 22"/>
          <p:cNvSpPr/>
          <p:nvPr/>
        </p:nvSpPr>
        <p:spPr>
          <a:xfrm>
            <a:off x="7845552" y="2496312"/>
            <a:ext cx="1645920" cy="777240"/>
          </a:xfrm>
          <a:prstGeom prst="roundRect">
            <a:avLst/>
          </a:prstGeom>
          <a:solidFill>
            <a:srgbClr val="6D28D9"/>
          </a:solidFill>
          <a:ln w="12700">
            <a:solidFill>
              <a:srgbClr val="6D28D9"/>
            </a:solidFill>
            <a:prstDash val="solid"/>
          </a:ln>
        </p:spPr>
      </p:sp>
      <p:sp>
        <p:nvSpPr>
          <p:cNvPr id="25" name="Text 23"/>
          <p:cNvSpPr/>
          <p:nvPr/>
        </p:nvSpPr>
        <p:spPr>
          <a:xfrm>
            <a:off x="7845552" y="2496312"/>
            <a:ext cx="16459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signal</a:t>
            </a:r>
            <a:endParaRPr lang="en-US" sz="1000" dirty="0"/>
          </a:p>
        </p:txBody>
      </p:sp>
      <p:sp>
        <p:nvSpPr>
          <p:cNvPr id="26" name="Text 24"/>
          <p:cNvSpPr/>
          <p:nvPr/>
        </p:nvSpPr>
        <p:spPr>
          <a:xfrm>
            <a:off x="9326880" y="2633472"/>
            <a:ext cx="274320" cy="457200"/>
          </a:xfrm>
          <a:prstGeom prst="rect">
            <a:avLst/>
          </a:prstGeom>
          <a:noFill/>
          <a:ln/>
        </p:spPr>
        <p:txBody>
          <a:bodyPr wrap="square" rtlCol="0" anchor="ctr"/>
          <a:lstStyle/>
          <a:p>
            <a:pPr algn="ctr" indent="0" marL="0">
              <a:buNone/>
            </a:pPr>
            <a:r>
              <a:rPr lang="en-US" sz="1800" b="1" dirty="0">
                <a:solidFill>
                  <a:srgbClr val="B87333"/>
                </a:solidFill>
              </a:rPr>
              <a:t>→</a:t>
            </a:r>
            <a:endParaRPr lang="en-US" sz="1800" dirty="0"/>
          </a:p>
        </p:txBody>
      </p:sp>
      <p:sp>
        <p:nvSpPr>
          <p:cNvPr id="27" name="Shape 25"/>
          <p:cNvSpPr/>
          <p:nvPr/>
        </p:nvSpPr>
        <p:spPr>
          <a:xfrm>
            <a:off x="9646920" y="2496312"/>
            <a:ext cx="2286000" cy="777240"/>
          </a:xfrm>
          <a:prstGeom prst="roundRect">
            <a:avLst/>
          </a:prstGeom>
          <a:solidFill>
            <a:srgbClr val="B87333"/>
          </a:solidFill>
          <a:ln w="12700">
            <a:solidFill>
              <a:srgbClr val="B87333"/>
            </a:solidFill>
            <a:prstDash val="solid"/>
          </a:ln>
        </p:spPr>
      </p:sp>
      <p:sp>
        <p:nvSpPr>
          <p:cNvPr id="28" name="Text 26"/>
          <p:cNvSpPr/>
          <p:nvPr/>
        </p:nvSpPr>
        <p:spPr>
          <a:xfrm>
            <a:off x="9646920" y="2496312"/>
            <a:ext cx="2286000" cy="777240"/>
          </a:xfrm>
          <a:prstGeom prst="rect">
            <a:avLst/>
          </a:prstGeom>
          <a:noFill/>
          <a:ln/>
        </p:spPr>
        <p:txBody>
          <a:bodyPr wrap="square" rtlCol="0" anchor="ctr"/>
          <a:lstStyle/>
          <a:p>
            <a:pPr algn="ctr" indent="0" marL="0">
              <a:buNone/>
            </a:pPr>
            <a:r>
              <a:rPr lang="en-US" sz="1100" b="1" dirty="0">
                <a:solidFill>
                  <a:srgbClr val="FFFFFF"/>
                </a:solidFill>
              </a:rPr>
              <a:t>custom_librosa</a:t>
            </a:r>
            <a:endParaRPr lang="en-US" sz="1100" dirty="0"/>
          </a:p>
          <a:p>
            <a:pPr algn="ctr" indent="0" marL="0">
              <a:buNone/>
            </a:pPr>
            <a:r>
              <a:rPr lang="en-US" sz="1100" b="1" dirty="0">
                <a:solidFill>
                  <a:srgbClr val="FFFFFF"/>
                </a:solidFill>
              </a:rPr>
              <a:t>result</a:t>
            </a:r>
            <a:endParaRPr lang="en-US" sz="1100" dirty="0"/>
          </a:p>
        </p:txBody>
      </p:sp>
      <p:sp>
        <p:nvSpPr>
          <p:cNvPr id="29" name="Shape 27"/>
          <p:cNvSpPr/>
          <p:nvPr/>
        </p:nvSpPr>
        <p:spPr>
          <a:xfrm>
            <a:off x="274320" y="3410712"/>
            <a:ext cx="11612880" cy="9144"/>
          </a:xfrm>
          <a:prstGeom prst="rect">
            <a:avLst/>
          </a:prstGeom>
          <a:solidFill>
            <a:srgbClr val="E2E8F0"/>
          </a:solidFill>
          <a:ln w="12700">
            <a:solidFill>
              <a:srgbClr val="E2E8F0"/>
            </a:solidFill>
            <a:prstDash val="solid"/>
          </a:ln>
        </p:spPr>
      </p:sp>
      <p:sp>
        <p:nvSpPr>
          <p:cNvPr id="30" name="Text 28"/>
          <p:cNvSpPr/>
          <p:nvPr/>
        </p:nvSpPr>
        <p:spPr>
          <a:xfrm>
            <a:off x="274320" y="3493008"/>
            <a:ext cx="11612880" cy="32004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Level 2 — Algorithm Fusion (separate worker):</a:t>
            </a:r>
            <a:endParaRPr lang="en-US" sz="1300" dirty="0"/>
          </a:p>
        </p:txBody>
      </p:sp>
      <p:sp>
        <p:nvSpPr>
          <p:cNvPr id="31" name="Shape 29"/>
          <p:cNvSpPr/>
          <p:nvPr/>
        </p:nvSpPr>
        <p:spPr>
          <a:xfrm>
            <a:off x="457200" y="3867912"/>
            <a:ext cx="2103120" cy="777240"/>
          </a:xfrm>
          <a:prstGeom prst="roundRect">
            <a:avLst/>
          </a:prstGeom>
          <a:solidFill>
            <a:srgbClr val="B87333"/>
          </a:solidFill>
          <a:ln w="12700">
            <a:solidFill>
              <a:srgbClr val="B87333"/>
            </a:solidFill>
            <a:prstDash val="solid"/>
          </a:ln>
        </p:spPr>
      </p:sp>
      <p:sp>
        <p:nvSpPr>
          <p:cNvPr id="32" name="Text 30"/>
          <p:cNvSpPr/>
          <p:nvPr/>
        </p:nvSpPr>
        <p:spPr>
          <a:xfrm>
            <a:off x="457200" y="3867912"/>
            <a:ext cx="2103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custom_librosa</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33" name="Text 31"/>
          <p:cNvSpPr/>
          <p:nvPr/>
        </p:nvSpPr>
        <p:spPr>
          <a:xfrm>
            <a:off x="2560320" y="41193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34" name="Shape 32"/>
          <p:cNvSpPr/>
          <p:nvPr/>
        </p:nvSpPr>
        <p:spPr>
          <a:xfrm>
            <a:off x="2761488" y="3867912"/>
            <a:ext cx="2103120" cy="777240"/>
          </a:xfrm>
          <a:prstGeom prst="roundRect">
            <a:avLst/>
          </a:prstGeom>
          <a:solidFill>
            <a:srgbClr val="5B21B6"/>
          </a:solidFill>
          <a:ln w="12700">
            <a:solidFill>
              <a:srgbClr val="5B21B6"/>
            </a:solidFill>
            <a:prstDash val="solid"/>
          </a:ln>
        </p:spPr>
      </p:sp>
      <p:sp>
        <p:nvSpPr>
          <p:cNvPr id="35" name="Text 33"/>
          <p:cNvSpPr/>
          <p:nvPr/>
        </p:nvSpPr>
        <p:spPr>
          <a:xfrm>
            <a:off x="2761488" y="3867912"/>
            <a:ext cx="2103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Foote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36" name="Text 34"/>
          <p:cNvSpPr/>
          <p:nvPr/>
        </p:nvSpPr>
        <p:spPr>
          <a:xfrm>
            <a:off x="4864608" y="41193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37" name="Shape 35"/>
          <p:cNvSpPr/>
          <p:nvPr/>
        </p:nvSpPr>
        <p:spPr>
          <a:xfrm>
            <a:off x="5065776" y="3867912"/>
            <a:ext cx="2103120" cy="777240"/>
          </a:xfrm>
          <a:prstGeom prst="roundRect">
            <a:avLst/>
          </a:prstGeom>
          <a:solidFill>
            <a:srgbClr val="0D9488"/>
          </a:solidFill>
          <a:ln w="12700">
            <a:solidFill>
              <a:srgbClr val="0D9488"/>
            </a:solidFill>
            <a:prstDash val="solid"/>
          </a:ln>
        </p:spPr>
      </p:sp>
      <p:sp>
        <p:nvSpPr>
          <p:cNvPr id="38" name="Text 36"/>
          <p:cNvSpPr/>
          <p:nvPr/>
        </p:nvSpPr>
        <p:spPr>
          <a:xfrm>
            <a:off x="5065776" y="3867912"/>
            <a:ext cx="2103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CNMF</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39" name="Text 37"/>
          <p:cNvSpPr/>
          <p:nvPr/>
        </p:nvSpPr>
        <p:spPr>
          <a:xfrm>
            <a:off x="7168896" y="4119372"/>
            <a:ext cx="201168" cy="274320"/>
          </a:xfrm>
          <a:prstGeom prst="rect">
            <a:avLst/>
          </a:prstGeom>
          <a:noFill/>
          <a:ln/>
        </p:spPr>
        <p:txBody>
          <a:bodyPr wrap="square" rtlCol="0" anchor="ctr"/>
          <a:lstStyle/>
          <a:p>
            <a:pPr algn="ctr" indent="0" marL="0">
              <a:buNone/>
            </a:pPr>
            <a:r>
              <a:rPr lang="en-US" sz="1300" b="1" dirty="0">
                <a:solidFill>
                  <a:srgbClr val="B87333"/>
                </a:solidFill>
              </a:rPr>
              <a:t>→</a:t>
            </a:r>
            <a:endParaRPr lang="en-US" sz="1300" dirty="0"/>
          </a:p>
        </p:txBody>
      </p:sp>
      <p:sp>
        <p:nvSpPr>
          <p:cNvPr id="40" name="Shape 38"/>
          <p:cNvSpPr/>
          <p:nvPr/>
        </p:nvSpPr>
        <p:spPr>
          <a:xfrm>
            <a:off x="7370064" y="3867912"/>
            <a:ext cx="2103120" cy="777240"/>
          </a:xfrm>
          <a:prstGeom prst="roundRect">
            <a:avLst/>
          </a:prstGeom>
          <a:solidFill>
            <a:srgbClr val="2D6A4F"/>
          </a:solidFill>
          <a:ln w="12700">
            <a:solidFill>
              <a:srgbClr val="2D6A4F"/>
            </a:solidFill>
            <a:prstDash val="solid"/>
          </a:ln>
        </p:spPr>
      </p:sp>
      <p:sp>
        <p:nvSpPr>
          <p:cNvPr id="41" name="Text 39"/>
          <p:cNvSpPr/>
          <p:nvPr/>
        </p:nvSpPr>
        <p:spPr>
          <a:xfrm>
            <a:off x="7370064" y="3867912"/>
            <a:ext cx="2103120" cy="7772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SCluster</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result</a:t>
            </a:r>
            <a:endParaRPr lang="en-US" sz="1000" dirty="0"/>
          </a:p>
        </p:txBody>
      </p:sp>
      <p:sp>
        <p:nvSpPr>
          <p:cNvPr id="42" name="Text 40"/>
          <p:cNvSpPr/>
          <p:nvPr/>
        </p:nvSpPr>
        <p:spPr>
          <a:xfrm>
            <a:off x="9326880" y="4005072"/>
            <a:ext cx="274320" cy="457200"/>
          </a:xfrm>
          <a:prstGeom prst="rect">
            <a:avLst/>
          </a:prstGeom>
          <a:noFill/>
          <a:ln/>
        </p:spPr>
        <p:txBody>
          <a:bodyPr wrap="square" rtlCol="0" anchor="ctr"/>
          <a:lstStyle/>
          <a:p>
            <a:pPr algn="ctr" indent="0" marL="0">
              <a:buNone/>
            </a:pPr>
            <a:r>
              <a:rPr lang="en-US" sz="1800" b="1" dirty="0">
                <a:solidFill>
                  <a:srgbClr val="B87333"/>
                </a:solidFill>
              </a:rPr>
              <a:t>→</a:t>
            </a:r>
            <a:endParaRPr lang="en-US" sz="1800" dirty="0"/>
          </a:p>
        </p:txBody>
      </p:sp>
      <p:sp>
        <p:nvSpPr>
          <p:cNvPr id="43" name="Shape 41"/>
          <p:cNvSpPr/>
          <p:nvPr/>
        </p:nvSpPr>
        <p:spPr>
          <a:xfrm>
            <a:off x="9646920" y="3867912"/>
            <a:ext cx="2286000" cy="777240"/>
          </a:xfrm>
          <a:prstGeom prst="roundRect">
            <a:avLst/>
          </a:prstGeom>
          <a:solidFill>
            <a:srgbClr val="1B2A4A"/>
          </a:solidFill>
          <a:ln w="12700">
            <a:solidFill>
              <a:srgbClr val="1B2A4A"/>
            </a:solidFill>
            <a:prstDash val="solid"/>
          </a:ln>
        </p:spPr>
      </p:sp>
      <p:sp>
        <p:nvSpPr>
          <p:cNvPr id="44" name="Text 42"/>
          <p:cNvSpPr/>
          <p:nvPr/>
        </p:nvSpPr>
        <p:spPr>
          <a:xfrm>
            <a:off x="9646920" y="3867912"/>
            <a:ext cx="2286000" cy="777240"/>
          </a:xfrm>
          <a:prstGeom prst="rect">
            <a:avLst/>
          </a:prstGeom>
          <a:noFill/>
          <a:ln/>
        </p:spPr>
        <p:txBody>
          <a:bodyPr wrap="square" rtlCol="0" anchor="ctr"/>
          <a:lstStyle/>
          <a:p>
            <a:pPr algn="ctr" indent="0" marL="0">
              <a:buNone/>
            </a:pPr>
            <a:r>
              <a:rPr lang="en-US" sz="1100" b="1" dirty="0">
                <a:solidFill>
                  <a:srgbClr val="FFFFFF"/>
                </a:solidFill>
              </a:rPr>
              <a:t>FUSION</a:t>
            </a:r>
            <a:endParaRPr lang="en-US" sz="1100" dirty="0"/>
          </a:p>
          <a:p>
            <a:pPr algn="ctr" indent="0" marL="0">
              <a:buNone/>
            </a:pPr>
            <a:r>
              <a:rPr lang="en-US" sz="1100" b="1" dirty="0">
                <a:solidFill>
                  <a:srgbClr val="FFFFFF"/>
                </a:solidFill>
              </a:rPr>
              <a:t>result</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274320" y="4828032"/>
          <a:ext cx="11612880" cy="1874520"/>
        </p:xfrm>
        <a:graphic>
          <a:graphicData uri="http://schemas.openxmlformats.org/drawingml/2006/table">
            <a:tbl>
              <a:tblPr/>
              <a:tblGrid>
                <a:gridCol w="2286000"/>
                <a:gridCol w="4663440"/>
                <a:gridCol w="4663440"/>
              </a:tblGrid>
              <a:tr h="374904">
                <a:tc>
                  <a:txBody>
                    <a:bodyPr/>
                    <a:lstStyle/>
                    <a:p>
                      <a:pPr algn="ctr" indent="0" marL="0">
                        <a:buNone/>
                      </a:pP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rPr>
                        <a:t>Feature-Level Fusion</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rPr>
                        <a:t>Algorithm-Level Fusion</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r>
              <a:tr h="374904">
                <a:tc>
                  <a:txBody>
                    <a:bodyPr/>
                    <a:lstStyle/>
                    <a:p>
                      <a:pPr algn="ctr" indent="0" marL="0">
                        <a:buNone/>
                      </a:pPr>
                      <a:r>
                        <a:rPr lang="en-US" sz="1100" b="1" dirty="0">
                          <a:solidFill>
                            <a:srgbClr val="1B2A4A"/>
                          </a:solidFill>
                        </a:rPr>
                        <a:t>Voters</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050" dirty="0">
                          <a:solidFill>
                            <a:srgbClr val="4A5568"/>
                          </a:solidFill>
                        </a:rPr>
                        <a:t>Signal sources (SSM, RMS, onset…)</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Independent segmentation algorithms</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374904">
                <a:tc>
                  <a:txBody>
                    <a:bodyPr/>
                    <a:lstStyle/>
                    <a:p>
                      <a:pPr algn="ctr" indent="0" marL="0">
                        <a:buNone/>
                      </a:pPr>
                      <a:r>
                        <a:rPr lang="en-US" sz="1100" b="1" dirty="0">
                          <a:solidFill>
                            <a:srgbClr val="1B2A4A"/>
                          </a:solidFill>
                        </a:rPr>
                        <a:t>Input</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050" dirty="0">
                          <a:solidFill>
                            <a:srgbClr val="4A5568"/>
                          </a:solidFill>
                        </a:rPr>
                        <a:t>Raw audio feature candidates</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Completed AlgorithmResult objects</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374904">
                <a:tc>
                  <a:txBody>
                    <a:bodyPr/>
                    <a:lstStyle/>
                    <a:p>
                      <a:pPr algn="ctr" indent="0" marL="0">
                        <a:buNone/>
                      </a:pPr>
                      <a:r>
                        <a:rPr lang="en-US" sz="1100" b="1" dirty="0">
                          <a:solidFill>
                            <a:srgbClr val="1B2A4A"/>
                          </a:solidFill>
                        </a:rPr>
                        <a:t>Location</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050" dirty="0">
                          <a:solidFill>
                            <a:srgbClr val="4A5568"/>
                          </a:solidFill>
                        </a:rPr>
                        <a:t>Inside custom_librosa pipeline</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Separate FusionWorker service</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374904">
                <a:tc>
                  <a:txBody>
                    <a:bodyPr/>
                    <a:lstStyle/>
                    <a:p>
                      <a:pPr algn="ctr" indent="0" marL="0">
                        <a:buNone/>
                      </a:pPr>
                      <a:r>
                        <a:rPr lang="en-US" sz="1100" b="1" dirty="0">
                          <a:solidFill>
                            <a:srgbClr val="1B2A4A"/>
                          </a:solidFill>
                        </a:rPr>
                        <a:t>Goal</a:t>
                      </a:r>
                      <a:endParaRPr lang="en-US" sz="11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F"/>
                    </a:solidFill>
                  </a:tcPr>
                </a:tc>
                <a:tc>
                  <a:txBody>
                    <a:bodyPr/>
                    <a:lstStyle/>
                    <a:p>
                      <a:pPr algn="ctr" indent="0" marL="0">
                        <a:buNone/>
                      </a:pPr>
                      <a:r>
                        <a:rPr lang="en-US" sz="1050" dirty="0">
                          <a:solidFill>
                            <a:srgbClr val="4A5568"/>
                          </a:solidFill>
                        </a:rPr>
                        <a:t>Signal diversity within one pipeline</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4A5568"/>
                          </a:solidFill>
                        </a:rPr>
                        <a:t>Balancing different error profiles</a:t>
                      </a:r>
                      <a:endParaRPr lang="en-US" sz="105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2651760"/>
            <a:ext cx="12161520" cy="54864"/>
          </a:xfrm>
          <a:prstGeom prst="rect">
            <a:avLst/>
          </a:prstGeom>
          <a:solidFill>
            <a:srgbClr val="B87333"/>
          </a:solidFill>
          <a:ln w="12700">
            <a:solidFill>
              <a:srgbClr val="B87333"/>
            </a:solidFill>
            <a:prstDash val="solid"/>
          </a:ln>
        </p:spPr>
      </p:sp>
      <p:sp>
        <p:nvSpPr>
          <p:cNvPr id="3" name="Text 1"/>
          <p:cNvSpPr/>
          <p:nvPr/>
        </p:nvSpPr>
        <p:spPr>
          <a:xfrm>
            <a:off x="914400" y="1554480"/>
            <a:ext cx="10332720" cy="109728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Algorithm-Level Fusion</a:t>
            </a:r>
            <a:endParaRPr lang="en-US" sz="4000" dirty="0"/>
          </a:p>
        </p:txBody>
      </p:sp>
      <p:sp>
        <p:nvSpPr>
          <p:cNvPr id="4" name="Text 2"/>
          <p:cNvSpPr/>
          <p:nvPr/>
        </p:nvSpPr>
        <p:spPr>
          <a:xfrm>
            <a:off x="1371600" y="2926080"/>
            <a:ext cx="9418320" cy="822960"/>
          </a:xfrm>
          <a:prstGeom prst="rect">
            <a:avLst/>
          </a:prstGeom>
          <a:noFill/>
          <a:ln/>
        </p:spPr>
        <p:txBody>
          <a:bodyPr wrap="square" rtlCol="0" anchor="ctr"/>
          <a:lstStyle/>
          <a:p>
            <a:pPr algn="ctr" indent="0" marL="0">
              <a:buNone/>
            </a:pPr>
            <a:r>
              <a:rPr lang="en-US" sz="1600" dirty="0">
                <a:solidFill>
                  <a:srgbClr val="D4944A"/>
                </a:solidFill>
                <a:latin typeface="Calibri" pitchFamily="34" charset="0"/>
                <a:ea typeface="Calibri" pitchFamily="34" charset="-122"/>
                <a:cs typeface="Calibri" pitchFamily="34" charset="-120"/>
              </a:rPr>
              <a:t>Why weighted voting? Why wait for all results?</a:t>
            </a:r>
            <a:endParaRPr lang="en-US" sz="1600" dirty="0"/>
          </a:p>
        </p:txBody>
      </p:sp>
      <p:sp>
        <p:nvSpPr>
          <p:cNvPr id="5" name="Shape 3"/>
          <p:cNvSpPr/>
          <p:nvPr/>
        </p:nvSpPr>
        <p:spPr>
          <a:xfrm>
            <a:off x="9601200" y="6400800"/>
            <a:ext cx="2377440" cy="310896"/>
          </a:xfrm>
          <a:prstGeom prst="roundRect">
            <a:avLst/>
          </a:prstGeom>
          <a:solidFill>
            <a:srgbClr val="0D9488"/>
          </a:solidFill>
          <a:ln w="12700">
            <a:solidFill>
              <a:srgbClr val="0D9488"/>
            </a:solidFill>
            <a:prstDash val="solid"/>
          </a:ln>
        </p:spPr>
      </p:sp>
      <p:sp>
        <p:nvSpPr>
          <p:cNvPr id="6" name="Text 4"/>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2</a:t>
            </a:r>
            <a:endParaRPr lang="en-US" sz="900" dirty="0"/>
          </a:p>
        </p:txBody>
      </p:sp>
      <p:sp>
        <p:nvSpPr>
          <p:cNvPr id="7" name="Text 5"/>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14/21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Weighted Voting? — Simple Majority Is Not Enough</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Algorithms are not equally reliable; confidence matters too</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15/21</a:t>
            </a:r>
            <a:endParaRPr lang="en-US" sz="800" dirty="0"/>
          </a:p>
        </p:txBody>
      </p:sp>
      <p:sp>
        <p:nvSpPr>
          <p:cNvPr id="9" name="Shape 7"/>
          <p:cNvSpPr/>
          <p:nvPr/>
        </p:nvSpPr>
        <p:spPr>
          <a:xfrm>
            <a:off x="274320" y="1298448"/>
            <a:ext cx="3703320" cy="41148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10" name="Shape 8"/>
          <p:cNvSpPr/>
          <p:nvPr/>
        </p:nvSpPr>
        <p:spPr>
          <a:xfrm>
            <a:off x="274320" y="1298448"/>
            <a:ext cx="3703320" cy="530352"/>
          </a:xfrm>
          <a:prstGeom prst="rect">
            <a:avLst/>
          </a:prstGeom>
          <a:solidFill>
            <a:srgbClr val="9B1C1C"/>
          </a:solidFill>
          <a:ln w="12700">
            <a:solidFill>
              <a:srgbClr val="9B1C1C"/>
            </a:solidFill>
            <a:prstDash val="solid"/>
          </a:ln>
        </p:spPr>
      </p:sp>
      <p:sp>
        <p:nvSpPr>
          <p:cNvPr id="11" name="Text 9"/>
          <p:cNvSpPr/>
          <p:nvPr/>
        </p:nvSpPr>
        <p:spPr>
          <a:xfrm>
            <a:off x="365760" y="1298448"/>
            <a:ext cx="3520440" cy="530352"/>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 Simple Majority Vote</a:t>
            </a:r>
            <a:endParaRPr lang="en-US" sz="1200" dirty="0"/>
          </a:p>
        </p:txBody>
      </p:sp>
      <p:sp>
        <p:nvSpPr>
          <p:cNvPr id="12" name="Text 10"/>
          <p:cNvSpPr/>
          <p:nvPr/>
        </p:nvSpPr>
        <p:spPr>
          <a:xfrm>
            <a:off x="365760" y="1874520"/>
            <a:ext cx="3520440" cy="347472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Treats every algorithm as equally reliable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Ignores the confidence value of each boundary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2/4 votes accepted — weak evidence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An over-segmenting algorithm can win by producing more boundaries</a:t>
            </a:r>
            <a:endParaRPr lang="en-US" sz="1100" dirty="0"/>
          </a:p>
        </p:txBody>
      </p:sp>
      <p:sp>
        <p:nvSpPr>
          <p:cNvPr id="13" name="Shape 11"/>
          <p:cNvSpPr/>
          <p:nvPr/>
        </p:nvSpPr>
        <p:spPr>
          <a:xfrm>
            <a:off x="4251960" y="1298448"/>
            <a:ext cx="3703320" cy="41148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14" name="Shape 12"/>
          <p:cNvSpPr/>
          <p:nvPr/>
        </p:nvSpPr>
        <p:spPr>
          <a:xfrm>
            <a:off x="4251960" y="1298448"/>
            <a:ext cx="3703320" cy="530352"/>
          </a:xfrm>
          <a:prstGeom prst="rect">
            <a:avLst/>
          </a:prstGeom>
          <a:solidFill>
            <a:srgbClr val="B45309"/>
          </a:solidFill>
          <a:ln w="12700">
            <a:solidFill>
              <a:srgbClr val="B45309"/>
            </a:solidFill>
            <a:prstDash val="solid"/>
          </a:ln>
        </p:spPr>
      </p:sp>
      <p:sp>
        <p:nvSpPr>
          <p:cNvPr id="15" name="Text 13"/>
          <p:cNvSpPr/>
          <p:nvPr/>
        </p:nvSpPr>
        <p:spPr>
          <a:xfrm>
            <a:off x="4343400" y="1298448"/>
            <a:ext cx="3520440" cy="530352"/>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 Simple Average (mean timestamp)</a:t>
            </a:r>
            <a:endParaRPr lang="en-US" sz="1200" dirty="0"/>
          </a:p>
        </p:txBody>
      </p:sp>
      <p:sp>
        <p:nvSpPr>
          <p:cNvPr id="16" name="Text 14"/>
          <p:cNvSpPr/>
          <p:nvPr/>
        </p:nvSpPr>
        <p:spPr>
          <a:xfrm>
            <a:off x="4343400" y="1874520"/>
            <a:ext cx="3520440" cy="347472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Does not group votes that target the same boundary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The midpoint of two boundaries 10 s apart is meaningless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Ignores confidence and algorithm weights</a:t>
            </a:r>
            <a:endParaRPr lang="en-US" sz="1100" dirty="0"/>
          </a:p>
        </p:txBody>
      </p:sp>
      <p:sp>
        <p:nvSpPr>
          <p:cNvPr id="17" name="Shape 15"/>
          <p:cNvSpPr/>
          <p:nvPr/>
        </p:nvSpPr>
        <p:spPr>
          <a:xfrm>
            <a:off x="8229600" y="1298448"/>
            <a:ext cx="3703320" cy="411480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8000"/>
              </a:srgbClr>
            </a:outerShdw>
          </a:effectLst>
        </p:spPr>
      </p:sp>
      <p:sp>
        <p:nvSpPr>
          <p:cNvPr id="18" name="Shape 16"/>
          <p:cNvSpPr/>
          <p:nvPr/>
        </p:nvSpPr>
        <p:spPr>
          <a:xfrm>
            <a:off x="8229600" y="1298448"/>
            <a:ext cx="3703320" cy="530352"/>
          </a:xfrm>
          <a:prstGeom prst="rect">
            <a:avLst/>
          </a:prstGeom>
          <a:solidFill>
            <a:srgbClr val="2D6A4F"/>
          </a:solidFill>
          <a:ln w="12700">
            <a:solidFill>
              <a:srgbClr val="2D6A4F"/>
            </a:solidFill>
            <a:prstDash val="solid"/>
          </a:ln>
        </p:spPr>
      </p:sp>
      <p:sp>
        <p:nvSpPr>
          <p:cNvPr id="19" name="Text 17"/>
          <p:cNvSpPr/>
          <p:nvPr/>
        </p:nvSpPr>
        <p:spPr>
          <a:xfrm>
            <a:off x="8321040" y="1298448"/>
            <a:ext cx="3520440" cy="530352"/>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 Weighted Voting (our choice)</a:t>
            </a:r>
            <a:endParaRPr lang="en-US" sz="1200" dirty="0"/>
          </a:p>
        </p:txBody>
      </p:sp>
      <p:sp>
        <p:nvSpPr>
          <p:cNvPr id="20" name="Text 18"/>
          <p:cNvSpPr/>
          <p:nvPr/>
        </p:nvSpPr>
        <p:spPr>
          <a:xfrm>
            <a:off x="8321040" y="1874520"/>
            <a:ext cx="3520440" cy="347472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score = Σ(algorithm_weight × boundary_confidence)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custom_librosa (0.35) &gt; scluster (0.30) &gt; cnmf (0.20) &gt; foote (0.15)</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Each algorithm casts at most 1 vote per boundary group</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Accept: score ≥ threshold  OR  source_count ≥ required_votes</a:t>
            </a:r>
            <a:endParaRPr lang="en-US" sz="1100" dirty="0"/>
          </a:p>
        </p:txBody>
      </p:sp>
      <p:sp>
        <p:nvSpPr>
          <p:cNvPr id="21" name="Shape 19"/>
          <p:cNvSpPr/>
          <p:nvPr/>
        </p:nvSpPr>
        <p:spPr>
          <a:xfrm>
            <a:off x="274320" y="5577840"/>
            <a:ext cx="11612880" cy="384048"/>
          </a:xfrm>
          <a:prstGeom prst="rect">
            <a:avLst/>
          </a:prstGeom>
          <a:solidFill>
            <a:srgbClr val="243556"/>
          </a:solidFill>
          <a:ln w="12700">
            <a:solidFill>
              <a:srgbClr val="243556"/>
            </a:solidFill>
            <a:prstDash val="solid"/>
          </a:ln>
        </p:spPr>
      </p:sp>
      <p:sp>
        <p:nvSpPr>
          <p:cNvPr id="22" name="Text 20"/>
          <p:cNvSpPr/>
          <p:nvPr/>
        </p:nvSpPr>
        <p:spPr>
          <a:xfrm>
            <a:off x="274320" y="5577840"/>
            <a:ext cx="11612880" cy="384048"/>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Why two acceptance conditions (score OR vote count)?</a:t>
            </a:r>
            <a:endParaRPr lang="en-US" sz="1300" dirty="0"/>
          </a:p>
        </p:txBody>
      </p:sp>
      <p:sp>
        <p:nvSpPr>
          <p:cNvPr id="23" name="Text 21"/>
          <p:cNvSpPr/>
          <p:nvPr/>
        </p:nvSpPr>
        <p:spPr>
          <a:xfrm>
            <a:off x="365760" y="6035040"/>
            <a:ext cx="11430000" cy="274320"/>
          </a:xfrm>
          <a:prstGeom prst="rect">
            <a:avLst/>
          </a:prstGeom>
          <a:noFill/>
          <a:ln/>
        </p:spPr>
        <p:txBody>
          <a:bodyPr wrap="square" rtlCol="0" anchor="ctr"/>
          <a:lstStyle/>
          <a:p>
            <a:pPr algn="l" indent="0" marL="0">
              <a:buNone/>
            </a:pPr>
            <a:r>
              <a:rPr lang="en-US" sz="1050" dirty="0">
                <a:solidFill>
                  <a:srgbClr val="CBD5E0"/>
                </a:solidFill>
                <a:latin typeface="Calibri" pitchFamily="34" charset="0"/>
                <a:ea typeface="Calibri" pitchFamily="34" charset="-122"/>
                <a:cs typeface="Calibri" pitchFamily="34" charset="-120"/>
              </a:rPr>
              <a:t>▸ Score threshold alone: If confidence calibration differs across algorithms, a high-weight algorithm could dominate blindly</a:t>
            </a:r>
            <a:endParaRPr lang="en-US" sz="1050" dirty="0"/>
          </a:p>
        </p:txBody>
      </p:sp>
      <p:sp>
        <p:nvSpPr>
          <p:cNvPr id="24" name="Text 22"/>
          <p:cNvSpPr/>
          <p:nvPr/>
        </p:nvSpPr>
        <p:spPr>
          <a:xfrm>
            <a:off x="365760" y="6355080"/>
            <a:ext cx="11430000" cy="274320"/>
          </a:xfrm>
          <a:prstGeom prst="rect">
            <a:avLst/>
          </a:prstGeom>
          <a:noFill/>
          <a:ln/>
        </p:spPr>
        <p:txBody>
          <a:bodyPr wrap="square" rtlCol="0" anchor="ctr"/>
          <a:lstStyle/>
          <a:p>
            <a:pPr algn="l" indent="0" marL="0">
              <a:buNone/>
            </a:pPr>
            <a:r>
              <a:rPr lang="en-US" sz="1050" dirty="0">
                <a:solidFill>
                  <a:srgbClr val="CBD5E0"/>
                </a:solidFill>
                <a:latin typeface="Calibri" pitchFamily="34" charset="0"/>
                <a:ea typeface="Calibri" pitchFamily="34" charset="-122"/>
                <a:cs typeface="Calibri" pitchFamily="34" charset="-120"/>
              </a:rPr>
              <a:t>▸ Vote count fallback: If two independent algorithms agree on a region — even with low confidence — consensus is preserved</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Does Fusion Wait for All Base Results?</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Fusing with incomplete information biases the outcome</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16/21</a:t>
            </a:r>
            <a:endParaRPr lang="en-US" sz="800" dirty="0"/>
          </a:p>
        </p:txBody>
      </p:sp>
      <p:sp>
        <p:nvSpPr>
          <p:cNvPr id="9" name="Shape 7"/>
          <p:cNvSpPr/>
          <p:nvPr/>
        </p:nvSpPr>
        <p:spPr>
          <a:xfrm>
            <a:off x="274320" y="1298448"/>
            <a:ext cx="5577840" cy="2450592"/>
          </a:xfrm>
          <a:prstGeom prst="rect">
            <a:avLst/>
          </a:prstGeom>
          <a:solidFill>
            <a:srgbClr val="FFFFFF"/>
          </a:solidFill>
          <a:ln w="12700">
            <a:solidFill>
              <a:srgbClr val="E2E8F0"/>
            </a:solidFill>
            <a:prstDash val="solid"/>
          </a:ln>
        </p:spPr>
      </p:sp>
      <p:sp>
        <p:nvSpPr>
          <p:cNvPr id="10" name="Shape 8"/>
          <p:cNvSpPr/>
          <p:nvPr/>
        </p:nvSpPr>
        <p:spPr>
          <a:xfrm>
            <a:off x="274320" y="1298448"/>
            <a:ext cx="64008" cy="2450592"/>
          </a:xfrm>
          <a:prstGeom prst="rect">
            <a:avLst/>
          </a:prstGeom>
          <a:solidFill>
            <a:srgbClr val="9B1C1C"/>
          </a:solidFill>
          <a:ln w="12700">
            <a:solidFill>
              <a:srgbClr val="9B1C1C"/>
            </a:solidFill>
            <a:prstDash val="solid"/>
          </a:ln>
        </p:spPr>
      </p:sp>
      <p:sp>
        <p:nvSpPr>
          <p:cNvPr id="11" name="Text 9"/>
          <p:cNvSpPr/>
          <p:nvPr/>
        </p:nvSpPr>
        <p:spPr>
          <a:xfrm>
            <a:off x="457200" y="1389888"/>
            <a:ext cx="5303520" cy="502920"/>
          </a:xfrm>
          <a:prstGeom prst="rect">
            <a:avLst/>
          </a:prstGeom>
          <a:noFill/>
          <a:ln/>
        </p:spPr>
        <p:txBody>
          <a:bodyPr wrap="square" lIns="0" tIns="0" rIns="0" bIns="0" rtlCol="0" anchor="ctr"/>
          <a:lstStyle/>
          <a:p>
            <a:pPr algn="l" indent="0" marL="0">
              <a:buNone/>
            </a:pPr>
            <a:r>
              <a:rPr lang="en-US" sz="1300" b="1" dirty="0">
                <a:solidFill>
                  <a:srgbClr val="9B1C1C"/>
                </a:solidFill>
                <a:latin typeface="Georgia" pitchFamily="34" charset="0"/>
                <a:ea typeface="Georgia" pitchFamily="34" charset="-122"/>
                <a:cs typeface="Georgia" pitchFamily="34" charset="-120"/>
              </a:rPr>
              <a:t>Early fusion produces biased results</a:t>
            </a:r>
            <a:endParaRPr lang="en-US" sz="1300" dirty="0"/>
          </a:p>
        </p:txBody>
      </p:sp>
      <p:sp>
        <p:nvSpPr>
          <p:cNvPr id="12" name="Text 10"/>
          <p:cNvSpPr/>
          <p:nvPr/>
        </p:nvSpPr>
        <p:spPr>
          <a:xfrm>
            <a:off x="457200" y="1956816"/>
            <a:ext cx="5303520" cy="173736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If Foote finishes fast and custom_librosa is still running: fusion runs on Foote data only. The result appears as if 4 algorithms agreed — but only 1 actually spoke. This false confidence is dangerous.</a:t>
            </a:r>
            <a:endParaRPr lang="en-US" sz="1200" dirty="0"/>
          </a:p>
        </p:txBody>
      </p:sp>
      <p:sp>
        <p:nvSpPr>
          <p:cNvPr id="13" name="Shape 11"/>
          <p:cNvSpPr/>
          <p:nvPr/>
        </p:nvSpPr>
        <p:spPr>
          <a:xfrm>
            <a:off x="6263640" y="1298448"/>
            <a:ext cx="5577840" cy="2450592"/>
          </a:xfrm>
          <a:prstGeom prst="rect">
            <a:avLst/>
          </a:prstGeom>
          <a:solidFill>
            <a:srgbClr val="FFFFFF"/>
          </a:solidFill>
          <a:ln w="12700">
            <a:solidFill>
              <a:srgbClr val="E2E8F0"/>
            </a:solidFill>
            <a:prstDash val="solid"/>
          </a:ln>
        </p:spPr>
      </p:sp>
      <p:sp>
        <p:nvSpPr>
          <p:cNvPr id="14" name="Shape 12"/>
          <p:cNvSpPr/>
          <p:nvPr/>
        </p:nvSpPr>
        <p:spPr>
          <a:xfrm>
            <a:off x="6263640" y="1298448"/>
            <a:ext cx="64008" cy="2450592"/>
          </a:xfrm>
          <a:prstGeom prst="rect">
            <a:avLst/>
          </a:prstGeom>
          <a:solidFill>
            <a:srgbClr val="2D6A4F"/>
          </a:solidFill>
          <a:ln w="12700">
            <a:solidFill>
              <a:srgbClr val="2D6A4F"/>
            </a:solidFill>
            <a:prstDash val="solid"/>
          </a:ln>
        </p:spPr>
      </p:sp>
      <p:sp>
        <p:nvSpPr>
          <p:cNvPr id="15" name="Text 13"/>
          <p:cNvSpPr/>
          <p:nvPr/>
        </p:nvSpPr>
        <p:spPr>
          <a:xfrm>
            <a:off x="6446520" y="1389888"/>
            <a:ext cx="5303520" cy="502920"/>
          </a:xfrm>
          <a:prstGeom prst="rect">
            <a:avLst/>
          </a:prstGeom>
          <a:noFill/>
          <a:ln/>
        </p:spPr>
        <p:txBody>
          <a:bodyPr wrap="square" lIns="0" tIns="0" rIns="0" bIns="0" rtlCol="0" anchor="ctr"/>
          <a:lstStyle/>
          <a:p>
            <a:pPr algn="l" indent="0" marL="0">
              <a:buNone/>
            </a:pPr>
            <a:r>
              <a:rPr lang="en-US" sz="1300" b="1" dirty="0">
                <a:solidFill>
                  <a:srgbClr val="2D6A4F"/>
                </a:solidFill>
                <a:latin typeface="Georgia" pitchFamily="34" charset="0"/>
                <a:ea typeface="Georgia" pitchFamily="34" charset="-122"/>
                <a:cs typeface="Georgia" pitchFamily="34" charset="-120"/>
              </a:rPr>
              <a:t>All perspectives together make consensus meaningful</a:t>
            </a:r>
            <a:endParaRPr lang="en-US" sz="1300" dirty="0"/>
          </a:p>
        </p:txBody>
      </p:sp>
      <p:sp>
        <p:nvSpPr>
          <p:cNvPr id="16" name="Text 14"/>
          <p:cNvSpPr/>
          <p:nvPr/>
        </p:nvSpPr>
        <p:spPr>
          <a:xfrm>
            <a:off x="6446520" y="1956816"/>
            <a:ext cx="5303520" cy="173736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custom_librosa brings structural SSM, SCluster brings global clustering, CNMF brings latent patterns, Foote brings local novelty. When all four independently point to the same boundary, confidence is genuinely earned.</a:t>
            </a:r>
            <a:endParaRPr lang="en-US" sz="1200" dirty="0"/>
          </a:p>
        </p:txBody>
      </p:sp>
      <p:sp>
        <p:nvSpPr>
          <p:cNvPr id="17" name="Shape 15"/>
          <p:cNvSpPr/>
          <p:nvPr/>
        </p:nvSpPr>
        <p:spPr>
          <a:xfrm>
            <a:off x="274320" y="3931920"/>
            <a:ext cx="5577840" cy="2450592"/>
          </a:xfrm>
          <a:prstGeom prst="rect">
            <a:avLst/>
          </a:prstGeom>
          <a:solidFill>
            <a:srgbClr val="FFFFFF"/>
          </a:solidFill>
          <a:ln w="12700">
            <a:solidFill>
              <a:srgbClr val="E2E8F0"/>
            </a:solidFill>
            <a:prstDash val="solid"/>
          </a:ln>
        </p:spPr>
      </p:sp>
      <p:sp>
        <p:nvSpPr>
          <p:cNvPr id="18" name="Shape 16"/>
          <p:cNvSpPr/>
          <p:nvPr/>
        </p:nvSpPr>
        <p:spPr>
          <a:xfrm>
            <a:off x="274320" y="3931920"/>
            <a:ext cx="64008" cy="2450592"/>
          </a:xfrm>
          <a:prstGeom prst="rect">
            <a:avLst/>
          </a:prstGeom>
          <a:solidFill>
            <a:srgbClr val="0D9488"/>
          </a:solidFill>
          <a:ln w="12700">
            <a:solidFill>
              <a:srgbClr val="0D9488"/>
            </a:solidFill>
            <a:prstDash val="solid"/>
          </a:ln>
        </p:spPr>
      </p:sp>
      <p:sp>
        <p:nvSpPr>
          <p:cNvPr id="19" name="Text 17"/>
          <p:cNvSpPr/>
          <p:nvPr/>
        </p:nvSpPr>
        <p:spPr>
          <a:xfrm>
            <a:off x="457200" y="4023360"/>
            <a:ext cx="5303520" cy="502920"/>
          </a:xfrm>
          <a:prstGeom prst="rect">
            <a:avLst/>
          </a:prstGeom>
          <a:noFill/>
          <a:ln/>
        </p:spPr>
        <p:txBody>
          <a:bodyPr wrap="square" lIns="0" tIns="0" rIns="0" bIns="0" rtlCol="0" anchor="ctr"/>
          <a:lstStyle/>
          <a:p>
            <a:pPr algn="l" indent="0" marL="0">
              <a:buNone/>
            </a:pPr>
            <a:r>
              <a:rPr lang="en-US" sz="1300" b="1" dirty="0">
                <a:solidFill>
                  <a:srgbClr val="0D9488"/>
                </a:solidFill>
                <a:latin typeface="Georgia" pitchFamily="34" charset="0"/>
                <a:ea typeface="Georgia" pitchFamily="34" charset="-122"/>
                <a:cs typeface="Georgia" pitchFamily="34" charset="-120"/>
              </a:rPr>
              <a:t>Minimum 2 successful results required</a:t>
            </a:r>
            <a:endParaRPr lang="en-US" sz="1300" dirty="0"/>
          </a:p>
        </p:txBody>
      </p:sp>
      <p:sp>
        <p:nvSpPr>
          <p:cNvPr id="20" name="Text 18"/>
          <p:cNvSpPr/>
          <p:nvPr/>
        </p:nvSpPr>
        <p:spPr>
          <a:xfrm>
            <a:off x="457200" y="4590288"/>
            <a:ext cx="5303520" cy="173736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Once all 4 baselines are resolved, if fewer than 2 produced successful results, fusion is pointless. ResultListener directly generates a 'failed fusion' result — no unnecessary computation.</a:t>
            </a:r>
            <a:endParaRPr lang="en-US" sz="1200" dirty="0"/>
          </a:p>
        </p:txBody>
      </p:sp>
      <p:sp>
        <p:nvSpPr>
          <p:cNvPr id="21" name="Shape 19"/>
          <p:cNvSpPr/>
          <p:nvPr/>
        </p:nvSpPr>
        <p:spPr>
          <a:xfrm>
            <a:off x="6263640" y="3931920"/>
            <a:ext cx="5577840" cy="2450592"/>
          </a:xfrm>
          <a:prstGeom prst="rect">
            <a:avLst/>
          </a:prstGeom>
          <a:solidFill>
            <a:srgbClr val="FFFFFF"/>
          </a:solidFill>
          <a:ln w="12700">
            <a:solidFill>
              <a:srgbClr val="E2E8F0"/>
            </a:solidFill>
            <a:prstDash val="solid"/>
          </a:ln>
        </p:spPr>
      </p:sp>
      <p:sp>
        <p:nvSpPr>
          <p:cNvPr id="22" name="Shape 20"/>
          <p:cNvSpPr/>
          <p:nvPr/>
        </p:nvSpPr>
        <p:spPr>
          <a:xfrm>
            <a:off x="6263640" y="3931920"/>
            <a:ext cx="64008" cy="2450592"/>
          </a:xfrm>
          <a:prstGeom prst="rect">
            <a:avLst/>
          </a:prstGeom>
          <a:solidFill>
            <a:srgbClr val="B45309"/>
          </a:solidFill>
          <a:ln w="12700">
            <a:solidFill>
              <a:srgbClr val="B45309"/>
            </a:solidFill>
            <a:prstDash val="solid"/>
          </a:ln>
        </p:spPr>
      </p:sp>
      <p:sp>
        <p:nvSpPr>
          <p:cNvPr id="23" name="Text 21"/>
          <p:cNvSpPr/>
          <p:nvPr/>
        </p:nvSpPr>
        <p:spPr>
          <a:xfrm>
            <a:off x="6446520" y="4023360"/>
            <a:ext cx="5303520" cy="502920"/>
          </a:xfrm>
          <a:prstGeom prst="rect">
            <a:avLst/>
          </a:prstGeom>
          <a:noFill/>
          <a:ln/>
        </p:spPr>
        <p:txBody>
          <a:bodyPr wrap="square" lIns="0" tIns="0" rIns="0" bIns="0" rtlCol="0" anchor="ctr"/>
          <a:lstStyle/>
          <a:p>
            <a:pPr algn="l" indent="0" marL="0">
              <a:buNone/>
            </a:pPr>
            <a:r>
              <a:rPr lang="en-US" sz="1300" b="1" dirty="0">
                <a:solidFill>
                  <a:srgbClr val="B45309"/>
                </a:solidFill>
                <a:latin typeface="Georgia" pitchFamily="34" charset="0"/>
                <a:ea typeface="Georgia" pitchFamily="34" charset="-122"/>
                <a:cs typeface="Georgia" pitchFamily="34" charset="-120"/>
              </a:rPr>
              <a:t>Known limitation: what if a worker disappears?</a:t>
            </a:r>
            <a:endParaRPr lang="en-US" sz="1300" dirty="0"/>
          </a:p>
        </p:txBody>
      </p:sp>
      <p:sp>
        <p:nvSpPr>
          <p:cNvPr id="24" name="Text 22"/>
          <p:cNvSpPr/>
          <p:nvPr/>
        </p:nvSpPr>
        <p:spPr>
          <a:xfrm>
            <a:off x="6446520" y="4590288"/>
            <a:ext cx="5303520" cy="173736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If a worker throws an exception, BaseWorker publishes a 'failed' result → counted as resolved. But if a worker crashes without publishing anything, the task stays in 'processing' forever. Watchdog/timeout is future work.</a:t>
            </a:r>
            <a:endParaRPr lang="en-US" sz="1200" dirty="0"/>
          </a:p>
        </p:txBody>
      </p:sp>
      <p:sp>
        <p:nvSpPr>
          <p:cNvPr id="25" name="Shape 23"/>
          <p:cNvSpPr/>
          <p:nvPr/>
        </p:nvSpPr>
        <p:spPr>
          <a:xfrm>
            <a:off x="0" y="6620256"/>
            <a:ext cx="12161520" cy="420624"/>
          </a:xfrm>
          <a:prstGeom prst="rect">
            <a:avLst/>
          </a:prstGeom>
          <a:solidFill>
            <a:srgbClr val="1B2A4A"/>
          </a:solidFill>
          <a:ln w="12700">
            <a:solidFill>
              <a:srgbClr val="1B2A4A"/>
            </a:solidFill>
            <a:prstDash val="solid"/>
          </a:ln>
        </p:spPr>
      </p:sp>
      <p:sp>
        <p:nvSpPr>
          <p:cNvPr id="26" name="Text 24"/>
          <p:cNvSpPr/>
          <p:nvPr/>
        </p:nvSpPr>
        <p:spPr>
          <a:xfrm>
            <a:off x="365760" y="6620256"/>
            <a:ext cx="11430000" cy="420624"/>
          </a:xfrm>
          <a:prstGeom prst="rect">
            <a:avLst/>
          </a:prstGeom>
          <a:noFill/>
          <a:ln/>
        </p:spPr>
        <p:txBody>
          <a:bodyPr wrap="square" rtlCol="0" anchor="ctr"/>
          <a:lstStyle/>
          <a:p>
            <a:pPr algn="ctr" indent="0" marL="0">
              <a:buNone/>
            </a:pPr>
            <a:r>
              <a:rPr lang="en-US" sz="1100" dirty="0">
                <a:solidFill>
                  <a:srgbClr val="D4944A"/>
                </a:solidFill>
                <a:latin typeface="Calibri" pitchFamily="34" charset="0"/>
                <a:ea typeface="Calibri" pitchFamily="34" charset="-122"/>
                <a:cs typeface="Calibri" pitchFamily="34" charset="-120"/>
              </a:rPr>
              <a:t>Completeness is required for trust: we collect consensus from all 4 perspectives — or we do not fuse at all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Why Two-Layer Labeling?</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A similarity claim and a musical role claim require different levels of evidence</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17/21</a:t>
            </a:r>
            <a:endParaRPr lang="en-US" sz="800" dirty="0"/>
          </a:p>
        </p:txBody>
      </p:sp>
      <p:sp>
        <p:nvSpPr>
          <p:cNvPr id="9" name="Shape 7"/>
          <p:cNvSpPr/>
          <p:nvPr/>
        </p:nvSpPr>
        <p:spPr>
          <a:xfrm>
            <a:off x="274320" y="1298448"/>
            <a:ext cx="11612880" cy="658368"/>
          </a:xfrm>
          <a:prstGeom prst="roundRect">
            <a:avLst/>
          </a:prstGeom>
          <a:solidFill>
            <a:srgbClr val="FFF8F0"/>
          </a:solidFill>
          <a:ln w="12700">
            <a:solidFill>
              <a:srgbClr val="B45309"/>
            </a:solidFill>
            <a:prstDash val="solid"/>
          </a:ln>
        </p:spPr>
      </p:sp>
      <p:sp>
        <p:nvSpPr>
          <p:cNvPr id="10" name="Text 8"/>
          <p:cNvSpPr/>
          <p:nvPr/>
        </p:nvSpPr>
        <p:spPr>
          <a:xfrm>
            <a:off x="457200" y="1298448"/>
            <a:ext cx="11247120" cy="658368"/>
          </a:xfrm>
          <a:prstGeom prst="rect">
            <a:avLst/>
          </a:prstGeom>
          <a:noFill/>
          <a:ln/>
        </p:spPr>
        <p:txBody>
          <a:bodyPr wrap="square" rtlCol="0" anchor="ctr"/>
          <a:lstStyle/>
          <a:p>
            <a:pPr algn="l" indent="0" marL="0">
              <a:buNone/>
            </a:pPr>
            <a:r>
              <a:rPr lang="en-US" sz="1300" dirty="0">
                <a:solidFill>
                  <a:srgbClr val="B45309"/>
                </a:solidFill>
                <a:latin typeface="Calibri" pitchFamily="34" charset="0"/>
                <a:ea typeface="Calibri" pitchFamily="34" charset="-122"/>
                <a:cs typeface="Calibri" pitchFamily="34" charset="-120"/>
              </a:rPr>
              <a:t>'These two segments sound similar to each other' and 'this segment is the Chorus' are not the same strength of claim. The first is an audio descriptor measurement. The second is a musical interpretation.</a:t>
            </a:r>
            <a:endParaRPr lang="en-US" sz="1300" dirty="0"/>
          </a:p>
        </p:txBody>
      </p:sp>
      <p:sp>
        <p:nvSpPr>
          <p:cNvPr id="11" name="Shape 9"/>
          <p:cNvSpPr/>
          <p:nvPr/>
        </p:nvSpPr>
        <p:spPr>
          <a:xfrm>
            <a:off x="0" y="2121408"/>
            <a:ext cx="1709928" cy="548640"/>
          </a:xfrm>
          <a:prstGeom prst="rect">
            <a:avLst/>
          </a:prstGeom>
          <a:solidFill>
            <a:srgbClr val="B87333"/>
          </a:solidFill>
          <a:ln w="12700">
            <a:solidFill>
              <a:srgbClr val="B87333"/>
            </a:solidFill>
            <a:prstDash val="solid"/>
          </a:ln>
        </p:spPr>
      </p:sp>
      <p:sp>
        <p:nvSpPr>
          <p:cNvPr id="12" name="Text 10"/>
          <p:cNvSpPr/>
          <p:nvPr/>
        </p:nvSpPr>
        <p:spPr>
          <a:xfrm>
            <a:off x="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A</a:t>
            </a:r>
            <a:endParaRPr lang="en-US" sz="1000" dirty="0"/>
          </a:p>
        </p:txBody>
      </p:sp>
      <p:sp>
        <p:nvSpPr>
          <p:cNvPr id="13" name="Text 11"/>
          <p:cNvSpPr/>
          <p:nvPr/>
        </p:nvSpPr>
        <p:spPr>
          <a:xfrm>
            <a:off x="0" y="2414016"/>
            <a:ext cx="1709928" cy="256032"/>
          </a:xfrm>
          <a:prstGeom prst="rect">
            <a:avLst/>
          </a:prstGeom>
          <a:noFill/>
          <a:ln/>
        </p:spPr>
        <p:txBody>
          <a:bodyPr wrap="square" rtlCol="0" anchor="ctr"/>
          <a:lstStyle/>
          <a:p>
            <a:pPr algn="ctr" indent="0" marL="0">
              <a:buNone/>
            </a:pPr>
            <a:r>
              <a:rPr lang="en-US" sz="900" dirty="0">
                <a:solidFill>
                  <a:srgbClr val="FFFFFF"/>
                </a:solidFill>
              </a:rPr>
              <a:t>Intro</a:t>
            </a:r>
            <a:endParaRPr lang="en-US" sz="900" dirty="0"/>
          </a:p>
        </p:txBody>
      </p:sp>
      <p:sp>
        <p:nvSpPr>
          <p:cNvPr id="14" name="Shape 12"/>
          <p:cNvSpPr/>
          <p:nvPr/>
        </p:nvSpPr>
        <p:spPr>
          <a:xfrm>
            <a:off x="1737360" y="2121408"/>
            <a:ext cx="1709928" cy="548640"/>
          </a:xfrm>
          <a:prstGeom prst="rect">
            <a:avLst/>
          </a:prstGeom>
          <a:solidFill>
            <a:srgbClr val="0D9488"/>
          </a:solidFill>
          <a:ln w="12700">
            <a:solidFill>
              <a:srgbClr val="0D9488"/>
            </a:solidFill>
            <a:prstDash val="solid"/>
          </a:ln>
        </p:spPr>
      </p:sp>
      <p:sp>
        <p:nvSpPr>
          <p:cNvPr id="15" name="Text 13"/>
          <p:cNvSpPr/>
          <p:nvPr/>
        </p:nvSpPr>
        <p:spPr>
          <a:xfrm>
            <a:off x="173736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B</a:t>
            </a:r>
            <a:endParaRPr lang="en-US" sz="1000" dirty="0"/>
          </a:p>
        </p:txBody>
      </p:sp>
      <p:sp>
        <p:nvSpPr>
          <p:cNvPr id="16" name="Text 14"/>
          <p:cNvSpPr/>
          <p:nvPr/>
        </p:nvSpPr>
        <p:spPr>
          <a:xfrm>
            <a:off x="1737360" y="2414016"/>
            <a:ext cx="1709928" cy="256032"/>
          </a:xfrm>
          <a:prstGeom prst="rect">
            <a:avLst/>
          </a:prstGeom>
          <a:noFill/>
          <a:ln/>
        </p:spPr>
        <p:txBody>
          <a:bodyPr wrap="square" rtlCol="0" anchor="ctr"/>
          <a:lstStyle/>
          <a:p>
            <a:pPr algn="ctr" indent="0" marL="0">
              <a:buNone/>
            </a:pPr>
            <a:r>
              <a:rPr lang="en-US" sz="900" dirty="0">
                <a:solidFill>
                  <a:srgbClr val="FFFFFF"/>
                </a:solidFill>
              </a:rPr>
              <a:t>Verse</a:t>
            </a:r>
            <a:endParaRPr lang="en-US" sz="900" dirty="0"/>
          </a:p>
        </p:txBody>
      </p:sp>
      <p:sp>
        <p:nvSpPr>
          <p:cNvPr id="17" name="Shape 15"/>
          <p:cNvSpPr/>
          <p:nvPr/>
        </p:nvSpPr>
        <p:spPr>
          <a:xfrm>
            <a:off x="3474720" y="2121408"/>
            <a:ext cx="1709928" cy="548640"/>
          </a:xfrm>
          <a:prstGeom prst="rect">
            <a:avLst/>
          </a:prstGeom>
          <a:solidFill>
            <a:srgbClr val="2D6A4F"/>
          </a:solidFill>
          <a:ln w="12700">
            <a:solidFill>
              <a:srgbClr val="2D6A4F"/>
            </a:solidFill>
            <a:prstDash val="solid"/>
          </a:ln>
        </p:spPr>
      </p:sp>
      <p:sp>
        <p:nvSpPr>
          <p:cNvPr id="18" name="Text 16"/>
          <p:cNvSpPr/>
          <p:nvPr/>
        </p:nvSpPr>
        <p:spPr>
          <a:xfrm>
            <a:off x="347472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C</a:t>
            </a:r>
            <a:endParaRPr lang="en-US" sz="1000" dirty="0"/>
          </a:p>
        </p:txBody>
      </p:sp>
      <p:sp>
        <p:nvSpPr>
          <p:cNvPr id="19" name="Text 17"/>
          <p:cNvSpPr/>
          <p:nvPr/>
        </p:nvSpPr>
        <p:spPr>
          <a:xfrm>
            <a:off x="3474720" y="2414016"/>
            <a:ext cx="1709928" cy="256032"/>
          </a:xfrm>
          <a:prstGeom prst="rect">
            <a:avLst/>
          </a:prstGeom>
          <a:noFill/>
          <a:ln/>
        </p:spPr>
        <p:txBody>
          <a:bodyPr wrap="square" rtlCol="0" anchor="ctr"/>
          <a:lstStyle/>
          <a:p>
            <a:pPr algn="ctr" indent="0" marL="0">
              <a:buNone/>
            </a:pPr>
            <a:r>
              <a:rPr lang="en-US" sz="900" dirty="0">
                <a:solidFill>
                  <a:srgbClr val="FFFFFF"/>
                </a:solidFill>
              </a:rPr>
              <a:t>Chorus</a:t>
            </a:r>
            <a:endParaRPr lang="en-US" sz="900" dirty="0"/>
          </a:p>
        </p:txBody>
      </p:sp>
      <p:sp>
        <p:nvSpPr>
          <p:cNvPr id="20" name="Shape 18"/>
          <p:cNvSpPr/>
          <p:nvPr/>
        </p:nvSpPr>
        <p:spPr>
          <a:xfrm>
            <a:off x="5212080" y="2121408"/>
            <a:ext cx="1709928" cy="548640"/>
          </a:xfrm>
          <a:prstGeom prst="rect">
            <a:avLst/>
          </a:prstGeom>
          <a:solidFill>
            <a:srgbClr val="0D9488"/>
          </a:solidFill>
          <a:ln w="12700">
            <a:solidFill>
              <a:srgbClr val="0D9488"/>
            </a:solidFill>
            <a:prstDash val="solid"/>
          </a:ln>
        </p:spPr>
      </p:sp>
      <p:sp>
        <p:nvSpPr>
          <p:cNvPr id="21" name="Text 19"/>
          <p:cNvSpPr/>
          <p:nvPr/>
        </p:nvSpPr>
        <p:spPr>
          <a:xfrm>
            <a:off x="521208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B</a:t>
            </a:r>
            <a:endParaRPr lang="en-US" sz="1000" dirty="0"/>
          </a:p>
        </p:txBody>
      </p:sp>
      <p:sp>
        <p:nvSpPr>
          <p:cNvPr id="22" name="Text 20"/>
          <p:cNvSpPr/>
          <p:nvPr/>
        </p:nvSpPr>
        <p:spPr>
          <a:xfrm>
            <a:off x="5212080" y="2414016"/>
            <a:ext cx="1709928" cy="256032"/>
          </a:xfrm>
          <a:prstGeom prst="rect">
            <a:avLst/>
          </a:prstGeom>
          <a:noFill/>
          <a:ln/>
        </p:spPr>
        <p:txBody>
          <a:bodyPr wrap="square" rtlCol="0" anchor="ctr"/>
          <a:lstStyle/>
          <a:p>
            <a:pPr algn="ctr" indent="0" marL="0">
              <a:buNone/>
            </a:pPr>
            <a:r>
              <a:rPr lang="en-US" sz="900" dirty="0">
                <a:solidFill>
                  <a:srgbClr val="FFFFFF"/>
                </a:solidFill>
              </a:rPr>
              <a:t>Verse</a:t>
            </a:r>
            <a:endParaRPr lang="en-US" sz="900" dirty="0"/>
          </a:p>
        </p:txBody>
      </p:sp>
      <p:sp>
        <p:nvSpPr>
          <p:cNvPr id="23" name="Shape 21"/>
          <p:cNvSpPr/>
          <p:nvPr/>
        </p:nvSpPr>
        <p:spPr>
          <a:xfrm>
            <a:off x="6949440" y="2121408"/>
            <a:ext cx="1709928" cy="548640"/>
          </a:xfrm>
          <a:prstGeom prst="rect">
            <a:avLst/>
          </a:prstGeom>
          <a:solidFill>
            <a:srgbClr val="2D6A4F"/>
          </a:solidFill>
          <a:ln w="12700">
            <a:solidFill>
              <a:srgbClr val="2D6A4F"/>
            </a:solidFill>
            <a:prstDash val="solid"/>
          </a:ln>
        </p:spPr>
      </p:sp>
      <p:sp>
        <p:nvSpPr>
          <p:cNvPr id="24" name="Text 22"/>
          <p:cNvSpPr/>
          <p:nvPr/>
        </p:nvSpPr>
        <p:spPr>
          <a:xfrm>
            <a:off x="694944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C</a:t>
            </a:r>
            <a:endParaRPr lang="en-US" sz="1000" dirty="0"/>
          </a:p>
        </p:txBody>
      </p:sp>
      <p:sp>
        <p:nvSpPr>
          <p:cNvPr id="25" name="Text 23"/>
          <p:cNvSpPr/>
          <p:nvPr/>
        </p:nvSpPr>
        <p:spPr>
          <a:xfrm>
            <a:off x="6949440" y="2414016"/>
            <a:ext cx="1709928" cy="256032"/>
          </a:xfrm>
          <a:prstGeom prst="rect">
            <a:avLst/>
          </a:prstGeom>
          <a:noFill/>
          <a:ln/>
        </p:spPr>
        <p:txBody>
          <a:bodyPr wrap="square" rtlCol="0" anchor="ctr"/>
          <a:lstStyle/>
          <a:p>
            <a:pPr algn="ctr" indent="0" marL="0">
              <a:buNone/>
            </a:pPr>
            <a:r>
              <a:rPr lang="en-US" sz="900" dirty="0">
                <a:solidFill>
                  <a:srgbClr val="FFFFFF"/>
                </a:solidFill>
              </a:rPr>
              <a:t>Chorus</a:t>
            </a:r>
            <a:endParaRPr lang="en-US" sz="900" dirty="0"/>
          </a:p>
        </p:txBody>
      </p:sp>
      <p:sp>
        <p:nvSpPr>
          <p:cNvPr id="26" name="Shape 24"/>
          <p:cNvSpPr/>
          <p:nvPr/>
        </p:nvSpPr>
        <p:spPr>
          <a:xfrm>
            <a:off x="8686800" y="2121408"/>
            <a:ext cx="1709928" cy="548640"/>
          </a:xfrm>
          <a:prstGeom prst="rect">
            <a:avLst/>
          </a:prstGeom>
          <a:solidFill>
            <a:srgbClr val="B45309"/>
          </a:solidFill>
          <a:ln w="12700">
            <a:solidFill>
              <a:srgbClr val="B45309"/>
            </a:solidFill>
            <a:prstDash val="solid"/>
          </a:ln>
        </p:spPr>
      </p:sp>
      <p:sp>
        <p:nvSpPr>
          <p:cNvPr id="27" name="Text 25"/>
          <p:cNvSpPr/>
          <p:nvPr/>
        </p:nvSpPr>
        <p:spPr>
          <a:xfrm>
            <a:off x="868680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D</a:t>
            </a:r>
            <a:endParaRPr lang="en-US" sz="1000" dirty="0"/>
          </a:p>
        </p:txBody>
      </p:sp>
      <p:sp>
        <p:nvSpPr>
          <p:cNvPr id="28" name="Text 26"/>
          <p:cNvSpPr/>
          <p:nvPr/>
        </p:nvSpPr>
        <p:spPr>
          <a:xfrm>
            <a:off x="8686800" y="2414016"/>
            <a:ext cx="1709928" cy="256032"/>
          </a:xfrm>
          <a:prstGeom prst="rect">
            <a:avLst/>
          </a:prstGeom>
          <a:noFill/>
          <a:ln/>
        </p:spPr>
        <p:txBody>
          <a:bodyPr wrap="square" rtlCol="0" anchor="ctr"/>
          <a:lstStyle/>
          <a:p>
            <a:pPr algn="ctr" indent="0" marL="0">
              <a:buNone/>
            </a:pPr>
            <a:r>
              <a:rPr lang="en-US" sz="900" dirty="0">
                <a:solidFill>
                  <a:srgbClr val="FFFFFF"/>
                </a:solidFill>
              </a:rPr>
              <a:t>Bridge</a:t>
            </a:r>
            <a:endParaRPr lang="en-US" sz="900" dirty="0"/>
          </a:p>
        </p:txBody>
      </p:sp>
      <p:sp>
        <p:nvSpPr>
          <p:cNvPr id="29" name="Shape 27"/>
          <p:cNvSpPr/>
          <p:nvPr/>
        </p:nvSpPr>
        <p:spPr>
          <a:xfrm>
            <a:off x="10424160" y="2121408"/>
            <a:ext cx="1709928" cy="548640"/>
          </a:xfrm>
          <a:prstGeom prst="rect">
            <a:avLst/>
          </a:prstGeom>
          <a:solidFill>
            <a:srgbClr val="B87333"/>
          </a:solidFill>
          <a:ln w="12700">
            <a:solidFill>
              <a:srgbClr val="B87333"/>
            </a:solidFill>
            <a:prstDash val="solid"/>
          </a:ln>
        </p:spPr>
      </p:sp>
      <p:sp>
        <p:nvSpPr>
          <p:cNvPr id="30" name="Text 28"/>
          <p:cNvSpPr/>
          <p:nvPr/>
        </p:nvSpPr>
        <p:spPr>
          <a:xfrm>
            <a:off x="10424160" y="2121408"/>
            <a:ext cx="1709928" cy="292608"/>
          </a:xfrm>
          <a:prstGeom prst="rect">
            <a:avLst/>
          </a:prstGeom>
          <a:noFill/>
          <a:ln/>
        </p:spPr>
        <p:txBody>
          <a:bodyPr wrap="square" rtlCol="0" anchor="ctr"/>
          <a:lstStyle/>
          <a:p>
            <a:pPr algn="ctr" indent="0" marL="0">
              <a:buNone/>
            </a:pPr>
            <a:r>
              <a:rPr lang="en-US" sz="1000" b="1" dirty="0">
                <a:solidFill>
                  <a:srgbClr val="FFFFFF"/>
                </a:solidFill>
              </a:rPr>
              <a:t>Struct: A</a:t>
            </a:r>
            <a:endParaRPr lang="en-US" sz="1000" dirty="0"/>
          </a:p>
        </p:txBody>
      </p:sp>
      <p:sp>
        <p:nvSpPr>
          <p:cNvPr id="31" name="Text 29"/>
          <p:cNvSpPr/>
          <p:nvPr/>
        </p:nvSpPr>
        <p:spPr>
          <a:xfrm>
            <a:off x="10424160" y="2414016"/>
            <a:ext cx="1709928" cy="256032"/>
          </a:xfrm>
          <a:prstGeom prst="rect">
            <a:avLst/>
          </a:prstGeom>
          <a:noFill/>
          <a:ln/>
        </p:spPr>
        <p:txBody>
          <a:bodyPr wrap="square" rtlCol="0" anchor="ctr"/>
          <a:lstStyle/>
          <a:p>
            <a:pPr algn="ctr" indent="0" marL="0">
              <a:buNone/>
            </a:pPr>
            <a:r>
              <a:rPr lang="en-US" sz="900" dirty="0">
                <a:solidFill>
                  <a:srgbClr val="FFFFFF"/>
                </a:solidFill>
              </a:rPr>
              <a:t>Outro</a:t>
            </a:r>
            <a:endParaRPr lang="en-US" sz="900" dirty="0"/>
          </a:p>
        </p:txBody>
      </p:sp>
      <p:sp>
        <p:nvSpPr>
          <p:cNvPr id="32" name="Shape 30"/>
          <p:cNvSpPr/>
          <p:nvPr/>
        </p:nvSpPr>
        <p:spPr>
          <a:xfrm>
            <a:off x="274320" y="2852928"/>
            <a:ext cx="5577840" cy="3913632"/>
          </a:xfrm>
          <a:prstGeom prst="rect">
            <a:avLst/>
          </a:prstGeom>
          <a:solidFill>
            <a:srgbClr val="FFFFFF"/>
          </a:solidFill>
          <a:ln w="12700">
            <a:solidFill>
              <a:srgbClr val="E2E8F0"/>
            </a:solidFill>
            <a:prstDash val="solid"/>
          </a:ln>
        </p:spPr>
      </p:sp>
      <p:sp>
        <p:nvSpPr>
          <p:cNvPr id="33" name="Shape 31"/>
          <p:cNvSpPr/>
          <p:nvPr/>
        </p:nvSpPr>
        <p:spPr>
          <a:xfrm>
            <a:off x="274320" y="2852928"/>
            <a:ext cx="5577840" cy="502920"/>
          </a:xfrm>
          <a:prstGeom prst="rect">
            <a:avLst/>
          </a:prstGeom>
          <a:solidFill>
            <a:srgbClr val="B87333"/>
          </a:solidFill>
          <a:ln w="12700">
            <a:solidFill>
              <a:srgbClr val="B87333"/>
            </a:solidFill>
            <a:prstDash val="solid"/>
          </a:ln>
        </p:spPr>
      </p:sp>
      <p:sp>
        <p:nvSpPr>
          <p:cNvPr id="34" name="Text 32"/>
          <p:cNvSpPr/>
          <p:nvPr/>
        </p:nvSpPr>
        <p:spPr>
          <a:xfrm>
            <a:off x="365760" y="2852928"/>
            <a:ext cx="5394960" cy="5029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Structural Label (A/B/C)</a:t>
            </a:r>
            <a:endParaRPr lang="en-US" sz="1400" dirty="0"/>
          </a:p>
        </p:txBody>
      </p:sp>
      <p:sp>
        <p:nvSpPr>
          <p:cNvPr id="35" name="Text 33"/>
          <p:cNvSpPr/>
          <p:nvPr/>
        </p:nvSpPr>
        <p:spPr>
          <a:xfrm>
            <a:off x="365760" y="3401568"/>
            <a:ext cx="5394960" cy="411480"/>
          </a:xfrm>
          <a:prstGeom prst="rect">
            <a:avLst/>
          </a:prstGeom>
          <a:noFill/>
          <a:ln/>
        </p:spPr>
        <p:txBody>
          <a:bodyPr wrap="square" rtlCol="0" anchor="ctr"/>
          <a:lstStyle/>
          <a:p>
            <a:pPr algn="l" indent="0" marL="0">
              <a:buNone/>
            </a:pPr>
            <a:r>
              <a:rPr lang="en-US" sz="1100" b="1" i="1" dirty="0">
                <a:solidFill>
                  <a:srgbClr val="B87333"/>
                </a:solidFill>
                <a:latin typeface="Calibri" pitchFamily="34" charset="0"/>
                <a:ea typeface="Calibri" pitchFamily="34" charset="-122"/>
                <a:cs typeface="Calibri" pitchFamily="34" charset="-120"/>
              </a:rPr>
              <a:t>'This segment sounds like that one' — measurable, reliable</a:t>
            </a:r>
            <a:endParaRPr lang="en-US" sz="1100" dirty="0"/>
          </a:p>
        </p:txBody>
      </p:sp>
      <p:sp>
        <p:nvSpPr>
          <p:cNvPr id="36" name="Text 34"/>
          <p:cNvSpPr/>
          <p:nvPr/>
        </p:nvSpPr>
        <p:spPr>
          <a:xfrm>
            <a:off x="365760" y="3858768"/>
            <a:ext cx="5394960" cy="283464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Clustered from Chroma, MFCC, RMS, onset density descriptors</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Agglomerative clustering; best k chosen by silhouette score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A = most frequent cluster, B = second — does NOT mean Verse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Honest claim: audio descriptor similarity was measured</a:t>
            </a:r>
            <a:endParaRPr lang="en-US" sz="1100" dirty="0"/>
          </a:p>
        </p:txBody>
      </p:sp>
      <p:sp>
        <p:nvSpPr>
          <p:cNvPr id="37" name="Shape 35"/>
          <p:cNvSpPr/>
          <p:nvPr/>
        </p:nvSpPr>
        <p:spPr>
          <a:xfrm>
            <a:off x="6263640" y="2852928"/>
            <a:ext cx="5577840" cy="3913632"/>
          </a:xfrm>
          <a:prstGeom prst="rect">
            <a:avLst/>
          </a:prstGeom>
          <a:solidFill>
            <a:srgbClr val="FFFFFF"/>
          </a:solidFill>
          <a:ln w="12700">
            <a:solidFill>
              <a:srgbClr val="E2E8F0"/>
            </a:solidFill>
            <a:prstDash val="solid"/>
          </a:ln>
        </p:spPr>
      </p:sp>
      <p:sp>
        <p:nvSpPr>
          <p:cNvPr id="38" name="Shape 36"/>
          <p:cNvSpPr/>
          <p:nvPr/>
        </p:nvSpPr>
        <p:spPr>
          <a:xfrm>
            <a:off x="6263640" y="2852928"/>
            <a:ext cx="5577840" cy="502920"/>
          </a:xfrm>
          <a:prstGeom prst="rect">
            <a:avLst/>
          </a:prstGeom>
          <a:solidFill>
            <a:srgbClr val="0D9488"/>
          </a:solidFill>
          <a:ln w="12700">
            <a:solidFill>
              <a:srgbClr val="0D9488"/>
            </a:solidFill>
            <a:prstDash val="solid"/>
          </a:ln>
        </p:spPr>
      </p:sp>
      <p:sp>
        <p:nvSpPr>
          <p:cNvPr id="39" name="Text 37"/>
          <p:cNvSpPr/>
          <p:nvPr/>
        </p:nvSpPr>
        <p:spPr>
          <a:xfrm>
            <a:off x="6355080" y="2852928"/>
            <a:ext cx="5394960" cy="50292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Semantic Label (Intro/Verse/Chorus…)</a:t>
            </a:r>
            <a:endParaRPr lang="en-US" sz="1400" dirty="0"/>
          </a:p>
        </p:txBody>
      </p:sp>
      <p:sp>
        <p:nvSpPr>
          <p:cNvPr id="40" name="Text 38"/>
          <p:cNvSpPr/>
          <p:nvPr/>
        </p:nvSpPr>
        <p:spPr>
          <a:xfrm>
            <a:off x="6355080" y="3401568"/>
            <a:ext cx="5394960" cy="411480"/>
          </a:xfrm>
          <a:prstGeom prst="rect">
            <a:avLst/>
          </a:prstGeom>
          <a:noFill/>
          <a:ln/>
        </p:spPr>
        <p:txBody>
          <a:bodyPr wrap="square" rtlCol="0" anchor="ctr"/>
          <a:lstStyle/>
          <a:p>
            <a:pPr algn="l" indent="0" marL="0">
              <a:buNone/>
            </a:pPr>
            <a:r>
              <a:rPr lang="en-US" sz="1100" b="1" i="1" dirty="0">
                <a:solidFill>
                  <a:srgbClr val="0D9488"/>
                </a:solidFill>
                <a:latin typeface="Calibri" pitchFamily="34" charset="0"/>
                <a:ea typeface="Calibri" pitchFamily="34" charset="-122"/>
                <a:cs typeface="Calibri" pitchFamily="34" charset="-120"/>
              </a:rPr>
              <a:t>'This section plays the musical role of X' — heuristic, weaker</a:t>
            </a:r>
            <a:endParaRPr lang="en-US" sz="1100" dirty="0"/>
          </a:p>
        </p:txBody>
      </p:sp>
      <p:sp>
        <p:nvSpPr>
          <p:cNvPr id="41" name="Text 39"/>
          <p:cNvSpPr/>
          <p:nvPr/>
        </p:nvSpPr>
        <p:spPr>
          <a:xfrm>
            <a:off x="6355080" y="3858768"/>
            <a:ext cx="5394960" cy="2834640"/>
          </a:xfrm>
          <a:prstGeom prst="rect">
            <a:avLst/>
          </a:prstGeom>
          <a:noFill/>
          <a:ln/>
        </p:spPr>
        <p:txBody>
          <a:bodyPr wrap="square" lIns="76200" tIns="127000" rIns="127000" bIns="76200" rtlCol="0" anchor="t"/>
          <a:lstStyle/>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Heuristic rules: unique first segment in early 20% → Intro</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Repeated cluster with higher RMS energy → Chorus candidate</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Does NOT overwrite the structural label — stored separately</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Each label carries semantic_confidence and semantic_reason</a:t>
            </a:r>
            <a:endParaRPr lang="en-US" sz="1100" dirty="0"/>
          </a:p>
          <a:p>
            <a:pPr marL="342900" indent="-342900">
              <a:buSzPct val="100000"/>
              <a:buChar char="•"/>
            </a:pPr>
            <a:r>
              <a:rPr lang="en-US" sz="1100" dirty="0">
                <a:solidFill>
                  <a:srgbClr val="4A5568"/>
                </a:solidFill>
                <a:latin typeface="Calibri" pitchFamily="34" charset="0"/>
                <a:ea typeface="Calibri" pitchFamily="34" charset="-122"/>
                <a:cs typeface="Calibri" pitchFamily="34" charset="-120"/>
              </a:rPr>
              <a:t>If evidence is insufficient: 'Unknown' or 'Early/Middle/Late'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Evaluation — Why Two Tolerances?</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One metric can hide which specific problem the system has</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18/21</a:t>
            </a:r>
            <a:endParaRPr lang="en-US" sz="800" dirty="0"/>
          </a:p>
        </p:txBody>
      </p:sp>
      <p:sp>
        <p:nvSpPr>
          <p:cNvPr id="9" name="Shape 7"/>
          <p:cNvSpPr/>
          <p:nvPr/>
        </p:nvSpPr>
        <p:spPr>
          <a:xfrm>
            <a:off x="274320" y="1298448"/>
            <a:ext cx="11612880" cy="658368"/>
          </a:xfrm>
          <a:prstGeom prst="roundRect">
            <a:avLst/>
          </a:prstGeom>
          <a:solidFill>
            <a:srgbClr val="EFF6FF"/>
          </a:solidFill>
          <a:ln w="12700">
            <a:solidFill>
              <a:srgbClr val="0D9488"/>
            </a:solidFill>
            <a:prstDash val="solid"/>
          </a:ln>
        </p:spPr>
      </p:sp>
      <p:sp>
        <p:nvSpPr>
          <p:cNvPr id="10" name="Text 8"/>
          <p:cNvSpPr/>
          <p:nvPr/>
        </p:nvSpPr>
        <p:spPr>
          <a:xfrm>
            <a:off x="457200" y="1298448"/>
            <a:ext cx="11247120" cy="658368"/>
          </a:xfrm>
          <a:prstGeom prst="rect">
            <a:avLst/>
          </a:prstGeom>
          <a:noFill/>
          <a:ln/>
        </p:spPr>
        <p:txBody>
          <a:bodyPr wrap="square" rtlCol="0" anchor="ctr"/>
          <a:lstStyle/>
          <a:p>
            <a:pPr algn="l" indent="0" marL="0">
              <a:buNone/>
            </a:pPr>
            <a:r>
              <a:rPr lang="en-US" sz="1200" dirty="0">
                <a:solidFill>
                  <a:srgbClr val="1B2A4A"/>
                </a:solidFill>
                <a:latin typeface="Calibri" pitchFamily="34" charset="0"/>
                <a:ea typeface="Calibri" pitchFamily="34" charset="-122"/>
                <a:cs typeface="Calibri" pitchFamily="34" charset="-120"/>
              </a:rPr>
              <a:t>Evaluating with a single tolerance can obscure a system's real weakness. Without two tolerances, you cannot distinguish a system that finds the right region (but is imprecise in timing) from one that misses boundaries entirely.</a:t>
            </a:r>
            <a:endParaRPr lang="en-US" sz="1200" dirty="0"/>
          </a:p>
        </p:txBody>
      </p:sp>
      <p:sp>
        <p:nvSpPr>
          <p:cNvPr id="11" name="Shape 9"/>
          <p:cNvSpPr/>
          <p:nvPr/>
        </p:nvSpPr>
        <p:spPr>
          <a:xfrm>
            <a:off x="274320" y="2121408"/>
            <a:ext cx="5577840" cy="333756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12" name="Shape 10"/>
          <p:cNvSpPr/>
          <p:nvPr/>
        </p:nvSpPr>
        <p:spPr>
          <a:xfrm>
            <a:off x="274320" y="2121408"/>
            <a:ext cx="5577840" cy="594360"/>
          </a:xfrm>
          <a:prstGeom prst="rect">
            <a:avLst/>
          </a:prstGeom>
          <a:solidFill>
            <a:srgbClr val="B87333"/>
          </a:solidFill>
          <a:ln w="12700">
            <a:solidFill>
              <a:srgbClr val="B87333"/>
            </a:solidFill>
            <a:prstDash val="solid"/>
          </a:ln>
        </p:spPr>
      </p:sp>
      <p:sp>
        <p:nvSpPr>
          <p:cNvPr id="13" name="Text 11"/>
          <p:cNvSpPr/>
          <p:nvPr/>
        </p:nvSpPr>
        <p:spPr>
          <a:xfrm>
            <a:off x="365760" y="2121408"/>
            <a:ext cx="5394960" cy="5943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±0.5 s — Strict</a:t>
            </a:r>
            <a:endParaRPr lang="en-US" sz="1600" dirty="0"/>
          </a:p>
        </p:txBody>
      </p:sp>
      <p:sp>
        <p:nvSpPr>
          <p:cNvPr id="14" name="Text 12"/>
          <p:cNvSpPr/>
          <p:nvPr/>
        </p:nvSpPr>
        <p:spPr>
          <a:xfrm>
            <a:off x="365760" y="2770632"/>
            <a:ext cx="5394960" cy="347472"/>
          </a:xfrm>
          <a:prstGeom prst="rect">
            <a:avLst/>
          </a:prstGeom>
          <a:noFill/>
          <a:ln/>
        </p:spPr>
        <p:txBody>
          <a:bodyPr wrap="square" rtlCol="0" anchor="ctr"/>
          <a:lstStyle/>
          <a:p>
            <a:pPr algn="l" indent="0" marL="0">
              <a:buNone/>
            </a:pPr>
            <a:r>
              <a:rPr lang="en-US" sz="1300" b="1" dirty="0">
                <a:solidFill>
                  <a:srgbClr val="B87333"/>
                </a:solidFill>
                <a:latin typeface="Georgia" pitchFamily="34" charset="0"/>
                <a:ea typeface="Georgia" pitchFamily="34" charset="-122"/>
                <a:cs typeface="Georgia" pitchFamily="34" charset="-120"/>
              </a:rPr>
              <a:t>Q: Did we find the exact moment?</a:t>
            </a:r>
            <a:endParaRPr lang="en-US" sz="1300" dirty="0"/>
          </a:p>
        </p:txBody>
      </p:sp>
      <p:sp>
        <p:nvSpPr>
          <p:cNvPr id="15" name="Text 13"/>
          <p:cNvSpPr/>
          <p:nvPr/>
        </p:nvSpPr>
        <p:spPr>
          <a:xfrm>
            <a:off x="365760" y="3172968"/>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Measures timestamp localization precision. Low F1@0.5 means the algorithm finds the right structural region but is imprecise about the exact second.</a:t>
            </a:r>
            <a:endParaRPr lang="en-US" sz="1100" dirty="0"/>
          </a:p>
        </p:txBody>
      </p:sp>
      <p:sp>
        <p:nvSpPr>
          <p:cNvPr id="16" name="Shape 14"/>
          <p:cNvSpPr/>
          <p:nvPr/>
        </p:nvSpPr>
        <p:spPr>
          <a:xfrm>
            <a:off x="365760" y="4206240"/>
            <a:ext cx="5394960" cy="1115568"/>
          </a:xfrm>
          <a:prstGeom prst="roundRect">
            <a:avLst/>
          </a:prstGeom>
          <a:solidFill>
            <a:srgbClr val="FFF7ED"/>
          </a:solidFill>
          <a:ln w="12700">
            <a:solidFill>
              <a:srgbClr val="B45309"/>
            </a:solidFill>
            <a:prstDash val="solid"/>
          </a:ln>
        </p:spPr>
      </p:sp>
      <p:sp>
        <p:nvSpPr>
          <p:cNvPr id="17" name="Text 15"/>
          <p:cNvSpPr/>
          <p:nvPr/>
        </p:nvSpPr>
        <p:spPr>
          <a:xfrm>
            <a:off x="457200" y="4251960"/>
            <a:ext cx="5212080" cy="1024128"/>
          </a:xfrm>
          <a:prstGeom prst="rect">
            <a:avLst/>
          </a:prstGeom>
          <a:noFill/>
          <a:ln/>
        </p:spPr>
        <p:txBody>
          <a:bodyPr wrap="square" rtlCol="0" anchor="ctr"/>
          <a:lstStyle/>
          <a:p>
            <a:pPr algn="l" indent="0" marL="0">
              <a:buNone/>
            </a:pPr>
            <a:r>
              <a:rPr lang="en-US" sz="1100" dirty="0">
                <a:solidFill>
                  <a:srgbClr val="B45309"/>
                </a:solidFill>
                <a:latin typeface="Calibri" pitchFamily="34" charset="0"/>
                <a:ea typeface="Calibri" pitchFamily="34" charset="-122"/>
                <a:cs typeface="Calibri" pitchFamily="34" charset="-120"/>
              </a:rPr>
              <a:t>If low: Snapping, frame resolution, or SSM smoothing is shifting the timestamp</a:t>
            </a:r>
            <a:endParaRPr lang="en-US" sz="1100" dirty="0"/>
          </a:p>
        </p:txBody>
      </p:sp>
      <p:sp>
        <p:nvSpPr>
          <p:cNvPr id="18" name="Shape 16"/>
          <p:cNvSpPr/>
          <p:nvPr/>
        </p:nvSpPr>
        <p:spPr>
          <a:xfrm>
            <a:off x="6263640" y="2121408"/>
            <a:ext cx="5577840" cy="3337560"/>
          </a:xfrm>
          <a:prstGeom prst="roundRect">
            <a:avLst/>
          </a:prstGeom>
          <a:solidFill>
            <a:srgbClr val="FFFFFF"/>
          </a:solidFill>
          <a:ln w="12700">
            <a:solidFill>
              <a:srgbClr val="E2E8F0"/>
            </a:solidFill>
            <a:prstDash val="solid"/>
          </a:ln>
          <a:effectLst>
            <a:outerShdw sx="100000" sy="100000" kx="0" ky="0" algn="bl" rotWithShape="0" blurRad="63500" dist="12700" dir="8100000">
              <a:srgbClr val="000000">
                <a:alpha val="7000"/>
              </a:srgbClr>
            </a:outerShdw>
          </a:effectLst>
        </p:spPr>
      </p:sp>
      <p:sp>
        <p:nvSpPr>
          <p:cNvPr id="19" name="Shape 17"/>
          <p:cNvSpPr/>
          <p:nvPr/>
        </p:nvSpPr>
        <p:spPr>
          <a:xfrm>
            <a:off x="6263640" y="2121408"/>
            <a:ext cx="5577840" cy="594360"/>
          </a:xfrm>
          <a:prstGeom prst="rect">
            <a:avLst/>
          </a:prstGeom>
          <a:solidFill>
            <a:srgbClr val="0D9488"/>
          </a:solidFill>
          <a:ln w="12700">
            <a:solidFill>
              <a:srgbClr val="0D9488"/>
            </a:solidFill>
            <a:prstDash val="solid"/>
          </a:ln>
        </p:spPr>
      </p:sp>
      <p:sp>
        <p:nvSpPr>
          <p:cNvPr id="20" name="Text 18"/>
          <p:cNvSpPr/>
          <p:nvPr/>
        </p:nvSpPr>
        <p:spPr>
          <a:xfrm>
            <a:off x="6355080" y="2121408"/>
            <a:ext cx="5394960" cy="59436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±3.0 s — Lenient</a:t>
            </a:r>
            <a:endParaRPr lang="en-US" sz="1600" dirty="0"/>
          </a:p>
        </p:txBody>
      </p:sp>
      <p:sp>
        <p:nvSpPr>
          <p:cNvPr id="21" name="Text 19"/>
          <p:cNvSpPr/>
          <p:nvPr/>
        </p:nvSpPr>
        <p:spPr>
          <a:xfrm>
            <a:off x="6355080" y="2770632"/>
            <a:ext cx="5394960" cy="347472"/>
          </a:xfrm>
          <a:prstGeom prst="rect">
            <a:avLst/>
          </a:prstGeom>
          <a:noFill/>
          <a:ln/>
        </p:spPr>
        <p:txBody>
          <a:bodyPr wrap="square" rtlCol="0" anchor="ctr"/>
          <a:lstStyle/>
          <a:p>
            <a:pPr algn="l" indent="0" marL="0">
              <a:buNone/>
            </a:pPr>
            <a:r>
              <a:rPr lang="en-US" sz="1300" b="1" dirty="0">
                <a:solidFill>
                  <a:srgbClr val="0D9488"/>
                </a:solidFill>
                <a:latin typeface="Georgia" pitchFamily="34" charset="0"/>
                <a:ea typeface="Georgia" pitchFamily="34" charset="-122"/>
                <a:cs typeface="Georgia" pitchFamily="34" charset="-120"/>
              </a:rPr>
              <a:t>Q: Did we detect the right region?</a:t>
            </a:r>
            <a:endParaRPr lang="en-US" sz="1300" dirty="0"/>
          </a:p>
        </p:txBody>
      </p:sp>
      <p:sp>
        <p:nvSpPr>
          <p:cNvPr id="22" name="Text 20"/>
          <p:cNvSpPr/>
          <p:nvPr/>
        </p:nvSpPr>
        <p:spPr>
          <a:xfrm>
            <a:off x="6355080" y="3172968"/>
            <a:ext cx="5394960" cy="960120"/>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Measures structural region detection. If F1@3.0 is high, the system understands the musical structure. High @3 but low @0.5 → good region detection, weak timing.</a:t>
            </a:r>
            <a:endParaRPr lang="en-US" sz="1100" dirty="0"/>
          </a:p>
        </p:txBody>
      </p:sp>
      <p:sp>
        <p:nvSpPr>
          <p:cNvPr id="23" name="Shape 21"/>
          <p:cNvSpPr/>
          <p:nvPr/>
        </p:nvSpPr>
        <p:spPr>
          <a:xfrm>
            <a:off x="6355080" y="4206240"/>
            <a:ext cx="5394960" cy="1115568"/>
          </a:xfrm>
          <a:prstGeom prst="roundRect">
            <a:avLst/>
          </a:prstGeom>
          <a:solidFill>
            <a:srgbClr val="FFF7ED"/>
          </a:solidFill>
          <a:ln w="12700">
            <a:solidFill>
              <a:srgbClr val="B45309"/>
            </a:solidFill>
            <a:prstDash val="solid"/>
          </a:ln>
        </p:spPr>
      </p:sp>
      <p:sp>
        <p:nvSpPr>
          <p:cNvPr id="24" name="Text 22"/>
          <p:cNvSpPr/>
          <p:nvPr/>
        </p:nvSpPr>
        <p:spPr>
          <a:xfrm>
            <a:off x="6446520" y="4251960"/>
            <a:ext cx="5212080" cy="1024128"/>
          </a:xfrm>
          <a:prstGeom prst="rect">
            <a:avLst/>
          </a:prstGeom>
          <a:noFill/>
          <a:ln/>
        </p:spPr>
        <p:txBody>
          <a:bodyPr wrap="square" rtlCol="0" anchor="ctr"/>
          <a:lstStyle/>
          <a:p>
            <a:pPr algn="l" indent="0" marL="0">
              <a:buNone/>
            </a:pPr>
            <a:r>
              <a:rPr lang="en-US" sz="1100" dirty="0">
                <a:solidFill>
                  <a:srgbClr val="B45309"/>
                </a:solidFill>
                <a:latin typeface="Calibri" pitchFamily="34" charset="0"/>
                <a:ea typeface="Calibri" pitchFamily="34" charset="-122"/>
                <a:cs typeface="Calibri" pitchFamily="34" charset="-120"/>
              </a:rPr>
              <a:t>If low: Fundamental boundary detection or boundary count problem</a:t>
            </a:r>
            <a:endParaRPr lang="en-US" sz="1100" dirty="0"/>
          </a:p>
        </p:txBody>
      </p:sp>
      <p:sp>
        <p:nvSpPr>
          <p:cNvPr id="25" name="Shape 23"/>
          <p:cNvSpPr/>
          <p:nvPr/>
        </p:nvSpPr>
        <p:spPr>
          <a:xfrm>
            <a:off x="274320" y="5577840"/>
            <a:ext cx="11612880" cy="384048"/>
          </a:xfrm>
          <a:prstGeom prst="rect">
            <a:avLst/>
          </a:prstGeom>
          <a:solidFill>
            <a:srgbClr val="243556"/>
          </a:solidFill>
          <a:ln w="12700">
            <a:solidFill>
              <a:srgbClr val="243556"/>
            </a:solidFill>
            <a:prstDash val="solid"/>
          </a:ln>
        </p:spPr>
      </p:sp>
      <p:sp>
        <p:nvSpPr>
          <p:cNvPr id="26" name="Text 24"/>
          <p:cNvSpPr/>
          <p:nvPr/>
        </p:nvSpPr>
        <p:spPr>
          <a:xfrm>
            <a:off x="274320" y="5577840"/>
            <a:ext cx="11612880" cy="384048"/>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Interpretation guide</a:t>
            </a:r>
            <a:endParaRPr lang="en-US" sz="1200" dirty="0"/>
          </a:p>
        </p:txBody>
      </p:sp>
      <p:sp>
        <p:nvSpPr>
          <p:cNvPr id="27" name="Shape 25"/>
          <p:cNvSpPr/>
          <p:nvPr/>
        </p:nvSpPr>
        <p:spPr>
          <a:xfrm>
            <a:off x="274320" y="6035040"/>
            <a:ext cx="4114800" cy="292608"/>
          </a:xfrm>
          <a:prstGeom prst="roundRect">
            <a:avLst/>
          </a:prstGeom>
          <a:solidFill>
            <a:srgbClr val="B87333"/>
          </a:solidFill>
          <a:ln w="12700">
            <a:solidFill>
              <a:srgbClr val="B87333"/>
            </a:solidFill>
            <a:prstDash val="solid"/>
          </a:ln>
        </p:spPr>
      </p:sp>
      <p:sp>
        <p:nvSpPr>
          <p:cNvPr id="28" name="Text 26"/>
          <p:cNvSpPr/>
          <p:nvPr/>
        </p:nvSpPr>
        <p:spPr>
          <a:xfrm>
            <a:off x="274320" y="6035040"/>
            <a:ext cx="4114800" cy="292608"/>
          </a:xfrm>
          <a:prstGeom prst="rect">
            <a:avLst/>
          </a:prstGeom>
          <a:noFill/>
          <a:ln/>
        </p:spPr>
        <p:txBody>
          <a:bodyPr wrap="square" lIns="0" tIns="0" rIns="0" bIns="0" rtlCol="0" anchor="ctr"/>
          <a:lstStyle/>
          <a:p>
            <a:pPr algn="ctr" indent="0" marL="0">
              <a:buNone/>
            </a:pPr>
            <a:r>
              <a:rPr lang="en-US" sz="950" b="1" dirty="0">
                <a:solidFill>
                  <a:srgbClr val="FFFFFF"/>
                </a:solidFill>
              </a:rPr>
              <a:t>F1@3 high,  F1@0.5 low</a:t>
            </a:r>
            <a:endParaRPr lang="en-US" sz="950" dirty="0"/>
          </a:p>
        </p:txBody>
      </p:sp>
      <p:sp>
        <p:nvSpPr>
          <p:cNvPr id="29" name="Text 27"/>
          <p:cNvSpPr/>
          <p:nvPr/>
        </p:nvSpPr>
        <p:spPr>
          <a:xfrm>
            <a:off x="4480560" y="6035040"/>
            <a:ext cx="7498080" cy="292608"/>
          </a:xfrm>
          <a:prstGeom prst="rect">
            <a:avLst/>
          </a:prstGeom>
          <a:noFill/>
          <a:ln/>
        </p:spPr>
        <p:txBody>
          <a:bodyPr wrap="square"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Correct region detected — timestamp precision is the bottleneck → improve snapping</a:t>
            </a:r>
            <a:endParaRPr lang="en-US" sz="1050" dirty="0"/>
          </a:p>
        </p:txBody>
      </p:sp>
      <p:sp>
        <p:nvSpPr>
          <p:cNvPr id="30" name="Shape 28"/>
          <p:cNvSpPr/>
          <p:nvPr/>
        </p:nvSpPr>
        <p:spPr>
          <a:xfrm>
            <a:off x="274320" y="6382512"/>
            <a:ext cx="4114800" cy="292608"/>
          </a:xfrm>
          <a:prstGeom prst="roundRect">
            <a:avLst/>
          </a:prstGeom>
          <a:solidFill>
            <a:srgbClr val="B87333"/>
          </a:solidFill>
          <a:ln w="12700">
            <a:solidFill>
              <a:srgbClr val="B87333"/>
            </a:solidFill>
            <a:prstDash val="solid"/>
          </a:ln>
        </p:spPr>
      </p:sp>
      <p:sp>
        <p:nvSpPr>
          <p:cNvPr id="31" name="Text 29"/>
          <p:cNvSpPr/>
          <p:nvPr/>
        </p:nvSpPr>
        <p:spPr>
          <a:xfrm>
            <a:off x="274320" y="6382512"/>
            <a:ext cx="4114800" cy="292608"/>
          </a:xfrm>
          <a:prstGeom prst="rect">
            <a:avLst/>
          </a:prstGeom>
          <a:noFill/>
          <a:ln/>
        </p:spPr>
        <p:txBody>
          <a:bodyPr wrap="square" lIns="0" tIns="0" rIns="0" bIns="0" rtlCol="0" anchor="ctr"/>
          <a:lstStyle/>
          <a:p>
            <a:pPr algn="ctr" indent="0" marL="0">
              <a:buNone/>
            </a:pPr>
            <a:r>
              <a:rPr lang="en-US" sz="950" b="1" dirty="0">
                <a:solidFill>
                  <a:srgbClr val="FFFFFF"/>
                </a:solidFill>
              </a:rPr>
              <a:t>Both high</a:t>
            </a:r>
            <a:endParaRPr lang="en-US" sz="950" dirty="0"/>
          </a:p>
        </p:txBody>
      </p:sp>
      <p:sp>
        <p:nvSpPr>
          <p:cNvPr id="32" name="Text 30"/>
          <p:cNvSpPr/>
          <p:nvPr/>
        </p:nvSpPr>
        <p:spPr>
          <a:xfrm>
            <a:off x="4480560" y="6382512"/>
            <a:ext cx="7498080" cy="292608"/>
          </a:xfrm>
          <a:prstGeom prst="rect">
            <a:avLst/>
          </a:prstGeom>
          <a:noFill/>
          <a:ln/>
        </p:spPr>
        <p:txBody>
          <a:bodyPr wrap="square"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Both region and timing are correct → well-functioning system</a:t>
            </a:r>
            <a:endParaRPr lang="en-US" sz="1050" dirty="0"/>
          </a:p>
        </p:txBody>
      </p:sp>
      <p:sp>
        <p:nvSpPr>
          <p:cNvPr id="33" name="Shape 31"/>
          <p:cNvSpPr/>
          <p:nvPr/>
        </p:nvSpPr>
        <p:spPr>
          <a:xfrm>
            <a:off x="274320" y="6729984"/>
            <a:ext cx="4114800" cy="292608"/>
          </a:xfrm>
          <a:prstGeom prst="roundRect">
            <a:avLst/>
          </a:prstGeom>
          <a:solidFill>
            <a:srgbClr val="B87333"/>
          </a:solidFill>
          <a:ln w="12700">
            <a:solidFill>
              <a:srgbClr val="B87333"/>
            </a:solidFill>
            <a:prstDash val="solid"/>
          </a:ln>
        </p:spPr>
      </p:sp>
      <p:sp>
        <p:nvSpPr>
          <p:cNvPr id="34" name="Text 32"/>
          <p:cNvSpPr/>
          <p:nvPr/>
        </p:nvSpPr>
        <p:spPr>
          <a:xfrm>
            <a:off x="274320" y="6729984"/>
            <a:ext cx="4114800" cy="292608"/>
          </a:xfrm>
          <a:prstGeom prst="rect">
            <a:avLst/>
          </a:prstGeom>
          <a:noFill/>
          <a:ln/>
        </p:spPr>
        <p:txBody>
          <a:bodyPr wrap="square" lIns="0" tIns="0" rIns="0" bIns="0" rtlCol="0" anchor="ctr"/>
          <a:lstStyle/>
          <a:p>
            <a:pPr algn="ctr" indent="0" marL="0">
              <a:buNone/>
            </a:pPr>
            <a:r>
              <a:rPr lang="en-US" sz="950" b="1" dirty="0">
                <a:solidFill>
                  <a:srgbClr val="FFFFFF"/>
                </a:solidFill>
              </a:rPr>
              <a:t>Both low</a:t>
            </a:r>
            <a:endParaRPr lang="en-US" sz="950" dirty="0"/>
          </a:p>
        </p:txBody>
      </p:sp>
      <p:sp>
        <p:nvSpPr>
          <p:cNvPr id="35" name="Text 33"/>
          <p:cNvSpPr/>
          <p:nvPr/>
        </p:nvSpPr>
        <p:spPr>
          <a:xfrm>
            <a:off x="4480560" y="6729984"/>
            <a:ext cx="7498080" cy="292608"/>
          </a:xfrm>
          <a:prstGeom prst="rect">
            <a:avLst/>
          </a:prstGeom>
          <a:noFill/>
          <a:ln/>
        </p:spPr>
        <p:txBody>
          <a:bodyPr wrap="square" rtlCol="0" anchor="ctr"/>
          <a:lstStyle/>
          <a:p>
            <a:pPr algn="l" indent="0" marL="0">
              <a:buNone/>
            </a:pPr>
            <a:r>
              <a:rPr lang="en-US" sz="1050" dirty="0">
                <a:solidFill>
                  <a:srgbClr val="E2E8F0"/>
                </a:solidFill>
                <a:latin typeface="Calibri" pitchFamily="34" charset="0"/>
                <a:ea typeface="Calibri" pitchFamily="34" charset="-122"/>
                <a:cs typeface="Calibri" pitchFamily="34" charset="-120"/>
              </a:rPr>
              <a:t>→  Fundamental boundary detection issue → wrong boundary count or location</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Full Dataset Evaluation Results</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14 SALAMI tracks · custom_librosa vs MSAF Baseline · mir_eval.segment.detection</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19/21</a:t>
            </a:r>
            <a:endParaRPr lang="en-US" sz="800" dirty="0"/>
          </a:p>
        </p:txBody>
      </p:sp>
      <p:sp>
        <p:nvSpPr>
          <p:cNvPr id="9" name="Shape 7"/>
          <p:cNvSpPr/>
          <p:nvPr/>
        </p:nvSpPr>
        <p:spPr>
          <a:xfrm>
            <a:off x="274320" y="1325880"/>
            <a:ext cx="7315200" cy="5074920"/>
          </a:xfrm>
          <a:prstGeom prst="rect">
            <a:avLst/>
          </a:prstGeom>
          <a:solidFill>
            <a:srgbClr val="FFFFFF"/>
          </a:solidFill>
          <a:ln w="12700">
            <a:solidFill>
              <a:srgbClr val="E2E8F0"/>
            </a:solidFill>
            <a:prstDash val="solid"/>
          </a:ln>
        </p:spPr>
      </p:sp>
      <p:sp>
        <p:nvSpPr>
          <p:cNvPr id="10" name="Shape 8"/>
          <p:cNvSpPr/>
          <p:nvPr/>
        </p:nvSpPr>
        <p:spPr>
          <a:xfrm>
            <a:off x="1814170" y="1325880"/>
            <a:ext cx="18288" cy="5074920"/>
          </a:xfrm>
          <a:prstGeom prst="rect">
            <a:avLst/>
          </a:prstGeom>
          <a:solidFill>
            <a:srgbClr val="B87333"/>
          </a:solidFill>
          <a:ln w="12700">
            <a:solidFill>
              <a:srgbClr val="B87333"/>
            </a:solidFill>
            <a:prstDash val="solid"/>
          </a:ln>
        </p:spPr>
      </p:sp>
      <p:sp>
        <p:nvSpPr>
          <p:cNvPr id="11" name="Shape 9"/>
          <p:cNvSpPr/>
          <p:nvPr/>
        </p:nvSpPr>
        <p:spPr>
          <a:xfrm>
            <a:off x="864761" y="1325880"/>
            <a:ext cx="18288" cy="5074920"/>
          </a:xfrm>
          <a:prstGeom prst="rect">
            <a:avLst/>
          </a:prstGeom>
          <a:solidFill>
            <a:srgbClr val="4A5568"/>
          </a:solidFill>
          <a:ln w="12700">
            <a:solidFill>
              <a:srgbClr val="4A5568"/>
            </a:solidFill>
            <a:prstDash val="solid"/>
          </a:ln>
        </p:spPr>
      </p:sp>
      <p:sp>
        <p:nvSpPr>
          <p:cNvPr id="12" name="Shape 10"/>
          <p:cNvSpPr/>
          <p:nvPr/>
        </p:nvSpPr>
        <p:spPr>
          <a:xfrm>
            <a:off x="274320" y="1463040"/>
            <a:ext cx="0" cy="256032"/>
          </a:xfrm>
          <a:prstGeom prst="rect">
            <a:avLst/>
          </a:prstGeom>
          <a:solidFill>
            <a:srgbClr val="B87333"/>
          </a:solidFill>
          <a:ln w="12700">
            <a:solidFill>
              <a:srgbClr val="B87333"/>
            </a:solidFill>
            <a:prstDash val="solid"/>
          </a:ln>
        </p:spPr>
      </p:sp>
      <p:sp>
        <p:nvSpPr>
          <p:cNvPr id="13" name="Shape 11"/>
          <p:cNvSpPr/>
          <p:nvPr/>
        </p:nvSpPr>
        <p:spPr>
          <a:xfrm>
            <a:off x="274320" y="1755648"/>
            <a:ext cx="0" cy="256032"/>
          </a:xfrm>
          <a:prstGeom prst="rect">
            <a:avLst/>
          </a:prstGeom>
          <a:solidFill>
            <a:srgbClr val="9CA3AF"/>
          </a:solidFill>
          <a:ln w="12700">
            <a:solidFill>
              <a:srgbClr val="9CA3AF"/>
            </a:solidFill>
            <a:prstDash val="solid"/>
          </a:ln>
        </p:spPr>
      </p:sp>
      <p:sp>
        <p:nvSpPr>
          <p:cNvPr id="14" name="Shape 12"/>
          <p:cNvSpPr/>
          <p:nvPr/>
        </p:nvSpPr>
        <p:spPr>
          <a:xfrm>
            <a:off x="274320" y="2121408"/>
            <a:ext cx="1221638" cy="256032"/>
          </a:xfrm>
          <a:prstGeom prst="rect">
            <a:avLst/>
          </a:prstGeom>
          <a:solidFill>
            <a:srgbClr val="B87333"/>
          </a:solidFill>
          <a:ln w="12700">
            <a:solidFill>
              <a:srgbClr val="B87333"/>
            </a:solidFill>
            <a:prstDash val="solid"/>
          </a:ln>
        </p:spPr>
      </p:sp>
      <p:sp>
        <p:nvSpPr>
          <p:cNvPr id="15" name="Shape 13"/>
          <p:cNvSpPr/>
          <p:nvPr/>
        </p:nvSpPr>
        <p:spPr>
          <a:xfrm>
            <a:off x="274320" y="2414016"/>
            <a:ext cx="1623974" cy="256032"/>
          </a:xfrm>
          <a:prstGeom prst="rect">
            <a:avLst/>
          </a:prstGeom>
          <a:solidFill>
            <a:srgbClr val="9CA3AF"/>
          </a:solidFill>
          <a:ln w="12700">
            <a:solidFill>
              <a:srgbClr val="9CA3AF"/>
            </a:solidFill>
            <a:prstDash val="solid"/>
          </a:ln>
        </p:spPr>
      </p:sp>
      <p:sp>
        <p:nvSpPr>
          <p:cNvPr id="16" name="Text 14"/>
          <p:cNvSpPr/>
          <p:nvPr/>
        </p:nvSpPr>
        <p:spPr>
          <a:xfrm>
            <a:off x="1523390" y="2121408"/>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0.167</a:t>
            </a:r>
            <a:endParaRPr lang="en-US" sz="700" dirty="0"/>
          </a:p>
        </p:txBody>
      </p:sp>
      <p:sp>
        <p:nvSpPr>
          <p:cNvPr id="17" name="Text 15"/>
          <p:cNvSpPr/>
          <p:nvPr/>
        </p:nvSpPr>
        <p:spPr>
          <a:xfrm>
            <a:off x="1925726" y="2414016"/>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0.222</a:t>
            </a:r>
            <a:endParaRPr lang="en-US" sz="700" dirty="0"/>
          </a:p>
        </p:txBody>
      </p:sp>
      <p:sp>
        <p:nvSpPr>
          <p:cNvPr id="18" name="Shape 16"/>
          <p:cNvSpPr/>
          <p:nvPr/>
        </p:nvSpPr>
        <p:spPr>
          <a:xfrm>
            <a:off x="274320" y="2779776"/>
            <a:ext cx="409651" cy="256032"/>
          </a:xfrm>
          <a:prstGeom prst="rect">
            <a:avLst/>
          </a:prstGeom>
          <a:solidFill>
            <a:srgbClr val="B87333"/>
          </a:solidFill>
          <a:ln w="12700">
            <a:solidFill>
              <a:srgbClr val="B87333"/>
            </a:solidFill>
            <a:prstDash val="solid"/>
          </a:ln>
        </p:spPr>
      </p:sp>
      <p:sp>
        <p:nvSpPr>
          <p:cNvPr id="19" name="Shape 17"/>
          <p:cNvSpPr/>
          <p:nvPr/>
        </p:nvSpPr>
        <p:spPr>
          <a:xfrm>
            <a:off x="274320" y="3072384"/>
            <a:ext cx="731520" cy="256032"/>
          </a:xfrm>
          <a:prstGeom prst="rect">
            <a:avLst/>
          </a:prstGeom>
          <a:solidFill>
            <a:srgbClr val="9CA3AF"/>
          </a:solidFill>
          <a:ln w="12700">
            <a:solidFill>
              <a:srgbClr val="9CA3AF"/>
            </a:solidFill>
            <a:prstDash val="solid"/>
          </a:ln>
        </p:spPr>
      </p:sp>
      <p:sp>
        <p:nvSpPr>
          <p:cNvPr id="20" name="Text 18"/>
          <p:cNvSpPr/>
          <p:nvPr/>
        </p:nvSpPr>
        <p:spPr>
          <a:xfrm>
            <a:off x="711403" y="2779776"/>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0.056</a:t>
            </a:r>
            <a:endParaRPr lang="en-US" sz="700" dirty="0"/>
          </a:p>
        </p:txBody>
      </p:sp>
      <p:sp>
        <p:nvSpPr>
          <p:cNvPr id="21" name="Text 19"/>
          <p:cNvSpPr/>
          <p:nvPr/>
        </p:nvSpPr>
        <p:spPr>
          <a:xfrm>
            <a:off x="1033272" y="3072384"/>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0.100</a:t>
            </a:r>
            <a:endParaRPr lang="en-US" sz="700" dirty="0"/>
          </a:p>
        </p:txBody>
      </p:sp>
      <p:sp>
        <p:nvSpPr>
          <p:cNvPr id="22" name="Shape 20"/>
          <p:cNvSpPr/>
          <p:nvPr/>
        </p:nvSpPr>
        <p:spPr>
          <a:xfrm>
            <a:off x="274320" y="3438144"/>
            <a:ext cx="431597" cy="256032"/>
          </a:xfrm>
          <a:prstGeom prst="rect">
            <a:avLst/>
          </a:prstGeom>
          <a:solidFill>
            <a:srgbClr val="B87333"/>
          </a:solidFill>
          <a:ln w="12700">
            <a:solidFill>
              <a:srgbClr val="B87333"/>
            </a:solidFill>
            <a:prstDash val="solid"/>
          </a:ln>
        </p:spPr>
      </p:sp>
      <p:sp>
        <p:nvSpPr>
          <p:cNvPr id="23" name="Shape 21"/>
          <p:cNvSpPr/>
          <p:nvPr/>
        </p:nvSpPr>
        <p:spPr>
          <a:xfrm>
            <a:off x="274320" y="3730752"/>
            <a:ext cx="665683" cy="256032"/>
          </a:xfrm>
          <a:prstGeom prst="rect">
            <a:avLst/>
          </a:prstGeom>
          <a:solidFill>
            <a:srgbClr val="9CA3AF"/>
          </a:solidFill>
          <a:ln w="12700">
            <a:solidFill>
              <a:srgbClr val="9CA3AF"/>
            </a:solidFill>
            <a:prstDash val="solid"/>
          </a:ln>
        </p:spPr>
      </p:sp>
      <p:sp>
        <p:nvSpPr>
          <p:cNvPr id="24" name="Text 22"/>
          <p:cNvSpPr/>
          <p:nvPr/>
        </p:nvSpPr>
        <p:spPr>
          <a:xfrm>
            <a:off x="733349" y="3438144"/>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0.059</a:t>
            </a:r>
            <a:endParaRPr lang="en-US" sz="700" dirty="0"/>
          </a:p>
        </p:txBody>
      </p:sp>
      <p:sp>
        <p:nvSpPr>
          <p:cNvPr id="25" name="Text 23"/>
          <p:cNvSpPr/>
          <p:nvPr/>
        </p:nvSpPr>
        <p:spPr>
          <a:xfrm>
            <a:off x="967435" y="3730752"/>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0.091</a:t>
            </a:r>
            <a:endParaRPr lang="en-US" sz="700" dirty="0"/>
          </a:p>
        </p:txBody>
      </p:sp>
      <p:sp>
        <p:nvSpPr>
          <p:cNvPr id="26" name="Shape 24"/>
          <p:cNvSpPr/>
          <p:nvPr/>
        </p:nvSpPr>
        <p:spPr>
          <a:xfrm>
            <a:off x="274320" y="4096512"/>
            <a:ext cx="1828800" cy="256032"/>
          </a:xfrm>
          <a:prstGeom prst="rect">
            <a:avLst/>
          </a:prstGeom>
          <a:solidFill>
            <a:srgbClr val="B87333"/>
          </a:solidFill>
          <a:ln w="12700">
            <a:solidFill>
              <a:srgbClr val="B87333"/>
            </a:solidFill>
            <a:prstDash val="solid"/>
          </a:ln>
        </p:spPr>
      </p:sp>
      <p:sp>
        <p:nvSpPr>
          <p:cNvPr id="27" name="Shape 25"/>
          <p:cNvSpPr/>
          <p:nvPr/>
        </p:nvSpPr>
        <p:spPr>
          <a:xfrm>
            <a:off x="274320" y="4389120"/>
            <a:ext cx="636422" cy="256032"/>
          </a:xfrm>
          <a:prstGeom prst="rect">
            <a:avLst/>
          </a:prstGeom>
          <a:solidFill>
            <a:srgbClr val="9CA3AF"/>
          </a:solidFill>
          <a:ln w="12700">
            <a:solidFill>
              <a:srgbClr val="9CA3AF"/>
            </a:solidFill>
            <a:prstDash val="solid"/>
          </a:ln>
        </p:spPr>
      </p:sp>
      <p:sp>
        <p:nvSpPr>
          <p:cNvPr id="28" name="Text 26"/>
          <p:cNvSpPr/>
          <p:nvPr/>
        </p:nvSpPr>
        <p:spPr>
          <a:xfrm>
            <a:off x="2130552" y="4096512"/>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0.250</a:t>
            </a:r>
            <a:endParaRPr lang="en-US" sz="700" dirty="0"/>
          </a:p>
        </p:txBody>
      </p:sp>
      <p:sp>
        <p:nvSpPr>
          <p:cNvPr id="29" name="Text 27"/>
          <p:cNvSpPr/>
          <p:nvPr/>
        </p:nvSpPr>
        <p:spPr>
          <a:xfrm>
            <a:off x="938174" y="4389120"/>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0.087</a:t>
            </a:r>
            <a:endParaRPr lang="en-US" sz="700" dirty="0"/>
          </a:p>
        </p:txBody>
      </p:sp>
      <p:sp>
        <p:nvSpPr>
          <p:cNvPr id="30" name="Shape 28"/>
          <p:cNvSpPr/>
          <p:nvPr/>
        </p:nvSpPr>
        <p:spPr>
          <a:xfrm>
            <a:off x="274320" y="4754880"/>
            <a:ext cx="943661" cy="256032"/>
          </a:xfrm>
          <a:prstGeom prst="rect">
            <a:avLst/>
          </a:prstGeom>
          <a:solidFill>
            <a:srgbClr val="B87333"/>
          </a:solidFill>
          <a:ln w="12700">
            <a:solidFill>
              <a:srgbClr val="B87333"/>
            </a:solidFill>
            <a:prstDash val="solid"/>
          </a:ln>
        </p:spPr>
      </p:sp>
      <p:sp>
        <p:nvSpPr>
          <p:cNvPr id="31" name="Shape 29"/>
          <p:cNvSpPr/>
          <p:nvPr/>
        </p:nvSpPr>
        <p:spPr>
          <a:xfrm>
            <a:off x="274320" y="5047488"/>
            <a:ext cx="1397203" cy="256032"/>
          </a:xfrm>
          <a:prstGeom prst="rect">
            <a:avLst/>
          </a:prstGeom>
          <a:solidFill>
            <a:srgbClr val="9CA3AF"/>
          </a:solidFill>
          <a:ln w="12700">
            <a:solidFill>
              <a:srgbClr val="9CA3AF"/>
            </a:solidFill>
            <a:prstDash val="solid"/>
          </a:ln>
        </p:spPr>
      </p:sp>
      <p:sp>
        <p:nvSpPr>
          <p:cNvPr id="32" name="Text 30"/>
          <p:cNvSpPr/>
          <p:nvPr/>
        </p:nvSpPr>
        <p:spPr>
          <a:xfrm>
            <a:off x="1245413" y="4754880"/>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0.129</a:t>
            </a:r>
            <a:endParaRPr lang="en-US" sz="700" dirty="0"/>
          </a:p>
        </p:txBody>
      </p:sp>
      <p:sp>
        <p:nvSpPr>
          <p:cNvPr id="33" name="Text 31"/>
          <p:cNvSpPr/>
          <p:nvPr/>
        </p:nvSpPr>
        <p:spPr>
          <a:xfrm>
            <a:off x="1698955" y="5047488"/>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0.191</a:t>
            </a:r>
            <a:endParaRPr lang="en-US" sz="700" dirty="0"/>
          </a:p>
        </p:txBody>
      </p:sp>
      <p:sp>
        <p:nvSpPr>
          <p:cNvPr id="34" name="Shape 32"/>
          <p:cNvSpPr/>
          <p:nvPr/>
        </p:nvSpPr>
        <p:spPr>
          <a:xfrm>
            <a:off x="274320" y="5413248"/>
            <a:ext cx="5661965" cy="256032"/>
          </a:xfrm>
          <a:prstGeom prst="rect">
            <a:avLst/>
          </a:prstGeom>
          <a:solidFill>
            <a:srgbClr val="B87333"/>
          </a:solidFill>
          <a:ln w="12700">
            <a:solidFill>
              <a:srgbClr val="B87333"/>
            </a:solidFill>
            <a:prstDash val="solid"/>
          </a:ln>
        </p:spPr>
      </p:sp>
      <p:sp>
        <p:nvSpPr>
          <p:cNvPr id="35" name="Shape 33"/>
          <p:cNvSpPr/>
          <p:nvPr/>
        </p:nvSpPr>
        <p:spPr>
          <a:xfrm>
            <a:off x="274320" y="5705856"/>
            <a:ext cx="519379" cy="256032"/>
          </a:xfrm>
          <a:prstGeom prst="rect">
            <a:avLst/>
          </a:prstGeom>
          <a:solidFill>
            <a:srgbClr val="9CA3AF"/>
          </a:solidFill>
          <a:ln w="12700">
            <a:solidFill>
              <a:srgbClr val="9CA3AF"/>
            </a:solidFill>
            <a:prstDash val="solid"/>
          </a:ln>
        </p:spPr>
      </p:sp>
      <p:sp>
        <p:nvSpPr>
          <p:cNvPr id="36" name="Text 34"/>
          <p:cNvSpPr/>
          <p:nvPr/>
        </p:nvSpPr>
        <p:spPr>
          <a:xfrm>
            <a:off x="5963717" y="5413248"/>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0.774</a:t>
            </a:r>
            <a:endParaRPr lang="en-US" sz="700" dirty="0"/>
          </a:p>
        </p:txBody>
      </p:sp>
      <p:sp>
        <p:nvSpPr>
          <p:cNvPr id="37" name="Text 35"/>
          <p:cNvSpPr/>
          <p:nvPr/>
        </p:nvSpPr>
        <p:spPr>
          <a:xfrm>
            <a:off x="821131" y="5705856"/>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0.071</a:t>
            </a:r>
            <a:endParaRPr lang="en-US" sz="700" dirty="0"/>
          </a:p>
        </p:txBody>
      </p:sp>
      <p:sp>
        <p:nvSpPr>
          <p:cNvPr id="38" name="Shape 36"/>
          <p:cNvSpPr/>
          <p:nvPr/>
        </p:nvSpPr>
        <p:spPr>
          <a:xfrm>
            <a:off x="274320" y="6071616"/>
            <a:ext cx="1565453" cy="256032"/>
          </a:xfrm>
          <a:prstGeom prst="rect">
            <a:avLst/>
          </a:prstGeom>
          <a:solidFill>
            <a:srgbClr val="B87333"/>
          </a:solidFill>
          <a:ln w="12700">
            <a:solidFill>
              <a:srgbClr val="B87333"/>
            </a:solidFill>
            <a:prstDash val="solid"/>
          </a:ln>
        </p:spPr>
      </p:sp>
      <p:sp>
        <p:nvSpPr>
          <p:cNvPr id="39" name="Shape 37"/>
          <p:cNvSpPr/>
          <p:nvPr/>
        </p:nvSpPr>
        <p:spPr>
          <a:xfrm>
            <a:off x="274320" y="6364224"/>
            <a:ext cx="0" cy="256032"/>
          </a:xfrm>
          <a:prstGeom prst="rect">
            <a:avLst/>
          </a:prstGeom>
          <a:solidFill>
            <a:srgbClr val="9CA3AF"/>
          </a:solidFill>
          <a:ln w="12700">
            <a:solidFill>
              <a:srgbClr val="9CA3AF"/>
            </a:solidFill>
            <a:prstDash val="solid"/>
          </a:ln>
        </p:spPr>
      </p:sp>
      <p:sp>
        <p:nvSpPr>
          <p:cNvPr id="40" name="Text 38"/>
          <p:cNvSpPr/>
          <p:nvPr/>
        </p:nvSpPr>
        <p:spPr>
          <a:xfrm>
            <a:off x="1867205" y="6071616"/>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0.214</a:t>
            </a:r>
            <a:endParaRPr lang="en-US" sz="700" dirty="0"/>
          </a:p>
        </p:txBody>
      </p:sp>
      <p:sp>
        <p:nvSpPr>
          <p:cNvPr id="41" name="Shape 39"/>
          <p:cNvSpPr/>
          <p:nvPr/>
        </p:nvSpPr>
        <p:spPr>
          <a:xfrm>
            <a:off x="274320" y="6729984"/>
            <a:ext cx="431597" cy="256032"/>
          </a:xfrm>
          <a:prstGeom prst="rect">
            <a:avLst/>
          </a:prstGeom>
          <a:solidFill>
            <a:srgbClr val="B87333"/>
          </a:solidFill>
          <a:ln w="12700">
            <a:solidFill>
              <a:srgbClr val="B87333"/>
            </a:solidFill>
            <a:prstDash val="solid"/>
          </a:ln>
        </p:spPr>
      </p:sp>
      <p:sp>
        <p:nvSpPr>
          <p:cNvPr id="42" name="Shape 40"/>
          <p:cNvSpPr/>
          <p:nvPr/>
        </p:nvSpPr>
        <p:spPr>
          <a:xfrm>
            <a:off x="274320" y="7022592"/>
            <a:ext cx="0" cy="256032"/>
          </a:xfrm>
          <a:prstGeom prst="rect">
            <a:avLst/>
          </a:prstGeom>
          <a:solidFill>
            <a:srgbClr val="9CA3AF"/>
          </a:solidFill>
          <a:ln w="12700">
            <a:solidFill>
              <a:srgbClr val="9CA3AF"/>
            </a:solidFill>
            <a:prstDash val="solid"/>
          </a:ln>
        </p:spPr>
      </p:sp>
      <p:sp>
        <p:nvSpPr>
          <p:cNvPr id="43" name="Text 41"/>
          <p:cNvSpPr/>
          <p:nvPr/>
        </p:nvSpPr>
        <p:spPr>
          <a:xfrm>
            <a:off x="733349" y="6729984"/>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0.059</a:t>
            </a:r>
            <a:endParaRPr lang="en-US" sz="700" dirty="0"/>
          </a:p>
        </p:txBody>
      </p:sp>
      <p:sp>
        <p:nvSpPr>
          <p:cNvPr id="44" name="Shape 42"/>
          <p:cNvSpPr/>
          <p:nvPr/>
        </p:nvSpPr>
        <p:spPr>
          <a:xfrm>
            <a:off x="274320" y="7388352"/>
            <a:ext cx="5120640" cy="256032"/>
          </a:xfrm>
          <a:prstGeom prst="rect">
            <a:avLst/>
          </a:prstGeom>
          <a:solidFill>
            <a:srgbClr val="B87333"/>
          </a:solidFill>
          <a:ln w="12700">
            <a:solidFill>
              <a:srgbClr val="B87333"/>
            </a:solidFill>
            <a:prstDash val="solid"/>
          </a:ln>
        </p:spPr>
      </p:sp>
      <p:sp>
        <p:nvSpPr>
          <p:cNvPr id="45" name="Shape 43"/>
          <p:cNvSpPr/>
          <p:nvPr/>
        </p:nvSpPr>
        <p:spPr>
          <a:xfrm>
            <a:off x="274320" y="7680960"/>
            <a:ext cx="811987" cy="256032"/>
          </a:xfrm>
          <a:prstGeom prst="rect">
            <a:avLst/>
          </a:prstGeom>
          <a:solidFill>
            <a:srgbClr val="9CA3AF"/>
          </a:solidFill>
          <a:ln w="12700">
            <a:solidFill>
              <a:srgbClr val="9CA3AF"/>
            </a:solidFill>
            <a:prstDash val="solid"/>
          </a:ln>
        </p:spPr>
      </p:sp>
      <p:sp>
        <p:nvSpPr>
          <p:cNvPr id="46" name="Text 44"/>
          <p:cNvSpPr/>
          <p:nvPr/>
        </p:nvSpPr>
        <p:spPr>
          <a:xfrm>
            <a:off x="5422392" y="7388352"/>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0.700</a:t>
            </a:r>
            <a:endParaRPr lang="en-US" sz="700" dirty="0"/>
          </a:p>
        </p:txBody>
      </p:sp>
      <p:sp>
        <p:nvSpPr>
          <p:cNvPr id="47" name="Text 45"/>
          <p:cNvSpPr/>
          <p:nvPr/>
        </p:nvSpPr>
        <p:spPr>
          <a:xfrm>
            <a:off x="1113739" y="7680960"/>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0.111</a:t>
            </a:r>
            <a:endParaRPr lang="en-US" sz="700" dirty="0"/>
          </a:p>
        </p:txBody>
      </p:sp>
      <p:sp>
        <p:nvSpPr>
          <p:cNvPr id="48" name="Shape 46"/>
          <p:cNvSpPr/>
          <p:nvPr/>
        </p:nvSpPr>
        <p:spPr>
          <a:xfrm>
            <a:off x="274320" y="8046720"/>
            <a:ext cx="541325" cy="256032"/>
          </a:xfrm>
          <a:prstGeom prst="rect">
            <a:avLst/>
          </a:prstGeom>
          <a:solidFill>
            <a:srgbClr val="B87333"/>
          </a:solidFill>
          <a:ln w="12700">
            <a:solidFill>
              <a:srgbClr val="B87333"/>
            </a:solidFill>
            <a:prstDash val="solid"/>
          </a:ln>
        </p:spPr>
      </p:sp>
      <p:sp>
        <p:nvSpPr>
          <p:cNvPr id="49" name="Shape 47"/>
          <p:cNvSpPr/>
          <p:nvPr/>
        </p:nvSpPr>
        <p:spPr>
          <a:xfrm>
            <a:off x="274320" y="8339328"/>
            <a:ext cx="541325" cy="256032"/>
          </a:xfrm>
          <a:prstGeom prst="rect">
            <a:avLst/>
          </a:prstGeom>
          <a:solidFill>
            <a:srgbClr val="9CA3AF"/>
          </a:solidFill>
          <a:ln w="12700">
            <a:solidFill>
              <a:srgbClr val="9CA3AF"/>
            </a:solidFill>
            <a:prstDash val="solid"/>
          </a:ln>
        </p:spPr>
      </p:sp>
      <p:sp>
        <p:nvSpPr>
          <p:cNvPr id="50" name="Text 48"/>
          <p:cNvSpPr/>
          <p:nvPr/>
        </p:nvSpPr>
        <p:spPr>
          <a:xfrm>
            <a:off x="843077" y="8046720"/>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0.074</a:t>
            </a:r>
            <a:endParaRPr lang="en-US" sz="700" dirty="0"/>
          </a:p>
        </p:txBody>
      </p:sp>
      <p:sp>
        <p:nvSpPr>
          <p:cNvPr id="51" name="Text 49"/>
          <p:cNvSpPr/>
          <p:nvPr/>
        </p:nvSpPr>
        <p:spPr>
          <a:xfrm>
            <a:off x="843077" y="8339328"/>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0.074</a:t>
            </a:r>
            <a:endParaRPr lang="en-US" sz="700" dirty="0"/>
          </a:p>
        </p:txBody>
      </p:sp>
      <p:sp>
        <p:nvSpPr>
          <p:cNvPr id="52" name="Shape 50"/>
          <p:cNvSpPr/>
          <p:nvPr/>
        </p:nvSpPr>
        <p:spPr>
          <a:xfrm>
            <a:off x="274320" y="8705088"/>
            <a:ext cx="541325" cy="256032"/>
          </a:xfrm>
          <a:prstGeom prst="rect">
            <a:avLst/>
          </a:prstGeom>
          <a:solidFill>
            <a:srgbClr val="B87333"/>
          </a:solidFill>
          <a:ln w="12700">
            <a:solidFill>
              <a:srgbClr val="B87333"/>
            </a:solidFill>
            <a:prstDash val="solid"/>
          </a:ln>
        </p:spPr>
      </p:sp>
      <p:sp>
        <p:nvSpPr>
          <p:cNvPr id="53" name="Shape 51"/>
          <p:cNvSpPr/>
          <p:nvPr/>
        </p:nvSpPr>
        <p:spPr>
          <a:xfrm>
            <a:off x="274320" y="8997696"/>
            <a:ext cx="607162" cy="256032"/>
          </a:xfrm>
          <a:prstGeom prst="rect">
            <a:avLst/>
          </a:prstGeom>
          <a:solidFill>
            <a:srgbClr val="9CA3AF"/>
          </a:solidFill>
          <a:ln w="12700">
            <a:solidFill>
              <a:srgbClr val="9CA3AF"/>
            </a:solidFill>
            <a:prstDash val="solid"/>
          </a:ln>
        </p:spPr>
      </p:sp>
      <p:sp>
        <p:nvSpPr>
          <p:cNvPr id="54" name="Text 52"/>
          <p:cNvSpPr/>
          <p:nvPr/>
        </p:nvSpPr>
        <p:spPr>
          <a:xfrm>
            <a:off x="843077" y="8705088"/>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0.074</a:t>
            </a:r>
            <a:endParaRPr lang="en-US" sz="700" dirty="0"/>
          </a:p>
        </p:txBody>
      </p:sp>
      <p:sp>
        <p:nvSpPr>
          <p:cNvPr id="55" name="Text 53"/>
          <p:cNvSpPr/>
          <p:nvPr/>
        </p:nvSpPr>
        <p:spPr>
          <a:xfrm>
            <a:off x="908914" y="8997696"/>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0.083</a:t>
            </a:r>
            <a:endParaRPr lang="en-US" sz="700" dirty="0"/>
          </a:p>
        </p:txBody>
      </p:sp>
      <p:sp>
        <p:nvSpPr>
          <p:cNvPr id="56" name="Shape 54"/>
          <p:cNvSpPr/>
          <p:nvPr/>
        </p:nvSpPr>
        <p:spPr>
          <a:xfrm>
            <a:off x="274320" y="9363456"/>
            <a:ext cx="768096" cy="256032"/>
          </a:xfrm>
          <a:prstGeom prst="rect">
            <a:avLst/>
          </a:prstGeom>
          <a:solidFill>
            <a:srgbClr val="B87333"/>
          </a:solidFill>
          <a:ln w="12700">
            <a:solidFill>
              <a:srgbClr val="B87333"/>
            </a:solidFill>
            <a:prstDash val="solid"/>
          </a:ln>
        </p:spPr>
      </p:sp>
      <p:sp>
        <p:nvSpPr>
          <p:cNvPr id="57" name="Shape 55"/>
          <p:cNvSpPr/>
          <p:nvPr/>
        </p:nvSpPr>
        <p:spPr>
          <a:xfrm>
            <a:off x="274320" y="9656064"/>
            <a:ext cx="0" cy="256032"/>
          </a:xfrm>
          <a:prstGeom prst="rect">
            <a:avLst/>
          </a:prstGeom>
          <a:solidFill>
            <a:srgbClr val="9CA3AF"/>
          </a:solidFill>
          <a:ln w="12700">
            <a:solidFill>
              <a:srgbClr val="9CA3AF"/>
            </a:solidFill>
            <a:prstDash val="solid"/>
          </a:ln>
        </p:spPr>
      </p:sp>
      <p:sp>
        <p:nvSpPr>
          <p:cNvPr id="58" name="Text 56"/>
          <p:cNvSpPr/>
          <p:nvPr/>
        </p:nvSpPr>
        <p:spPr>
          <a:xfrm>
            <a:off x="1069848" y="9363456"/>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0.105</a:t>
            </a:r>
            <a:endParaRPr lang="en-US" sz="700" dirty="0"/>
          </a:p>
        </p:txBody>
      </p:sp>
      <p:sp>
        <p:nvSpPr>
          <p:cNvPr id="59" name="Shape 57"/>
          <p:cNvSpPr/>
          <p:nvPr/>
        </p:nvSpPr>
        <p:spPr>
          <a:xfrm>
            <a:off x="274320" y="10021824"/>
            <a:ext cx="2092147" cy="256032"/>
          </a:xfrm>
          <a:prstGeom prst="rect">
            <a:avLst/>
          </a:prstGeom>
          <a:solidFill>
            <a:srgbClr val="B87333"/>
          </a:solidFill>
          <a:ln w="12700">
            <a:solidFill>
              <a:srgbClr val="B87333"/>
            </a:solidFill>
            <a:prstDash val="solid"/>
          </a:ln>
        </p:spPr>
      </p:sp>
      <p:sp>
        <p:nvSpPr>
          <p:cNvPr id="60" name="Shape 58"/>
          <p:cNvSpPr/>
          <p:nvPr/>
        </p:nvSpPr>
        <p:spPr>
          <a:xfrm>
            <a:off x="274320" y="10314432"/>
            <a:ext cx="731520" cy="256032"/>
          </a:xfrm>
          <a:prstGeom prst="rect">
            <a:avLst/>
          </a:prstGeom>
          <a:solidFill>
            <a:srgbClr val="9CA3AF"/>
          </a:solidFill>
          <a:ln w="12700">
            <a:solidFill>
              <a:srgbClr val="9CA3AF"/>
            </a:solidFill>
            <a:prstDash val="solid"/>
          </a:ln>
        </p:spPr>
      </p:sp>
      <p:sp>
        <p:nvSpPr>
          <p:cNvPr id="61" name="Text 59"/>
          <p:cNvSpPr/>
          <p:nvPr/>
        </p:nvSpPr>
        <p:spPr>
          <a:xfrm>
            <a:off x="2393899" y="10021824"/>
            <a:ext cx="502920" cy="256032"/>
          </a:xfrm>
          <a:prstGeom prst="rect">
            <a:avLst/>
          </a:prstGeom>
          <a:noFill/>
          <a:ln/>
        </p:spPr>
        <p:txBody>
          <a:bodyPr wrap="square" rtlCol="0" anchor="ctr"/>
          <a:lstStyle/>
          <a:p>
            <a:pPr algn="l" indent="0" marL="0">
              <a:buNone/>
            </a:pPr>
            <a:r>
              <a:rPr lang="en-US" sz="700" dirty="0">
                <a:solidFill>
                  <a:srgbClr val="B87333"/>
                </a:solidFill>
                <a:latin typeface="Calibri" pitchFamily="34" charset="0"/>
                <a:ea typeface="Calibri" pitchFamily="34" charset="-122"/>
                <a:cs typeface="Calibri" pitchFamily="34" charset="-120"/>
              </a:rPr>
              <a:t>0.286</a:t>
            </a:r>
            <a:endParaRPr lang="en-US" sz="700" dirty="0"/>
          </a:p>
        </p:txBody>
      </p:sp>
      <p:sp>
        <p:nvSpPr>
          <p:cNvPr id="62" name="Text 60"/>
          <p:cNvSpPr/>
          <p:nvPr/>
        </p:nvSpPr>
        <p:spPr>
          <a:xfrm>
            <a:off x="1033272" y="10314432"/>
            <a:ext cx="502920" cy="256032"/>
          </a:xfrm>
          <a:prstGeom prst="rect">
            <a:avLst/>
          </a:prstGeom>
          <a:noFill/>
          <a:ln/>
        </p:spPr>
        <p:txBody>
          <a:bodyPr wrap="square" rtlCol="0" anchor="ctr"/>
          <a:lstStyle/>
          <a:p>
            <a:pPr algn="l" indent="0" marL="0">
              <a:buNone/>
            </a:pPr>
            <a:r>
              <a:rPr lang="en-US" sz="700" dirty="0">
                <a:solidFill>
                  <a:srgbClr val="6B7280"/>
                </a:solidFill>
                <a:latin typeface="Calibri" pitchFamily="34" charset="0"/>
                <a:ea typeface="Calibri" pitchFamily="34" charset="-122"/>
                <a:cs typeface="Calibri" pitchFamily="34" charset="-120"/>
              </a:rPr>
              <a:t>0.100</a:t>
            </a:r>
            <a:endParaRPr lang="en-US" sz="700" dirty="0"/>
          </a:p>
        </p:txBody>
      </p:sp>
      <p:sp>
        <p:nvSpPr>
          <p:cNvPr id="63" name="Text 61"/>
          <p:cNvSpPr/>
          <p:nvPr/>
        </p:nvSpPr>
        <p:spPr>
          <a:xfrm>
            <a:off x="228600" y="1463040"/>
            <a:ext cx="0" cy="658368"/>
          </a:xfrm>
          <a:prstGeom prst="rect">
            <a:avLst/>
          </a:prstGeom>
          <a:noFill/>
          <a:ln/>
        </p:spPr>
        <p:txBody>
          <a:bodyPr wrap="square" rtlCol="0" anchor="ctr"/>
          <a:lstStyle/>
          <a:p>
            <a:pPr indent="0" marL="0">
              <a:buNone/>
            </a:pPr>
            <a:r>
              <a:rPr lang="en-US" dirty="0">
                <a:solidFill>
                  <a:srgbClr val="FFFFFF"/>
                </a:solidFill>
              </a:rPr>
              <a:t>Tip My Glass</a:t>
            </a:r>
            <a:endParaRPr lang="en-US" dirty="0"/>
          </a:p>
        </p:txBody>
      </p:sp>
      <p:sp>
        <p:nvSpPr>
          <p:cNvPr id="64" name="Text 62"/>
          <p:cNvSpPr/>
          <p:nvPr/>
        </p:nvSpPr>
        <p:spPr>
          <a:xfrm>
            <a:off x="228600" y="2121408"/>
            <a:ext cx="0" cy="658368"/>
          </a:xfrm>
          <a:prstGeom prst="rect">
            <a:avLst/>
          </a:prstGeom>
          <a:noFill/>
          <a:ln/>
        </p:spPr>
        <p:txBody>
          <a:bodyPr wrap="square" rtlCol="0" anchor="ctr"/>
          <a:lstStyle/>
          <a:p>
            <a:pPr indent="0" marL="0">
              <a:buNone/>
            </a:pPr>
            <a:r>
              <a:rPr lang="en-US" dirty="0">
                <a:solidFill>
                  <a:srgbClr val="FFFFFF"/>
                </a:solidFill>
              </a:rPr>
              <a:t>STK</a:t>
            </a:r>
            <a:endParaRPr lang="en-US" dirty="0"/>
          </a:p>
        </p:txBody>
      </p:sp>
      <p:sp>
        <p:nvSpPr>
          <p:cNvPr id="65" name="Text 63"/>
          <p:cNvSpPr/>
          <p:nvPr/>
        </p:nvSpPr>
        <p:spPr>
          <a:xfrm>
            <a:off x="228600" y="2779776"/>
            <a:ext cx="0" cy="658368"/>
          </a:xfrm>
          <a:prstGeom prst="rect">
            <a:avLst/>
          </a:prstGeom>
          <a:noFill/>
          <a:ln/>
        </p:spPr>
        <p:txBody>
          <a:bodyPr wrap="square" rtlCol="0" anchor="ctr"/>
          <a:lstStyle/>
          <a:p>
            <a:pPr indent="0" marL="0">
              <a:buNone/>
            </a:pPr>
            <a:r>
              <a:rPr lang="en-US" dirty="0">
                <a:solidFill>
                  <a:srgbClr val="FFFFFF"/>
                </a:solidFill>
              </a:rPr>
              <a:t>The Unwanted Brother</a:t>
            </a:r>
            <a:endParaRPr lang="en-US" dirty="0"/>
          </a:p>
        </p:txBody>
      </p:sp>
      <p:sp>
        <p:nvSpPr>
          <p:cNvPr id="66" name="Text 64"/>
          <p:cNvSpPr/>
          <p:nvPr/>
        </p:nvSpPr>
        <p:spPr>
          <a:xfrm>
            <a:off x="228600" y="3438144"/>
            <a:ext cx="0" cy="658368"/>
          </a:xfrm>
          <a:prstGeom prst="rect">
            <a:avLst/>
          </a:prstGeom>
          <a:noFill/>
          <a:ln/>
        </p:spPr>
        <p:txBody>
          <a:bodyPr wrap="square" rtlCol="0" anchor="ctr"/>
          <a:lstStyle/>
          <a:p>
            <a:pPr indent="0" marL="0">
              <a:buNone/>
            </a:pPr>
            <a:r>
              <a:rPr lang="en-US" dirty="0">
                <a:solidFill>
                  <a:srgbClr val="FFFFFF"/>
                </a:solidFill>
              </a:rPr>
              <a:t>Europa Baby</a:t>
            </a:r>
            <a:endParaRPr lang="en-US" dirty="0"/>
          </a:p>
        </p:txBody>
      </p:sp>
      <p:sp>
        <p:nvSpPr>
          <p:cNvPr id="67" name="Text 65"/>
          <p:cNvSpPr/>
          <p:nvPr/>
        </p:nvSpPr>
        <p:spPr>
          <a:xfrm>
            <a:off x="228600" y="4096512"/>
            <a:ext cx="0" cy="658368"/>
          </a:xfrm>
          <a:prstGeom prst="rect">
            <a:avLst/>
          </a:prstGeom>
          <a:noFill/>
          <a:ln/>
        </p:spPr>
        <p:txBody>
          <a:bodyPr wrap="square" rtlCol="0" anchor="ctr"/>
          <a:lstStyle/>
          <a:p>
            <a:pPr indent="0" marL="0">
              <a:buNone/>
            </a:pPr>
            <a:r>
              <a:rPr lang="en-US" dirty="0">
                <a:solidFill>
                  <a:srgbClr val="FFFFFF"/>
                </a:solidFill>
              </a:rPr>
              <a:t>Figure It Out</a:t>
            </a:r>
            <a:endParaRPr lang="en-US" dirty="0"/>
          </a:p>
        </p:txBody>
      </p:sp>
      <p:sp>
        <p:nvSpPr>
          <p:cNvPr id="68" name="Text 66"/>
          <p:cNvSpPr/>
          <p:nvPr/>
        </p:nvSpPr>
        <p:spPr>
          <a:xfrm>
            <a:off x="228600" y="4754880"/>
            <a:ext cx="0" cy="658368"/>
          </a:xfrm>
          <a:prstGeom prst="rect">
            <a:avLst/>
          </a:prstGeom>
          <a:noFill/>
          <a:ln/>
        </p:spPr>
        <p:txBody>
          <a:bodyPr wrap="square" rtlCol="0" anchor="ctr"/>
          <a:lstStyle/>
          <a:p>
            <a:pPr indent="0" marL="0">
              <a:buNone/>
            </a:pPr>
            <a:r>
              <a:rPr lang="en-US" dirty="0">
                <a:solidFill>
                  <a:srgbClr val="FFFFFF"/>
                </a:solidFill>
              </a:rPr>
              <a:t>Blue Veins</a:t>
            </a:r>
            <a:endParaRPr lang="en-US" dirty="0"/>
          </a:p>
        </p:txBody>
      </p:sp>
      <p:sp>
        <p:nvSpPr>
          <p:cNvPr id="69" name="Text 67"/>
          <p:cNvSpPr/>
          <p:nvPr/>
        </p:nvSpPr>
        <p:spPr>
          <a:xfrm>
            <a:off x="228600" y="5413248"/>
            <a:ext cx="0" cy="658368"/>
          </a:xfrm>
          <a:prstGeom prst="rect">
            <a:avLst/>
          </a:prstGeom>
          <a:noFill/>
          <a:ln/>
        </p:spPr>
        <p:txBody>
          <a:bodyPr wrap="square" rtlCol="0" anchor="ctr"/>
          <a:lstStyle/>
          <a:p>
            <a:pPr indent="0" marL="0">
              <a:buNone/>
            </a:pPr>
            <a:r>
              <a:rPr lang="en-US" dirty="0">
                <a:solidFill>
                  <a:srgbClr val="FFFFFF"/>
                </a:solidFill>
              </a:rPr>
              <a:t>Mexican Radio</a:t>
            </a:r>
            <a:endParaRPr lang="en-US" dirty="0"/>
          </a:p>
        </p:txBody>
      </p:sp>
      <p:sp>
        <p:nvSpPr>
          <p:cNvPr id="70" name="Text 68"/>
          <p:cNvSpPr/>
          <p:nvPr/>
        </p:nvSpPr>
        <p:spPr>
          <a:xfrm>
            <a:off x="228600" y="6071616"/>
            <a:ext cx="0" cy="658368"/>
          </a:xfrm>
          <a:prstGeom prst="rect">
            <a:avLst/>
          </a:prstGeom>
          <a:noFill/>
          <a:ln/>
        </p:spPr>
        <p:txBody>
          <a:bodyPr wrap="square" rtlCol="0" anchor="ctr"/>
          <a:lstStyle/>
          <a:p>
            <a:pPr indent="0" marL="0">
              <a:buNone/>
            </a:pPr>
            <a:r>
              <a:rPr lang="en-US" dirty="0">
                <a:solidFill>
                  <a:srgbClr val="FFFFFF"/>
                </a:solidFill>
              </a:rPr>
              <a:t>The Navy Song</a:t>
            </a:r>
            <a:endParaRPr lang="en-US" dirty="0"/>
          </a:p>
        </p:txBody>
      </p:sp>
      <p:sp>
        <p:nvSpPr>
          <p:cNvPr id="71" name="Text 69"/>
          <p:cNvSpPr/>
          <p:nvPr/>
        </p:nvSpPr>
        <p:spPr>
          <a:xfrm>
            <a:off x="228600" y="6729984"/>
            <a:ext cx="0" cy="658368"/>
          </a:xfrm>
          <a:prstGeom prst="rect">
            <a:avLst/>
          </a:prstGeom>
          <a:noFill/>
          <a:ln/>
        </p:spPr>
        <p:txBody>
          <a:bodyPr wrap="square" rtlCol="0" anchor="ctr"/>
          <a:lstStyle/>
          <a:p>
            <a:pPr indent="0" marL="0">
              <a:buNone/>
            </a:pPr>
            <a:r>
              <a:rPr lang="en-US" dirty="0">
                <a:solidFill>
                  <a:srgbClr val="FFFFFF"/>
                </a:solidFill>
              </a:rPr>
              <a:t>Those Get Me Out</a:t>
            </a:r>
            <a:endParaRPr lang="en-US" dirty="0"/>
          </a:p>
        </p:txBody>
      </p:sp>
      <p:sp>
        <p:nvSpPr>
          <p:cNvPr id="72" name="Text 70"/>
          <p:cNvSpPr/>
          <p:nvPr/>
        </p:nvSpPr>
        <p:spPr>
          <a:xfrm>
            <a:off x="228600" y="7388352"/>
            <a:ext cx="0" cy="658368"/>
          </a:xfrm>
          <a:prstGeom prst="rect">
            <a:avLst/>
          </a:prstGeom>
          <a:noFill/>
          <a:ln/>
        </p:spPr>
        <p:txBody>
          <a:bodyPr wrap="square" rtlCol="0" anchor="ctr"/>
          <a:lstStyle/>
          <a:p>
            <a:pPr indent="0" marL="0">
              <a:buNone/>
            </a:pPr>
            <a:r>
              <a:rPr lang="en-US" dirty="0">
                <a:solidFill>
                  <a:srgbClr val="FFFFFF"/>
                </a:solidFill>
              </a:rPr>
              <a:t>CBC Demo 1</a:t>
            </a:r>
            <a:endParaRPr lang="en-US" dirty="0"/>
          </a:p>
        </p:txBody>
      </p:sp>
      <p:sp>
        <p:nvSpPr>
          <p:cNvPr id="73" name="Text 71"/>
          <p:cNvSpPr/>
          <p:nvPr/>
        </p:nvSpPr>
        <p:spPr>
          <a:xfrm>
            <a:off x="228600" y="8046720"/>
            <a:ext cx="0" cy="658368"/>
          </a:xfrm>
          <a:prstGeom prst="rect">
            <a:avLst/>
          </a:prstGeom>
          <a:noFill/>
          <a:ln/>
        </p:spPr>
        <p:txBody>
          <a:bodyPr wrap="square" rtlCol="0" anchor="ctr"/>
          <a:lstStyle/>
          <a:p>
            <a:pPr indent="0" marL="0">
              <a:buNone/>
            </a:pPr>
            <a:r>
              <a:rPr lang="en-US" dirty="0">
                <a:solidFill>
                  <a:srgbClr val="FFFFFF"/>
                </a:solidFill>
              </a:rPr>
              <a:t>ShimSham Honey</a:t>
            </a:r>
            <a:endParaRPr lang="en-US" dirty="0"/>
          </a:p>
        </p:txBody>
      </p:sp>
      <p:sp>
        <p:nvSpPr>
          <p:cNvPr id="74" name="Text 72"/>
          <p:cNvSpPr/>
          <p:nvPr/>
        </p:nvSpPr>
        <p:spPr>
          <a:xfrm>
            <a:off x="228600" y="8705088"/>
            <a:ext cx="0" cy="658368"/>
          </a:xfrm>
          <a:prstGeom prst="rect">
            <a:avLst/>
          </a:prstGeom>
          <a:noFill/>
          <a:ln/>
        </p:spPr>
        <p:txBody>
          <a:bodyPr wrap="square" rtlCol="0" anchor="ctr"/>
          <a:lstStyle/>
          <a:p>
            <a:pPr indent="0" marL="0">
              <a:buNone/>
            </a:pPr>
            <a:r>
              <a:rPr lang="en-US" dirty="0">
                <a:solidFill>
                  <a:srgbClr val="FFFFFF"/>
                </a:solidFill>
              </a:rPr>
              <a:t>People</a:t>
            </a:r>
            <a:endParaRPr lang="en-US" dirty="0"/>
          </a:p>
        </p:txBody>
      </p:sp>
      <p:sp>
        <p:nvSpPr>
          <p:cNvPr id="75" name="Text 73"/>
          <p:cNvSpPr/>
          <p:nvPr/>
        </p:nvSpPr>
        <p:spPr>
          <a:xfrm>
            <a:off x="228600" y="9363456"/>
            <a:ext cx="0" cy="658368"/>
          </a:xfrm>
          <a:prstGeom prst="rect">
            <a:avLst/>
          </a:prstGeom>
          <a:noFill/>
          <a:ln/>
        </p:spPr>
        <p:txBody>
          <a:bodyPr wrap="square" rtlCol="0" anchor="ctr"/>
          <a:lstStyle/>
          <a:p>
            <a:pPr indent="0" marL="0">
              <a:buNone/>
            </a:pPr>
            <a:r>
              <a:rPr lang="en-US" dirty="0">
                <a:solidFill>
                  <a:srgbClr val="FFFFFF"/>
                </a:solidFill>
              </a:rPr>
              <a:t>7 Escape Artist</a:t>
            </a:r>
            <a:endParaRPr lang="en-US" dirty="0"/>
          </a:p>
        </p:txBody>
      </p:sp>
      <p:sp>
        <p:nvSpPr>
          <p:cNvPr id="76" name="Text 74"/>
          <p:cNvSpPr/>
          <p:nvPr/>
        </p:nvSpPr>
        <p:spPr>
          <a:xfrm>
            <a:off x="228600" y="10021824"/>
            <a:ext cx="0" cy="658368"/>
          </a:xfrm>
          <a:prstGeom prst="rect">
            <a:avLst/>
          </a:prstGeom>
          <a:noFill/>
          <a:ln/>
        </p:spPr>
        <p:txBody>
          <a:bodyPr wrap="square" rtlCol="0" anchor="ctr"/>
          <a:lstStyle/>
          <a:p>
            <a:pPr indent="0" marL="0">
              <a:buNone/>
            </a:pPr>
            <a:r>
              <a:rPr lang="en-US" dirty="0">
                <a:solidFill>
                  <a:srgbClr val="FFFFFF"/>
                </a:solidFill>
              </a:rPr>
              <a:t>Going Up Country</a:t>
            </a:r>
            <a:endParaRPr lang="en-US" dirty="0"/>
          </a:p>
        </p:txBody>
      </p:sp>
      <p:sp>
        <p:nvSpPr>
          <p:cNvPr id="77" name="Shape 75"/>
          <p:cNvSpPr/>
          <p:nvPr/>
        </p:nvSpPr>
        <p:spPr>
          <a:xfrm>
            <a:off x="274320" y="6510528"/>
            <a:ext cx="201168" cy="164592"/>
          </a:xfrm>
          <a:prstGeom prst="rect">
            <a:avLst/>
          </a:prstGeom>
          <a:solidFill>
            <a:srgbClr val="B87333"/>
          </a:solidFill>
          <a:ln w="12700">
            <a:solidFill>
              <a:srgbClr val="B87333"/>
            </a:solidFill>
            <a:prstDash val="solid"/>
          </a:ln>
        </p:spPr>
      </p:sp>
      <p:sp>
        <p:nvSpPr>
          <p:cNvPr id="78" name="Text 76"/>
          <p:cNvSpPr/>
          <p:nvPr/>
        </p:nvSpPr>
        <p:spPr>
          <a:xfrm>
            <a:off x="530352" y="6473952"/>
            <a:ext cx="3657600" cy="256032"/>
          </a:xfrm>
          <a:prstGeom prst="rect">
            <a:avLst/>
          </a:prstGeom>
          <a:noFill/>
          <a:ln/>
        </p:spPr>
        <p:txBody>
          <a:bodyPr wrap="square" rtlCol="0" anchor="ctr"/>
          <a:lstStyle/>
          <a:p>
            <a:pPr indent="0" marL="0">
              <a:buNone/>
            </a:pPr>
            <a:r>
              <a:rPr lang="en-US" sz="1000" dirty="0">
                <a:solidFill>
                  <a:srgbClr val="B87333"/>
                </a:solidFill>
                <a:latin typeface="Calibri" pitchFamily="34" charset="0"/>
                <a:ea typeface="Calibri" pitchFamily="34" charset="-122"/>
                <a:cs typeface="Calibri" pitchFamily="34" charset="-120"/>
              </a:rPr>
              <a:t>custom_librosa  (avg F1 = 0.210)</a:t>
            </a:r>
            <a:endParaRPr lang="en-US" sz="1000" dirty="0"/>
          </a:p>
        </p:txBody>
      </p:sp>
      <p:sp>
        <p:nvSpPr>
          <p:cNvPr id="79" name="Shape 77"/>
          <p:cNvSpPr/>
          <p:nvPr/>
        </p:nvSpPr>
        <p:spPr>
          <a:xfrm>
            <a:off x="4389120" y="6510528"/>
            <a:ext cx="201168" cy="164592"/>
          </a:xfrm>
          <a:prstGeom prst="rect">
            <a:avLst/>
          </a:prstGeom>
          <a:solidFill>
            <a:srgbClr val="9CA3AF"/>
          </a:solidFill>
          <a:ln w="12700">
            <a:solidFill>
              <a:srgbClr val="9CA3AF"/>
            </a:solidFill>
            <a:prstDash val="solid"/>
          </a:ln>
        </p:spPr>
      </p:sp>
      <p:sp>
        <p:nvSpPr>
          <p:cNvPr id="80" name="Text 78"/>
          <p:cNvSpPr/>
          <p:nvPr/>
        </p:nvSpPr>
        <p:spPr>
          <a:xfrm>
            <a:off x="4645152" y="6473952"/>
            <a:ext cx="3657600" cy="256032"/>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MSAF Baseline  (avg F1 = 0.081)</a:t>
            </a:r>
            <a:endParaRPr lang="en-US" sz="1000" dirty="0"/>
          </a:p>
        </p:txBody>
      </p:sp>
      <p:sp>
        <p:nvSpPr>
          <p:cNvPr id="81" name="Shape 79"/>
          <p:cNvSpPr/>
          <p:nvPr/>
        </p:nvSpPr>
        <p:spPr>
          <a:xfrm>
            <a:off x="7863840" y="1325880"/>
            <a:ext cx="4114800" cy="5074920"/>
          </a:xfrm>
          <a:prstGeom prst="rect">
            <a:avLst/>
          </a:prstGeom>
          <a:solidFill>
            <a:srgbClr val="FFFFFF"/>
          </a:solidFill>
          <a:ln w="12700">
            <a:solidFill>
              <a:srgbClr val="E2E8F0"/>
            </a:solidFill>
            <a:prstDash val="solid"/>
          </a:ln>
        </p:spPr>
      </p:sp>
      <p:sp>
        <p:nvSpPr>
          <p:cNvPr id="82" name="Shape 80"/>
          <p:cNvSpPr/>
          <p:nvPr/>
        </p:nvSpPr>
        <p:spPr>
          <a:xfrm>
            <a:off x="7863840" y="1325880"/>
            <a:ext cx="4114800" cy="384048"/>
          </a:xfrm>
          <a:prstGeom prst="rect">
            <a:avLst/>
          </a:prstGeom>
          <a:solidFill>
            <a:srgbClr val="1B2A4A"/>
          </a:solidFill>
          <a:ln w="12700">
            <a:solidFill>
              <a:srgbClr val="1B2A4A"/>
            </a:solidFill>
            <a:prstDash val="solid"/>
          </a:ln>
        </p:spPr>
      </p:sp>
      <p:sp>
        <p:nvSpPr>
          <p:cNvPr id="83" name="Text 81"/>
          <p:cNvSpPr/>
          <p:nvPr/>
        </p:nvSpPr>
        <p:spPr>
          <a:xfrm>
            <a:off x="7863840" y="1325880"/>
            <a:ext cx="4114800" cy="384048"/>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Summary</a:t>
            </a:r>
            <a:endParaRPr lang="en-US" sz="1300" dirty="0"/>
          </a:p>
        </p:txBody>
      </p:sp>
      <p:sp>
        <p:nvSpPr>
          <p:cNvPr id="84" name="Shape 82"/>
          <p:cNvSpPr/>
          <p:nvPr/>
        </p:nvSpPr>
        <p:spPr>
          <a:xfrm>
            <a:off x="7863840" y="1764792"/>
            <a:ext cx="4114800" cy="274320"/>
          </a:xfrm>
          <a:prstGeom prst="rect">
            <a:avLst/>
          </a:prstGeom>
          <a:solidFill>
            <a:srgbClr val="F1F5F9"/>
          </a:solidFill>
          <a:ln w="12700">
            <a:solidFill>
              <a:srgbClr val="E2E8F0"/>
            </a:solidFill>
            <a:prstDash val="solid"/>
          </a:ln>
        </p:spPr>
      </p:sp>
      <p:sp>
        <p:nvSpPr>
          <p:cNvPr id="85" name="Text 83"/>
          <p:cNvSpPr/>
          <p:nvPr/>
        </p:nvSpPr>
        <p:spPr>
          <a:xfrm>
            <a:off x="7909560" y="1764792"/>
            <a:ext cx="4023360" cy="274320"/>
          </a:xfrm>
          <a:prstGeom prst="rect">
            <a:avLst/>
          </a:prstGeom>
          <a:noFill/>
          <a:ln/>
        </p:spPr>
        <p:txBody>
          <a:bodyPr wrap="square" rtlCol="0" anchor="ctr"/>
          <a:lstStyle/>
          <a:p>
            <a:pPr algn="l" indent="0" marL="0">
              <a:buNone/>
            </a:pPr>
            <a:r>
              <a:rPr lang="en-US" sz="900" b="1" dirty="0">
                <a:solidFill>
                  <a:srgbClr val="1B2A4A"/>
                </a:solidFill>
                <a:latin typeface="Calibri" pitchFamily="34" charset="0"/>
                <a:ea typeface="Calibri" pitchFamily="34" charset="-122"/>
                <a:cs typeface="Calibri" pitchFamily="34" charset="-120"/>
              </a:rPr>
              <a:t>Tolerance ±0.5 s  (actual data)</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863840" y="2075688"/>
          <a:ext cx="4114800" cy="1234440"/>
        </p:xfrm>
        <a:graphic>
          <a:graphicData uri="http://schemas.openxmlformats.org/drawingml/2006/table">
            <a:tbl>
              <a:tblPr/>
              <a:tblGrid>
                <a:gridCol w="1645920"/>
                <a:gridCol w="822960"/>
                <a:gridCol w="822960"/>
                <a:gridCol w="822960"/>
              </a:tblGrid>
              <a:tr h="411480">
                <a:tc>
                  <a:txBody>
                    <a:bodyPr/>
                    <a:lstStyle/>
                    <a:p>
                      <a:pPr algn="ctr" indent="0" marL="0">
                        <a:buNone/>
                      </a:pP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Precision</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Recall</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F1</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r>
              <a:tr h="411480">
                <a:tc>
                  <a:txBody>
                    <a:bodyPr/>
                    <a:lstStyle/>
                    <a:p>
                      <a:pPr algn="ctr" indent="0" marL="0">
                        <a:buNone/>
                      </a:pPr>
                      <a:r>
                        <a:rPr lang="en-US" sz="1000" b="1" dirty="0">
                          <a:solidFill>
                            <a:srgbClr val="1B2A4A"/>
                          </a:solidFill>
                        </a:rPr>
                        <a:t>custom_librosa</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B87333"/>
                          </a:solidFill>
                        </a:rPr>
                        <a:t>0.214</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7333"/>
                          </a:solidFill>
                        </a:rPr>
                        <a:t>0.236</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B87333"/>
                          </a:solidFill>
                        </a:rPr>
                        <a:t>0.210</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11480">
                <a:tc>
                  <a:txBody>
                    <a:bodyPr/>
                    <a:lstStyle/>
                    <a:p>
                      <a:pPr algn="ctr" indent="0" marL="0">
                        <a:buNone/>
                      </a:pPr>
                      <a:r>
                        <a:rPr lang="en-US" sz="1000" b="1" dirty="0">
                          <a:solidFill>
                            <a:srgbClr val="1B2A4A"/>
                          </a:solidFill>
                        </a:rPr>
                        <a:t>MSAF Baseline</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6B7280"/>
                          </a:solidFill>
                        </a:rPr>
                        <a:t>0.081</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280"/>
                          </a:solidFill>
                        </a:rPr>
                        <a:t>0.090</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B7280"/>
                          </a:solidFill>
                        </a:rPr>
                        <a:t>0.081</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87" name="Shape 84"/>
          <p:cNvSpPr/>
          <p:nvPr/>
        </p:nvSpPr>
        <p:spPr>
          <a:xfrm>
            <a:off x="7863840" y="3410712"/>
            <a:ext cx="4114800" cy="274320"/>
          </a:xfrm>
          <a:prstGeom prst="rect">
            <a:avLst/>
          </a:prstGeom>
          <a:solidFill>
            <a:srgbClr val="FFF7ED"/>
          </a:solidFill>
          <a:ln w="12700">
            <a:solidFill>
              <a:srgbClr val="B45309"/>
            </a:solidFill>
            <a:prstDash val="solid"/>
          </a:ln>
        </p:spPr>
      </p:sp>
      <p:sp>
        <p:nvSpPr>
          <p:cNvPr id="88" name="Text 85"/>
          <p:cNvSpPr/>
          <p:nvPr/>
        </p:nvSpPr>
        <p:spPr>
          <a:xfrm>
            <a:off x="7909560" y="3410712"/>
            <a:ext cx="4023360" cy="274320"/>
          </a:xfrm>
          <a:prstGeom prst="rect">
            <a:avLst/>
          </a:prstGeom>
          <a:noFill/>
          <a:ln/>
        </p:spPr>
        <p:txBody>
          <a:bodyPr wrap="square" rtlCol="0" anchor="ctr"/>
          <a:lstStyle/>
          <a:p>
            <a:pPr algn="l" indent="0" marL="0">
              <a:buNone/>
            </a:pPr>
            <a:r>
              <a:rPr lang="en-US" sz="900" b="1" dirty="0">
                <a:solidFill>
                  <a:srgbClr val="B45309"/>
                </a:solidFill>
                <a:latin typeface="Calibri" pitchFamily="34" charset="0"/>
                <a:ea typeface="Calibri" pitchFamily="34" charset="-122"/>
                <a:cs typeface="Calibri" pitchFamily="34" charset="-120"/>
              </a:rPr>
              <a:t>Tolerance ±3.0 s  — run pending</a:t>
            </a:r>
            <a:endParaRPr lang="en-US" sz="900" dirty="0"/>
          </a:p>
        </p:txBody>
      </p:sp>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7863840" y="3721608"/>
          <a:ext cx="4114800" cy="1554480"/>
        </p:xfrm>
        <a:graphic>
          <a:graphicData uri="http://schemas.openxmlformats.org/drawingml/2006/table">
            <a:tbl>
              <a:tblPr/>
              <a:tblGrid>
                <a:gridCol w="1645920"/>
                <a:gridCol w="822960"/>
                <a:gridCol w="822960"/>
                <a:gridCol w="822960"/>
              </a:tblGrid>
              <a:tr h="388620">
                <a:tc>
                  <a:txBody>
                    <a:bodyPr/>
                    <a:lstStyle/>
                    <a:p>
                      <a:pPr algn="ctr" indent="0" marL="0">
                        <a:buNone/>
                      </a:pP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Precision</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Recall</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c>
                  <a:txBody>
                    <a:bodyPr/>
                    <a:lstStyle/>
                    <a:p>
                      <a:pPr algn="ctr" indent="0" marL="0">
                        <a:buNone/>
                      </a:pPr>
                      <a:r>
                        <a:rPr lang="en-US" sz="900" b="1" dirty="0">
                          <a:solidFill>
                            <a:srgbClr val="FFFFFF"/>
                          </a:solidFill>
                        </a:rPr>
                        <a:t>F1</a:t>
                      </a:r>
                      <a:endParaRPr lang="en-US" sz="9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43556"/>
                    </a:solidFill>
                  </a:tcPr>
                </a:tc>
              </a:tr>
              <a:tr h="388620">
                <a:tc>
                  <a:txBody>
                    <a:bodyPr/>
                    <a:lstStyle/>
                    <a:p>
                      <a:pPr algn="ctr" indent="0" marL="0">
                        <a:buNone/>
                      </a:pPr>
                      <a:r>
                        <a:rPr lang="en-US" sz="1000" b="1" dirty="0">
                          <a:solidFill>
                            <a:srgbClr val="1B2A4A"/>
                          </a:solidFill>
                        </a:rPr>
                        <a:t>custom_librosa</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r>
              <a:tr h="388620">
                <a:tc>
                  <a:txBody>
                    <a:bodyPr/>
                    <a:lstStyle/>
                    <a:p>
                      <a:pPr algn="ctr" indent="0" marL="0">
                        <a:buNone/>
                      </a:pPr>
                      <a:r>
                        <a:rPr lang="en-US" sz="1000" b="1" dirty="0">
                          <a:solidFill>
                            <a:srgbClr val="1B2A4A"/>
                          </a:solidFill>
                        </a:rPr>
                        <a:t>Fusion</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r>
              <a:tr h="388620">
                <a:tc>
                  <a:txBody>
                    <a:bodyPr/>
                    <a:lstStyle/>
                    <a:p>
                      <a:pPr algn="ctr" indent="0" marL="0">
                        <a:buNone/>
                      </a:pPr>
                      <a:r>
                        <a:rPr lang="en-US" sz="1000" b="1" dirty="0">
                          <a:solidFill>
                            <a:srgbClr val="1B2A4A"/>
                          </a:solidFill>
                        </a:rPr>
                        <a:t>MSAF Baseline</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c>
                  <a:txBody>
                    <a:bodyPr/>
                    <a:lstStyle/>
                    <a:p>
                      <a:pPr algn="ctr" indent="0" marL="0">
                        <a:buNone/>
                      </a:pPr>
                      <a:r>
                        <a:rPr lang="en-US" sz="1000" dirty="0">
                          <a:solidFill>
                            <a:srgbClr val="B45309"/>
                          </a:solidFill>
                        </a:rPr>
                        <a:t>—</a:t>
                      </a:r>
                      <a:endParaRPr lang="en-US" sz="1000" dirty="0"/>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BF0"/>
                    </a:solidFill>
                  </a:tcPr>
                </a:tc>
              </a:tr>
            </a:tbl>
          </a:graphicData>
        </a:graphic>
      </p:graphicFrame>
      <p:sp>
        <p:nvSpPr>
          <p:cNvPr id="90" name="Shape 86"/>
          <p:cNvSpPr/>
          <p:nvPr/>
        </p:nvSpPr>
        <p:spPr>
          <a:xfrm>
            <a:off x="7863840" y="5367528"/>
            <a:ext cx="4114800" cy="932688"/>
          </a:xfrm>
          <a:prstGeom prst="roundRect">
            <a:avLst/>
          </a:prstGeom>
          <a:solidFill>
            <a:srgbClr val="FFF7ED"/>
          </a:solidFill>
          <a:ln w="12700">
            <a:solidFill>
              <a:srgbClr val="B45309"/>
            </a:solidFill>
            <a:prstDash val="solid"/>
          </a:ln>
        </p:spPr>
      </p:sp>
      <p:sp>
        <p:nvSpPr>
          <p:cNvPr id="91" name="Text 87"/>
          <p:cNvSpPr/>
          <p:nvPr/>
        </p:nvSpPr>
        <p:spPr>
          <a:xfrm>
            <a:off x="7936992" y="5422392"/>
            <a:ext cx="3977640" cy="841248"/>
          </a:xfrm>
          <a:prstGeom prst="rect">
            <a:avLst/>
          </a:prstGeom>
          <a:noFill/>
          <a:ln/>
        </p:spPr>
        <p:txBody>
          <a:bodyPr wrap="square" rtlCol="0" anchor="t"/>
          <a:lstStyle/>
          <a:p>
            <a:pPr algn="l" indent="0" marL="0">
              <a:buNone/>
            </a:pPr>
            <a:r>
              <a:rPr lang="en-US" sz="900" dirty="0">
                <a:solidFill>
                  <a:srgbClr val="B45309"/>
                </a:solidFill>
                <a:latin typeface="Calibri" pitchFamily="34" charset="0"/>
                <a:ea typeface="Calibri" pitchFamily="34" charset="-122"/>
                <a:cs typeface="Calibri" pitchFamily="34" charset="-120"/>
              </a:rPr>
              <a:t>⚠ Run batch evaluation with tolerance=3.0 before the presentation to fill in the 3.0 s column. Command:</a:t>
            </a:r>
            <a:endParaRPr lang="en-US" sz="900" dirty="0"/>
          </a:p>
          <a:p>
            <a:pPr algn="l" indent="0" marL="0">
              <a:buNone/>
            </a:pPr>
            <a:r>
              <a:rPr lang="en-US" sz="900" dirty="0">
                <a:solidFill>
                  <a:srgbClr val="B45309"/>
                </a:solidFill>
                <a:latin typeface="Calibri" pitchFamily="34" charset="0"/>
                <a:ea typeface="Calibri" pitchFamily="34" charset="-122"/>
                <a:cs typeface="Calibri" pitchFamily="34" charset="-120"/>
              </a:rPr>
              <a:t>POST /evaluation/batch</a:t>
            </a:r>
            <a:endParaRPr lang="en-US" sz="900" dirty="0"/>
          </a:p>
          <a:p>
            <a:pPr algn="l" indent="0" marL="0">
              <a:buNone/>
            </a:pPr>
            <a:r>
              <a:rPr lang="en-US" sz="900" dirty="0">
                <a:solidFill>
                  <a:srgbClr val="B45309"/>
                </a:solidFill>
                <a:latin typeface="Calibri" pitchFamily="34" charset="0"/>
                <a:ea typeface="Calibri" pitchFamily="34" charset="-122"/>
                <a:cs typeface="Calibri" pitchFamily="34" charset="-120"/>
              </a:rPr>
              <a:t>{"tolerances":[0.5,3.0]}</a:t>
            </a:r>
            <a:endParaRPr lang="en-US" sz="900" dirty="0"/>
          </a:p>
        </p:txBody>
      </p:sp>
      <p:sp>
        <p:nvSpPr>
          <p:cNvPr id="92" name="Shape 88"/>
          <p:cNvSpPr/>
          <p:nvPr/>
        </p:nvSpPr>
        <p:spPr>
          <a:xfrm>
            <a:off x="274320" y="6473952"/>
            <a:ext cx="11612880" cy="347472"/>
          </a:xfrm>
          <a:prstGeom prst="rect">
            <a:avLst/>
          </a:prstGeom>
          <a:solidFill>
            <a:srgbClr val="F1F5F9"/>
          </a:solidFill>
          <a:ln w="12700">
            <a:solidFill>
              <a:srgbClr val="E2E8F0"/>
            </a:solidFill>
            <a:prstDash val="solid"/>
          </a:ln>
        </p:spPr>
      </p:sp>
      <p:sp>
        <p:nvSpPr>
          <p:cNvPr id="93" name="Text 89"/>
          <p:cNvSpPr/>
          <p:nvPr/>
        </p:nvSpPr>
        <p:spPr>
          <a:xfrm>
            <a:off x="457200" y="6473952"/>
            <a:ext cx="11247120" cy="347472"/>
          </a:xfrm>
          <a:prstGeom prst="rect">
            <a:avLst/>
          </a:prstGeom>
          <a:noFill/>
          <a:ln/>
        </p:spPr>
        <p:txBody>
          <a:bodyPr wrap="square" rtlCol="0" anchor="ctr"/>
          <a:lstStyle/>
          <a:p>
            <a:pPr algn="ctr" indent="0" marL="0">
              <a:buNone/>
            </a:pPr>
            <a:r>
              <a:rPr lang="en-US" sz="950" dirty="0">
                <a:solidFill>
                  <a:srgbClr val="718096"/>
                </a:solidFill>
                <a:latin typeface="Calibri" pitchFamily="34" charset="0"/>
                <a:ea typeface="Calibri" pitchFamily="34" charset="-122"/>
                <a:cs typeface="Calibri" pitchFamily="34" charset="-120"/>
              </a:rPr>
              <a:t>14 evaluable tracks out of ~50 attempted — remaining tracks had download failures in this run. evaluation metric: mir_eval.segment.detection(trim=True).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Live Demo</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The system explains its own decisions through diagnostics</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20/21</a:t>
            </a:r>
            <a:endParaRPr lang="en-US" sz="800" dirty="0"/>
          </a:p>
        </p:txBody>
      </p:sp>
      <p:sp>
        <p:nvSpPr>
          <p:cNvPr id="9" name="Shape 7"/>
          <p:cNvSpPr/>
          <p:nvPr/>
        </p:nvSpPr>
        <p:spPr>
          <a:xfrm>
            <a:off x="274320" y="1298448"/>
            <a:ext cx="11612880" cy="914400"/>
          </a:xfrm>
          <a:prstGeom prst="rect">
            <a:avLst/>
          </a:prstGeom>
          <a:solidFill>
            <a:srgbClr val="FFFFFF"/>
          </a:solidFill>
          <a:ln w="12700">
            <a:solidFill>
              <a:srgbClr val="E2E8F0"/>
            </a:solidFill>
            <a:prstDash val="solid"/>
          </a:ln>
        </p:spPr>
      </p:sp>
      <p:sp>
        <p:nvSpPr>
          <p:cNvPr id="10" name="Shape 8"/>
          <p:cNvSpPr/>
          <p:nvPr/>
        </p:nvSpPr>
        <p:spPr>
          <a:xfrm>
            <a:off x="320040" y="1389888"/>
            <a:ext cx="502920" cy="502920"/>
          </a:xfrm>
          <a:prstGeom prst="roundRect">
            <a:avLst/>
          </a:prstGeom>
          <a:solidFill>
            <a:srgbClr val="B87333"/>
          </a:solidFill>
          <a:ln w="12700">
            <a:solidFill>
              <a:srgbClr val="B87333"/>
            </a:solidFill>
            <a:prstDash val="solid"/>
          </a:ln>
        </p:spPr>
      </p:sp>
      <p:sp>
        <p:nvSpPr>
          <p:cNvPr id="11" name="Text 9"/>
          <p:cNvSpPr/>
          <p:nvPr/>
        </p:nvSpPr>
        <p:spPr>
          <a:xfrm>
            <a:off x="320040" y="138988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12" name="Text 10"/>
          <p:cNvSpPr/>
          <p:nvPr/>
        </p:nvSpPr>
        <p:spPr>
          <a:xfrm>
            <a:off x="960120" y="1371600"/>
            <a:ext cx="5029200" cy="365760"/>
          </a:xfrm>
          <a:prstGeom prst="rect">
            <a:avLst/>
          </a:prstGeom>
          <a:noFill/>
          <a:ln/>
        </p:spPr>
        <p:txBody>
          <a:bodyPr wrap="square" lIns="0" tIns="0" rIns="0" bIns="0" rtlCol="0" anchor="ctr"/>
          <a:lstStyle/>
          <a:p>
            <a:pPr algn="l" indent="0" marL="0">
              <a:buNone/>
            </a:pPr>
            <a:r>
              <a:rPr lang="en-US" sz="1300" b="1" dirty="0">
                <a:solidFill>
                  <a:srgbClr val="1B2A4A"/>
                </a:solidFill>
                <a:latin typeface="Georgia" pitchFamily="34" charset="0"/>
                <a:ea typeface="Georgia" pitchFamily="34" charset="-122"/>
                <a:cs typeface="Georgia" pitchFamily="34" charset="-120"/>
              </a:rPr>
              <a:t>Select a track, launch 4 base algorithms + fusion</a:t>
            </a:r>
            <a:endParaRPr lang="en-US" sz="1300" dirty="0"/>
          </a:p>
        </p:txBody>
      </p:sp>
      <p:sp>
        <p:nvSpPr>
          <p:cNvPr id="13" name="Text 11"/>
          <p:cNvSpPr/>
          <p:nvPr/>
        </p:nvSpPr>
        <p:spPr>
          <a:xfrm>
            <a:off x="960120" y="1773936"/>
            <a:ext cx="10789920" cy="384048"/>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What to say: When the request is sent, the fusion worker does NOT start. 4 independent workers are dispatched in parallel via RabbitMQ with separate routing keys.</a:t>
            </a:r>
            <a:endParaRPr lang="en-US" sz="1100" dirty="0"/>
          </a:p>
        </p:txBody>
      </p:sp>
      <p:sp>
        <p:nvSpPr>
          <p:cNvPr id="14" name="Shape 12"/>
          <p:cNvSpPr/>
          <p:nvPr/>
        </p:nvSpPr>
        <p:spPr>
          <a:xfrm>
            <a:off x="274320" y="2322576"/>
            <a:ext cx="11612880" cy="914400"/>
          </a:xfrm>
          <a:prstGeom prst="rect">
            <a:avLst/>
          </a:prstGeom>
          <a:solidFill>
            <a:srgbClr val="FFFFFF"/>
          </a:solidFill>
          <a:ln w="12700">
            <a:solidFill>
              <a:srgbClr val="E2E8F0"/>
            </a:solidFill>
            <a:prstDash val="solid"/>
          </a:ln>
        </p:spPr>
      </p:sp>
      <p:sp>
        <p:nvSpPr>
          <p:cNvPr id="15" name="Shape 13"/>
          <p:cNvSpPr/>
          <p:nvPr/>
        </p:nvSpPr>
        <p:spPr>
          <a:xfrm>
            <a:off x="320040" y="2414016"/>
            <a:ext cx="502920" cy="502920"/>
          </a:xfrm>
          <a:prstGeom prst="roundRect">
            <a:avLst/>
          </a:prstGeom>
          <a:solidFill>
            <a:srgbClr val="0D9488"/>
          </a:solidFill>
          <a:ln w="12700">
            <a:solidFill>
              <a:srgbClr val="0D9488"/>
            </a:solidFill>
            <a:prstDash val="solid"/>
          </a:ln>
        </p:spPr>
      </p:sp>
      <p:sp>
        <p:nvSpPr>
          <p:cNvPr id="16" name="Text 14"/>
          <p:cNvSpPr/>
          <p:nvPr/>
        </p:nvSpPr>
        <p:spPr>
          <a:xfrm>
            <a:off x="320040" y="241401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7" name="Text 15"/>
          <p:cNvSpPr/>
          <p:nvPr/>
        </p:nvSpPr>
        <p:spPr>
          <a:xfrm>
            <a:off x="960120" y="2395728"/>
            <a:ext cx="5029200" cy="365760"/>
          </a:xfrm>
          <a:prstGeom prst="rect">
            <a:avLst/>
          </a:prstGeom>
          <a:noFill/>
          <a:ln/>
        </p:spPr>
        <p:txBody>
          <a:bodyPr wrap="square" lIns="0" tIns="0" rIns="0" bIns="0" rtlCol="0" anchor="ctr"/>
          <a:lstStyle/>
          <a:p>
            <a:pPr algn="l" indent="0" marL="0">
              <a:buNone/>
            </a:pPr>
            <a:r>
              <a:rPr lang="en-US" sz="1300" b="1" dirty="0">
                <a:solidFill>
                  <a:srgbClr val="1B2A4A"/>
                </a:solidFill>
                <a:latin typeface="Georgia" pitchFamily="34" charset="0"/>
                <a:ea typeface="Georgia" pitchFamily="34" charset="-122"/>
                <a:cs typeface="Georgia" pitchFamily="34" charset="-120"/>
              </a:rPr>
              <a:t>Watch the status while partial results arrive</a:t>
            </a:r>
            <a:endParaRPr lang="en-US" sz="1300" dirty="0"/>
          </a:p>
        </p:txBody>
      </p:sp>
      <p:sp>
        <p:nvSpPr>
          <p:cNvPr id="18" name="Text 16"/>
          <p:cNvSpPr/>
          <p:nvPr/>
        </p:nvSpPr>
        <p:spPr>
          <a:xfrm>
            <a:off x="960120" y="2798064"/>
            <a:ext cx="10789920" cy="384048"/>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What to say: Task is still 'processing'. custom_librosa and Foote finished but CNMF and SCluster are still running. Frontend updates in real time via SSE stream.</a:t>
            </a:r>
            <a:endParaRPr lang="en-US" sz="1100" dirty="0"/>
          </a:p>
        </p:txBody>
      </p:sp>
      <p:sp>
        <p:nvSpPr>
          <p:cNvPr id="19" name="Shape 17"/>
          <p:cNvSpPr/>
          <p:nvPr/>
        </p:nvSpPr>
        <p:spPr>
          <a:xfrm>
            <a:off x="274320" y="3346704"/>
            <a:ext cx="11612880" cy="914400"/>
          </a:xfrm>
          <a:prstGeom prst="rect">
            <a:avLst/>
          </a:prstGeom>
          <a:solidFill>
            <a:srgbClr val="FFFFFF"/>
          </a:solidFill>
          <a:ln w="12700">
            <a:solidFill>
              <a:srgbClr val="E2E8F0"/>
            </a:solidFill>
            <a:prstDash val="solid"/>
          </a:ln>
        </p:spPr>
      </p:sp>
      <p:sp>
        <p:nvSpPr>
          <p:cNvPr id="20" name="Shape 18"/>
          <p:cNvSpPr/>
          <p:nvPr/>
        </p:nvSpPr>
        <p:spPr>
          <a:xfrm>
            <a:off x="320040" y="3438144"/>
            <a:ext cx="502920" cy="502920"/>
          </a:xfrm>
          <a:prstGeom prst="roundRect">
            <a:avLst/>
          </a:prstGeom>
          <a:solidFill>
            <a:srgbClr val="2D6A4F"/>
          </a:solidFill>
          <a:ln w="12700">
            <a:solidFill>
              <a:srgbClr val="2D6A4F"/>
            </a:solidFill>
            <a:prstDash val="solid"/>
          </a:ln>
        </p:spPr>
      </p:sp>
      <p:sp>
        <p:nvSpPr>
          <p:cNvPr id="21" name="Text 19"/>
          <p:cNvSpPr/>
          <p:nvPr/>
        </p:nvSpPr>
        <p:spPr>
          <a:xfrm>
            <a:off x="320040" y="343814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2" name="Text 20"/>
          <p:cNvSpPr/>
          <p:nvPr/>
        </p:nvSpPr>
        <p:spPr>
          <a:xfrm>
            <a:off x="960120" y="3419856"/>
            <a:ext cx="5029200" cy="365760"/>
          </a:xfrm>
          <a:prstGeom prst="rect">
            <a:avLst/>
          </a:prstGeom>
          <a:noFill/>
          <a:ln/>
        </p:spPr>
        <p:txBody>
          <a:bodyPr wrap="square" lIns="0" tIns="0" rIns="0" bIns="0" rtlCol="0" anchor="ctr"/>
          <a:lstStyle/>
          <a:p>
            <a:pPr algn="l" indent="0" marL="0">
              <a:buNone/>
            </a:pPr>
            <a:r>
              <a:rPr lang="en-US" sz="1300" b="1" dirty="0">
                <a:solidFill>
                  <a:srgbClr val="1B2A4A"/>
                </a:solidFill>
                <a:latin typeface="Georgia" pitchFamily="34" charset="0"/>
                <a:ea typeface="Georgia" pitchFamily="34" charset="-122"/>
                <a:cs typeface="Georgia" pitchFamily="34" charset="-120"/>
              </a:rPr>
              <a:t>Compare the different boundary sets from each algorithm</a:t>
            </a:r>
            <a:endParaRPr lang="en-US" sz="1300" dirty="0"/>
          </a:p>
        </p:txBody>
      </p:sp>
      <p:sp>
        <p:nvSpPr>
          <p:cNvPr id="23" name="Text 21"/>
          <p:cNvSpPr/>
          <p:nvPr/>
        </p:nvSpPr>
        <p:spPr>
          <a:xfrm>
            <a:off x="960120" y="3822192"/>
            <a:ext cx="10789920" cy="384048"/>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What to say: This is live evidence for why fusion is needed: you can see 4 algorithms producing different boundary timelines for the same track.</a:t>
            </a:r>
            <a:endParaRPr lang="en-US" sz="1100" dirty="0"/>
          </a:p>
        </p:txBody>
      </p:sp>
      <p:sp>
        <p:nvSpPr>
          <p:cNvPr id="24" name="Shape 22"/>
          <p:cNvSpPr/>
          <p:nvPr/>
        </p:nvSpPr>
        <p:spPr>
          <a:xfrm>
            <a:off x="274320" y="4370832"/>
            <a:ext cx="11612880" cy="914400"/>
          </a:xfrm>
          <a:prstGeom prst="rect">
            <a:avLst/>
          </a:prstGeom>
          <a:solidFill>
            <a:srgbClr val="FFFFFF"/>
          </a:solidFill>
          <a:ln w="12700">
            <a:solidFill>
              <a:srgbClr val="E2E8F0"/>
            </a:solidFill>
            <a:prstDash val="solid"/>
          </a:ln>
        </p:spPr>
      </p:sp>
      <p:sp>
        <p:nvSpPr>
          <p:cNvPr id="25" name="Shape 23"/>
          <p:cNvSpPr/>
          <p:nvPr/>
        </p:nvSpPr>
        <p:spPr>
          <a:xfrm>
            <a:off x="320040" y="4462272"/>
            <a:ext cx="502920" cy="502920"/>
          </a:xfrm>
          <a:prstGeom prst="roundRect">
            <a:avLst/>
          </a:prstGeom>
          <a:solidFill>
            <a:srgbClr val="B45309"/>
          </a:solidFill>
          <a:ln w="12700">
            <a:solidFill>
              <a:srgbClr val="B45309"/>
            </a:solidFill>
            <a:prstDash val="solid"/>
          </a:ln>
        </p:spPr>
      </p:sp>
      <p:sp>
        <p:nvSpPr>
          <p:cNvPr id="26" name="Text 24"/>
          <p:cNvSpPr/>
          <p:nvPr/>
        </p:nvSpPr>
        <p:spPr>
          <a:xfrm>
            <a:off x="320040" y="446227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7" name="Text 25"/>
          <p:cNvSpPr/>
          <p:nvPr/>
        </p:nvSpPr>
        <p:spPr>
          <a:xfrm>
            <a:off x="960120" y="4443984"/>
            <a:ext cx="5029200" cy="365760"/>
          </a:xfrm>
          <a:prstGeom prst="rect">
            <a:avLst/>
          </a:prstGeom>
          <a:noFill/>
          <a:ln/>
        </p:spPr>
        <p:txBody>
          <a:bodyPr wrap="square" lIns="0" tIns="0" rIns="0" bIns="0" rtlCol="0" anchor="ctr"/>
          <a:lstStyle/>
          <a:p>
            <a:pPr algn="l" indent="0" marL="0">
              <a:buNone/>
            </a:pPr>
            <a:r>
              <a:rPr lang="en-US" sz="1300" b="1" dirty="0">
                <a:solidFill>
                  <a:srgbClr val="1B2A4A"/>
                </a:solidFill>
                <a:latin typeface="Georgia" pitchFamily="34" charset="0"/>
                <a:ea typeface="Georgia" pitchFamily="34" charset="-122"/>
                <a:cs typeface="Georgia" pitchFamily="34" charset="-120"/>
              </a:rPr>
              <a:t>Open fusion diagnostics</a:t>
            </a:r>
            <a:endParaRPr lang="en-US" sz="1300" dirty="0"/>
          </a:p>
        </p:txBody>
      </p:sp>
      <p:sp>
        <p:nvSpPr>
          <p:cNvPr id="28" name="Text 26"/>
          <p:cNvSpPr/>
          <p:nvPr/>
        </p:nvSpPr>
        <p:spPr>
          <a:xfrm>
            <a:off x="960120" y="4846320"/>
            <a:ext cx="10789920" cy="384048"/>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What to say: Each fused boundary shows: which algorithms voted, what the raw timestamps were, the weighted score, and whether it was accepted or rejected — fully explainable.</a:t>
            </a:r>
            <a:endParaRPr lang="en-US" sz="1100" dirty="0"/>
          </a:p>
        </p:txBody>
      </p:sp>
      <p:sp>
        <p:nvSpPr>
          <p:cNvPr id="29" name="Shape 27"/>
          <p:cNvSpPr/>
          <p:nvPr/>
        </p:nvSpPr>
        <p:spPr>
          <a:xfrm>
            <a:off x="274320" y="5394960"/>
            <a:ext cx="11612880" cy="914400"/>
          </a:xfrm>
          <a:prstGeom prst="rect">
            <a:avLst/>
          </a:prstGeom>
          <a:solidFill>
            <a:srgbClr val="FFFFFF"/>
          </a:solidFill>
          <a:ln w="12700">
            <a:solidFill>
              <a:srgbClr val="E2E8F0"/>
            </a:solidFill>
            <a:prstDash val="solid"/>
          </a:ln>
        </p:spPr>
      </p:sp>
      <p:sp>
        <p:nvSpPr>
          <p:cNvPr id="30" name="Shape 28"/>
          <p:cNvSpPr/>
          <p:nvPr/>
        </p:nvSpPr>
        <p:spPr>
          <a:xfrm>
            <a:off x="320040" y="5486400"/>
            <a:ext cx="502920" cy="502920"/>
          </a:xfrm>
          <a:prstGeom prst="roundRect">
            <a:avLst/>
          </a:prstGeom>
          <a:solidFill>
            <a:srgbClr val="6D28D9"/>
          </a:solidFill>
          <a:ln w="12700">
            <a:solidFill>
              <a:srgbClr val="6D28D9"/>
            </a:solidFill>
            <a:prstDash val="solid"/>
          </a:ln>
        </p:spPr>
      </p:sp>
      <p:sp>
        <p:nvSpPr>
          <p:cNvPr id="31" name="Text 29"/>
          <p:cNvSpPr/>
          <p:nvPr/>
        </p:nvSpPr>
        <p:spPr>
          <a:xfrm>
            <a:off x="320040" y="54864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32" name="Text 30"/>
          <p:cNvSpPr/>
          <p:nvPr/>
        </p:nvSpPr>
        <p:spPr>
          <a:xfrm>
            <a:off x="960120" y="5468112"/>
            <a:ext cx="5029200" cy="365760"/>
          </a:xfrm>
          <a:prstGeom prst="rect">
            <a:avLst/>
          </a:prstGeom>
          <a:noFill/>
          <a:ln/>
        </p:spPr>
        <p:txBody>
          <a:bodyPr wrap="square" lIns="0" tIns="0" rIns="0" bIns="0" rtlCol="0" anchor="ctr"/>
          <a:lstStyle/>
          <a:p>
            <a:pPr algn="l" indent="0" marL="0">
              <a:buNone/>
            </a:pPr>
            <a:r>
              <a:rPr lang="en-US" sz="1300" b="1" dirty="0">
                <a:solidFill>
                  <a:srgbClr val="1B2A4A"/>
                </a:solidFill>
                <a:latin typeface="Georgia" pitchFamily="34" charset="0"/>
                <a:ea typeface="Georgia" pitchFamily="34" charset="-122"/>
                <a:cs typeface="Georgia" pitchFamily="34" charset="-120"/>
              </a:rPr>
              <a:t>Show evaluation results</a:t>
            </a:r>
            <a:endParaRPr lang="en-US" sz="1300" dirty="0"/>
          </a:p>
        </p:txBody>
      </p:sp>
      <p:sp>
        <p:nvSpPr>
          <p:cNvPr id="33" name="Text 31"/>
          <p:cNvSpPr/>
          <p:nvPr/>
        </p:nvSpPr>
        <p:spPr>
          <a:xfrm>
            <a:off x="960120" y="5870448"/>
            <a:ext cx="10789920" cy="384048"/>
          </a:xfrm>
          <a:prstGeom prst="rect">
            <a:avLst/>
          </a:prstGeom>
          <a:noFill/>
          <a:ln/>
        </p:spPr>
        <p:txBody>
          <a:bodyPr wrap="square" rtlCol="0" anchor="t"/>
          <a:lstStyle/>
          <a:p>
            <a:pPr algn="l" indent="0" marL="0">
              <a:buNone/>
            </a:pPr>
            <a:r>
              <a:rPr lang="en-US" sz="1100" dirty="0">
                <a:solidFill>
                  <a:srgbClr val="4A5568"/>
                </a:solidFill>
                <a:latin typeface="Calibri" pitchFamily="34" charset="0"/>
                <a:ea typeface="Calibri" pitchFamily="34" charset="-122"/>
                <a:cs typeface="Calibri" pitchFamily="34" charset="-120"/>
              </a:rPr>
              <a:t>What to say: F1@0.5 and F1@3.0. Read them together: is the region correct (lenient), is the timing correct (strict), or is there a fundamental detection problem?</a:t>
            </a:r>
            <a:endParaRPr lang="en-US" sz="1100" dirty="0"/>
          </a:p>
        </p:txBody>
      </p:sp>
      <p:sp>
        <p:nvSpPr>
          <p:cNvPr id="34" name="Shape 32"/>
          <p:cNvSpPr/>
          <p:nvPr/>
        </p:nvSpPr>
        <p:spPr>
          <a:xfrm>
            <a:off x="274320" y="6446520"/>
            <a:ext cx="11612880" cy="365760"/>
          </a:xfrm>
          <a:prstGeom prst="roundRect">
            <a:avLst/>
          </a:prstGeom>
          <a:solidFill>
            <a:srgbClr val="FFF7ED"/>
          </a:solidFill>
          <a:ln w="12700">
            <a:solidFill>
              <a:srgbClr val="B45309"/>
            </a:solidFill>
            <a:prstDash val="solid"/>
          </a:ln>
        </p:spPr>
      </p:sp>
      <p:sp>
        <p:nvSpPr>
          <p:cNvPr id="35" name="Text 33"/>
          <p:cNvSpPr/>
          <p:nvPr/>
        </p:nvSpPr>
        <p:spPr>
          <a:xfrm>
            <a:off x="457200" y="6446520"/>
            <a:ext cx="11247120" cy="365760"/>
          </a:xfrm>
          <a:prstGeom prst="rect">
            <a:avLst/>
          </a:prstGeom>
          <a:noFill/>
          <a:ln/>
        </p:spPr>
        <p:txBody>
          <a:bodyPr wrap="square" rtlCol="0" anchor="ctr"/>
          <a:lstStyle/>
          <a:p>
            <a:pPr algn="ctr" indent="0" marL="0">
              <a:buNone/>
            </a:pPr>
            <a:r>
              <a:rPr lang="en-US" sz="1000" b="1" dirty="0">
                <a:solidFill>
                  <a:srgbClr val="B45309"/>
                </a:solidFill>
                <a:latin typeface="Calibri" pitchFamily="34" charset="0"/>
                <a:ea typeface="Calibri" pitchFamily="34" charset="-122"/>
                <a:cs typeface="Calibri" pitchFamily="34" charset="-120"/>
              </a:rPr>
              <a:t>Backup plan: have a previously completed task ID and a screenshot of fusion diagnostics JSON ready. If a worker is slow, use it to demonstrate the async architecture advantage.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1B2A4A"/>
          </a:solidFill>
          <a:ln w="12700">
            <a:solidFill>
              <a:srgbClr val="1B2A4A"/>
            </a:solidFill>
            <a:prstDash val="solid"/>
          </a:ln>
        </p:spPr>
      </p:sp>
      <p:sp>
        <p:nvSpPr>
          <p:cNvPr id="3" name="Shape 1"/>
          <p:cNvSpPr/>
          <p:nvPr/>
        </p:nvSpPr>
        <p:spPr>
          <a:xfrm>
            <a:off x="0" y="1051560"/>
            <a:ext cx="12161520" cy="50292"/>
          </a:xfrm>
          <a:prstGeom prst="rect">
            <a:avLst/>
          </a:prstGeom>
          <a:solidFill>
            <a:srgbClr val="B87333"/>
          </a:solidFill>
          <a:ln w="12700">
            <a:solidFill>
              <a:srgbClr val="B87333"/>
            </a:solidFill>
            <a:prstDash val="solid"/>
          </a:ln>
        </p:spPr>
      </p:sp>
      <p:sp>
        <p:nvSpPr>
          <p:cNvPr id="4" name="Text 2"/>
          <p:cNvSpPr/>
          <p:nvPr/>
        </p:nvSpPr>
        <p:spPr>
          <a:xfrm>
            <a:off x="365760" y="73152"/>
            <a:ext cx="10515600" cy="603504"/>
          </a:xfrm>
          <a:prstGeom prst="rect">
            <a:avLst/>
          </a:prstGeom>
          <a:noFill/>
          <a:ln/>
        </p:spPr>
        <p:txBody>
          <a:bodyPr wrap="square" lIns="0" tIns="0" rIns="0" bIns="0" rtlCol="0" anchor="ctr"/>
          <a:lstStyle/>
          <a:p>
            <a:pPr algn="l" indent="0" marL="0">
              <a:buNone/>
            </a:pPr>
            <a:r>
              <a:rPr lang="en-US" sz="2600" b="1" dirty="0">
                <a:solidFill>
                  <a:srgbClr val="FFFFFF"/>
                </a:solidFill>
                <a:latin typeface="Georgia" pitchFamily="34" charset="0"/>
                <a:ea typeface="Georgia" pitchFamily="34" charset="-122"/>
                <a:cs typeface="Georgia" pitchFamily="34" charset="-120"/>
              </a:rPr>
              <a:t>Conclusion — What We Built and Why</a:t>
            </a:r>
            <a:endParaRPr lang="en-US" sz="2600" dirty="0"/>
          </a:p>
        </p:txBody>
      </p:sp>
      <p:sp>
        <p:nvSpPr>
          <p:cNvPr id="5" name="Text 3"/>
          <p:cNvSpPr/>
          <p:nvPr/>
        </p:nvSpPr>
        <p:spPr>
          <a:xfrm>
            <a:off x="365760" y="667512"/>
            <a:ext cx="10515600" cy="347472"/>
          </a:xfrm>
          <a:prstGeom prst="rect">
            <a:avLst/>
          </a:prstGeom>
          <a:noFill/>
          <a:ln/>
        </p:spPr>
        <p:txBody>
          <a:bodyPr wrap="square" lIns="0" tIns="0" rIns="0" bIns="0" rtlCol="0" anchor="ctr"/>
          <a:lstStyle/>
          <a:p>
            <a:pPr algn="l" indent="0" marL="0">
              <a:buNone/>
            </a:pPr>
            <a:r>
              <a:rPr lang="en-US" sz="1300" dirty="0">
                <a:solidFill>
                  <a:srgbClr val="D4944A"/>
                </a:solidFill>
                <a:latin typeface="Calibri" pitchFamily="34" charset="0"/>
                <a:ea typeface="Calibri" pitchFamily="34" charset="-122"/>
                <a:cs typeface="Calibri" pitchFamily="34" charset="-120"/>
              </a:rPr>
              <a:t>Every decision has a problem context behind it</a:t>
            </a:r>
            <a:endParaRPr lang="en-US" sz="1300" dirty="0"/>
          </a:p>
        </p:txBody>
      </p:sp>
      <p:sp>
        <p:nvSpPr>
          <p:cNvPr id="6" name="Shape 4"/>
          <p:cNvSpPr/>
          <p:nvPr/>
        </p:nvSpPr>
        <p:spPr>
          <a:xfrm>
            <a:off x="9601200" y="6400800"/>
            <a:ext cx="2377440" cy="310896"/>
          </a:xfrm>
          <a:prstGeom prst="roundRect">
            <a:avLst/>
          </a:prstGeom>
          <a:solidFill>
            <a:srgbClr val="2D6A4F"/>
          </a:solidFill>
          <a:ln w="12700">
            <a:solidFill>
              <a:srgbClr val="2D6A4F"/>
            </a:solidFill>
            <a:prstDash val="solid"/>
          </a:ln>
        </p:spPr>
      </p:sp>
      <p:sp>
        <p:nvSpPr>
          <p:cNvPr id="7" name="Text 5"/>
          <p:cNvSpPr/>
          <p:nvPr/>
        </p:nvSpPr>
        <p:spPr>
          <a:xfrm>
            <a:off x="9601200" y="6400800"/>
            <a:ext cx="2377440" cy="310896"/>
          </a:xfrm>
          <a:prstGeom prst="rect">
            <a:avLst/>
          </a:prstGeom>
          <a:noFill/>
          <a:ln/>
        </p:spPr>
        <p:txBody>
          <a:bodyPr wrap="square" lIns="0" tIns="0" rIns="0" bIns="0" rtlCol="0" anchor="ctr"/>
          <a:lstStyle/>
          <a:p>
            <a:pPr algn="ctr" indent="0" marL="0">
              <a:buNone/>
            </a:pPr>
            <a:r>
              <a:rPr lang="en-US" sz="900" b="1" dirty="0">
                <a:solidFill>
                  <a:srgbClr val="FFFFFF"/>
                </a:solidFill>
              </a:rPr>
              <a:t>🎤 Presenter 3</a:t>
            </a:r>
            <a:endParaRPr lang="en-US" sz="900" dirty="0"/>
          </a:p>
        </p:txBody>
      </p:sp>
      <p:sp>
        <p:nvSpPr>
          <p:cNvPr id="8" name="Text 6"/>
          <p:cNvSpPr/>
          <p:nvPr/>
        </p:nvSpPr>
        <p:spPr>
          <a:xfrm>
            <a:off x="182880" y="6446520"/>
            <a:ext cx="822960" cy="201168"/>
          </a:xfrm>
          <a:prstGeom prst="rect">
            <a:avLst/>
          </a:prstGeom>
          <a:noFill/>
          <a:ln/>
        </p:spPr>
        <p:txBody>
          <a:bodyPr wrap="square" lIns="0" tIns="0" rIns="0" bIns="0" rtlCol="0" anchor="ctr"/>
          <a:lstStyle/>
          <a:p>
            <a:pPr algn="l" indent="0" marL="0">
              <a:buNone/>
            </a:pPr>
            <a:r>
              <a:rPr lang="en-US" sz="800" dirty="0">
                <a:solidFill>
                  <a:srgbClr val="718096"/>
                </a:solidFill>
              </a:rPr>
              <a:t>21/21</a:t>
            </a:r>
            <a:endParaRPr lang="en-US" sz="800" dirty="0"/>
          </a:p>
        </p:txBody>
      </p:sp>
      <p:sp>
        <p:nvSpPr>
          <p:cNvPr id="9" name="Shape 7"/>
          <p:cNvSpPr/>
          <p:nvPr/>
        </p:nvSpPr>
        <p:spPr>
          <a:xfrm>
            <a:off x="274320" y="1298448"/>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10" name="Shape 8"/>
          <p:cNvSpPr/>
          <p:nvPr/>
        </p:nvSpPr>
        <p:spPr>
          <a:xfrm>
            <a:off x="274320" y="1298448"/>
            <a:ext cx="5577840" cy="457200"/>
          </a:xfrm>
          <a:prstGeom prst="rect">
            <a:avLst/>
          </a:prstGeom>
          <a:solidFill>
            <a:srgbClr val="0D9488"/>
          </a:solidFill>
          <a:ln w="12700">
            <a:solidFill>
              <a:srgbClr val="0D9488"/>
            </a:solidFill>
            <a:prstDash val="solid"/>
          </a:ln>
        </p:spPr>
      </p:sp>
      <p:sp>
        <p:nvSpPr>
          <p:cNvPr id="11" name="Text 9"/>
          <p:cNvSpPr/>
          <p:nvPr/>
        </p:nvSpPr>
        <p:spPr>
          <a:xfrm>
            <a:off x="365760" y="1298448"/>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Distributed architecture</a:t>
            </a:r>
            <a:endParaRPr lang="en-US" sz="1300" dirty="0"/>
          </a:p>
        </p:txBody>
      </p:sp>
      <p:sp>
        <p:nvSpPr>
          <p:cNvPr id="12" name="Text 10"/>
          <p:cNvSpPr/>
          <p:nvPr/>
        </p:nvSpPr>
        <p:spPr>
          <a:xfrm>
            <a:off x="365760" y="1810512"/>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DSP computation must not block the API; each algorithm must be independently scalable</a:t>
            </a:r>
            <a:endParaRPr lang="en-US" sz="1200" dirty="0"/>
          </a:p>
        </p:txBody>
      </p:sp>
      <p:sp>
        <p:nvSpPr>
          <p:cNvPr id="13" name="Shape 11"/>
          <p:cNvSpPr/>
          <p:nvPr/>
        </p:nvSpPr>
        <p:spPr>
          <a:xfrm>
            <a:off x="6263640" y="1298448"/>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14" name="Shape 12"/>
          <p:cNvSpPr/>
          <p:nvPr/>
        </p:nvSpPr>
        <p:spPr>
          <a:xfrm>
            <a:off x="6263640" y="1298448"/>
            <a:ext cx="5577840" cy="457200"/>
          </a:xfrm>
          <a:prstGeom prst="rect">
            <a:avLst/>
          </a:prstGeom>
          <a:solidFill>
            <a:srgbClr val="B87333"/>
          </a:solidFill>
          <a:ln w="12700">
            <a:solidFill>
              <a:srgbClr val="B87333"/>
            </a:solidFill>
            <a:prstDash val="solid"/>
          </a:ln>
        </p:spPr>
      </p:sp>
      <p:sp>
        <p:nvSpPr>
          <p:cNvPr id="15" name="Text 13"/>
          <p:cNvSpPr/>
          <p:nvPr/>
        </p:nvSpPr>
        <p:spPr>
          <a:xfrm>
            <a:off x="6355080" y="1298448"/>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Common result schema</a:t>
            </a:r>
            <a:endParaRPr lang="en-US" sz="1300" dirty="0"/>
          </a:p>
        </p:txBody>
      </p:sp>
      <p:sp>
        <p:nvSpPr>
          <p:cNvPr id="16" name="Text 14"/>
          <p:cNvSpPr/>
          <p:nvPr/>
        </p:nvSpPr>
        <p:spPr>
          <a:xfrm>
            <a:off x="6355080" y="1810512"/>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Fusion must never need to know which algorithm it is reading; adding a new worker means only conforming to the schema</a:t>
            </a:r>
            <a:endParaRPr lang="en-US" sz="1200" dirty="0"/>
          </a:p>
        </p:txBody>
      </p:sp>
      <p:sp>
        <p:nvSpPr>
          <p:cNvPr id="17" name="Shape 15"/>
          <p:cNvSpPr/>
          <p:nvPr/>
        </p:nvSpPr>
        <p:spPr>
          <a:xfrm>
            <a:off x="274320" y="2962656"/>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18" name="Shape 16"/>
          <p:cNvSpPr/>
          <p:nvPr/>
        </p:nvSpPr>
        <p:spPr>
          <a:xfrm>
            <a:off x="274320" y="2962656"/>
            <a:ext cx="5577840" cy="457200"/>
          </a:xfrm>
          <a:prstGeom prst="rect">
            <a:avLst/>
          </a:prstGeom>
          <a:solidFill>
            <a:srgbClr val="2D6A4F"/>
          </a:solidFill>
          <a:ln w="12700">
            <a:solidFill>
              <a:srgbClr val="2D6A4F"/>
            </a:solidFill>
            <a:prstDash val="solid"/>
          </a:ln>
        </p:spPr>
      </p:sp>
      <p:sp>
        <p:nvSpPr>
          <p:cNvPr id="19" name="Text 17"/>
          <p:cNvSpPr/>
          <p:nvPr/>
        </p:nvSpPr>
        <p:spPr>
          <a:xfrm>
            <a:off x="365760" y="2962656"/>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Feature-level fusion</a:t>
            </a:r>
            <a:endParaRPr lang="en-US" sz="1300" dirty="0"/>
          </a:p>
        </p:txBody>
      </p:sp>
      <p:sp>
        <p:nvSpPr>
          <p:cNvPr id="20" name="Text 18"/>
          <p:cNvSpPr/>
          <p:nvPr/>
        </p:nvSpPr>
        <p:spPr>
          <a:xfrm>
            <a:off x="365760" y="3474720"/>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No single signal is reliable for all genres; consensus from 6 independent sources is more robust</a:t>
            </a:r>
            <a:endParaRPr lang="en-US" sz="1200" dirty="0"/>
          </a:p>
        </p:txBody>
      </p:sp>
      <p:sp>
        <p:nvSpPr>
          <p:cNvPr id="21" name="Shape 19"/>
          <p:cNvSpPr/>
          <p:nvPr/>
        </p:nvSpPr>
        <p:spPr>
          <a:xfrm>
            <a:off x="6263640" y="2962656"/>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22" name="Shape 20"/>
          <p:cNvSpPr/>
          <p:nvPr/>
        </p:nvSpPr>
        <p:spPr>
          <a:xfrm>
            <a:off x="6263640" y="2962656"/>
            <a:ext cx="5577840" cy="457200"/>
          </a:xfrm>
          <a:prstGeom prst="rect">
            <a:avLst/>
          </a:prstGeom>
          <a:solidFill>
            <a:srgbClr val="B45309"/>
          </a:solidFill>
          <a:ln w="12700">
            <a:solidFill>
              <a:srgbClr val="B45309"/>
            </a:solidFill>
            <a:prstDash val="solid"/>
          </a:ln>
        </p:spPr>
      </p:sp>
      <p:sp>
        <p:nvSpPr>
          <p:cNvPr id="23" name="Text 21"/>
          <p:cNvSpPr/>
          <p:nvPr/>
        </p:nvSpPr>
        <p:spPr>
          <a:xfrm>
            <a:off x="6355080" y="2962656"/>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Algorithm-level fusion</a:t>
            </a:r>
            <a:endParaRPr lang="en-US" sz="1300" dirty="0"/>
          </a:p>
        </p:txBody>
      </p:sp>
      <p:sp>
        <p:nvSpPr>
          <p:cNvPr id="24" name="Text 22"/>
          <p:cNvSpPr/>
          <p:nvPr/>
        </p:nvSpPr>
        <p:spPr>
          <a:xfrm>
            <a:off x="6355080" y="3474720"/>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Even the best pipeline can make mistakes; error profiles of different mathematical approaches complement each other</a:t>
            </a:r>
            <a:endParaRPr lang="en-US" sz="1200" dirty="0"/>
          </a:p>
        </p:txBody>
      </p:sp>
      <p:sp>
        <p:nvSpPr>
          <p:cNvPr id="25" name="Shape 23"/>
          <p:cNvSpPr/>
          <p:nvPr/>
        </p:nvSpPr>
        <p:spPr>
          <a:xfrm>
            <a:off x="274320" y="4626864"/>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26" name="Shape 24"/>
          <p:cNvSpPr/>
          <p:nvPr/>
        </p:nvSpPr>
        <p:spPr>
          <a:xfrm>
            <a:off x="274320" y="4626864"/>
            <a:ext cx="5577840" cy="457200"/>
          </a:xfrm>
          <a:prstGeom prst="rect">
            <a:avLst/>
          </a:prstGeom>
          <a:solidFill>
            <a:srgbClr val="6D28D9"/>
          </a:solidFill>
          <a:ln w="12700">
            <a:solidFill>
              <a:srgbClr val="6D28D9"/>
            </a:solidFill>
            <a:prstDash val="solid"/>
          </a:ln>
        </p:spPr>
      </p:sp>
      <p:sp>
        <p:nvSpPr>
          <p:cNvPr id="27" name="Text 25"/>
          <p:cNvSpPr/>
          <p:nvPr/>
        </p:nvSpPr>
        <p:spPr>
          <a:xfrm>
            <a:off x="365760" y="4626864"/>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Structural / semantic label separation</a:t>
            </a:r>
            <a:endParaRPr lang="en-US" sz="1300" dirty="0"/>
          </a:p>
        </p:txBody>
      </p:sp>
      <p:sp>
        <p:nvSpPr>
          <p:cNvPr id="28" name="Text 26"/>
          <p:cNvSpPr/>
          <p:nvPr/>
        </p:nvSpPr>
        <p:spPr>
          <a:xfrm>
            <a:off x="365760" y="5138928"/>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A similarity claim is measurable; a musical role claim is heuristic — conflating them would misrepresent scientific honesty</a:t>
            </a:r>
            <a:endParaRPr lang="en-US" sz="1200" dirty="0"/>
          </a:p>
        </p:txBody>
      </p:sp>
      <p:sp>
        <p:nvSpPr>
          <p:cNvPr id="29" name="Shape 27"/>
          <p:cNvSpPr/>
          <p:nvPr/>
        </p:nvSpPr>
        <p:spPr>
          <a:xfrm>
            <a:off x="6263640" y="4626864"/>
            <a:ext cx="5577840" cy="1508760"/>
          </a:xfrm>
          <a:prstGeom prst="rect">
            <a:avLst/>
          </a:prstGeom>
          <a:solidFill>
            <a:srgbClr val="FFFFFF"/>
          </a:solidFill>
          <a:ln w="12700">
            <a:solidFill>
              <a:srgbClr val="E2E8F0"/>
            </a:solidFill>
            <a:prstDash val="solid"/>
          </a:ln>
          <a:effectLst>
            <a:outerShdw sx="100000" sy="100000" kx="0" ky="0" algn="bl" rotWithShape="0" blurRad="50800" dist="12700" dir="8100000">
              <a:srgbClr val="000000">
                <a:alpha val="7000"/>
              </a:srgbClr>
            </a:outerShdw>
          </a:effectLst>
        </p:spPr>
      </p:sp>
      <p:sp>
        <p:nvSpPr>
          <p:cNvPr id="30" name="Shape 28"/>
          <p:cNvSpPr/>
          <p:nvPr/>
        </p:nvSpPr>
        <p:spPr>
          <a:xfrm>
            <a:off x="6263640" y="4626864"/>
            <a:ext cx="5577840" cy="457200"/>
          </a:xfrm>
          <a:prstGeom prst="rect">
            <a:avLst/>
          </a:prstGeom>
          <a:solidFill>
            <a:srgbClr val="1B2A4A"/>
          </a:solidFill>
          <a:ln w="12700">
            <a:solidFill>
              <a:srgbClr val="1B2A4A"/>
            </a:solidFill>
            <a:prstDash val="solid"/>
          </a:ln>
        </p:spPr>
      </p:sp>
      <p:sp>
        <p:nvSpPr>
          <p:cNvPr id="31" name="Text 29"/>
          <p:cNvSpPr/>
          <p:nvPr/>
        </p:nvSpPr>
        <p:spPr>
          <a:xfrm>
            <a:off x="6355080" y="4626864"/>
            <a:ext cx="5394960" cy="457200"/>
          </a:xfrm>
          <a:prstGeom prst="rect">
            <a:avLst/>
          </a:prstGeom>
          <a:noFill/>
          <a:ln/>
        </p:spPr>
        <p:txBody>
          <a:bodyPr wrap="square" rtlCol="0" anchor="ctr"/>
          <a:lstStyle/>
          <a:p>
            <a:pPr algn="l" indent="0" marL="0">
              <a:buNone/>
            </a:pPr>
            <a:r>
              <a:rPr lang="en-US" sz="1300" b="1" dirty="0">
                <a:solidFill>
                  <a:srgbClr val="FFFFFF"/>
                </a:solidFill>
                <a:latin typeface="Georgia" pitchFamily="34" charset="0"/>
                <a:ea typeface="Georgia" pitchFamily="34" charset="-122"/>
                <a:cs typeface="Georgia" pitchFamily="34" charset="-120"/>
              </a:rPr>
              <a:t>✓ Two tolerances (0.5 s / 3.0 s)</a:t>
            </a:r>
            <a:endParaRPr lang="en-US" sz="1300" dirty="0"/>
          </a:p>
        </p:txBody>
      </p:sp>
      <p:sp>
        <p:nvSpPr>
          <p:cNvPr id="32" name="Text 30"/>
          <p:cNvSpPr/>
          <p:nvPr/>
        </p:nvSpPr>
        <p:spPr>
          <a:xfrm>
            <a:off x="6355080" y="5138928"/>
            <a:ext cx="5394960" cy="960120"/>
          </a:xfrm>
          <a:prstGeom prst="rect">
            <a:avLst/>
          </a:prstGeom>
          <a:noFill/>
          <a:ln/>
        </p:spPr>
        <p:txBody>
          <a:bodyPr wrap="square" rtlCol="0" anchor="t"/>
          <a:lstStyle/>
          <a:p>
            <a:pPr algn="l" indent="0" marL="0">
              <a:buNone/>
            </a:pPr>
            <a:r>
              <a:rPr lang="en-US" sz="1200" dirty="0">
                <a:solidFill>
                  <a:srgbClr val="4A5568"/>
                </a:solidFill>
                <a:latin typeface="Calibri" pitchFamily="34" charset="0"/>
                <a:ea typeface="Calibri" pitchFamily="34" charset="-122"/>
                <a:cs typeface="Calibri" pitchFamily="34" charset="-120"/>
              </a:rPr>
              <a:t>Why: Finding the right region and finding the exact second are different skills — a single metric hides which one is failing</a:t>
            </a:r>
            <a:endParaRPr lang="en-US" sz="1200" dirty="0"/>
          </a:p>
        </p:txBody>
      </p:sp>
      <p:sp>
        <p:nvSpPr>
          <p:cNvPr id="33" name="Shape 31"/>
          <p:cNvSpPr/>
          <p:nvPr/>
        </p:nvSpPr>
        <p:spPr>
          <a:xfrm>
            <a:off x="0" y="6748272"/>
            <a:ext cx="12161520" cy="384048"/>
          </a:xfrm>
          <a:prstGeom prst="rect">
            <a:avLst/>
          </a:prstGeom>
          <a:solidFill>
            <a:srgbClr val="1B2A4A"/>
          </a:solidFill>
          <a:ln w="12700">
            <a:solidFill>
              <a:srgbClr val="1B2A4A"/>
            </a:solidFill>
            <a:prstDash val="solid"/>
          </a:ln>
        </p:spPr>
      </p:sp>
      <p:sp>
        <p:nvSpPr>
          <p:cNvPr id="34" name="Text 32"/>
          <p:cNvSpPr/>
          <p:nvPr/>
        </p:nvSpPr>
        <p:spPr>
          <a:xfrm>
            <a:off x="274320" y="6748272"/>
            <a:ext cx="11612880" cy="384048"/>
          </a:xfrm>
          <a:prstGeom prst="rect">
            <a:avLst/>
          </a:prstGeom>
          <a:noFill/>
          <a:ln/>
        </p:spPr>
        <p:txBody>
          <a:bodyPr wrap="square" rtlCol="0" anchor="ctr"/>
          <a:lstStyle/>
          <a:p>
            <a:pPr algn="ctr" indent="0" marL="0">
              <a:buNone/>
            </a:pPr>
            <a:r>
              <a:rPr lang="en-US" sz="1050" dirty="0">
                <a:solidFill>
                  <a:srgbClr val="D4944A"/>
                </a:solidFill>
                <a:latin typeface="Calibri" pitchFamily="34" charset="0"/>
                <a:ea typeface="Calibri" pitchFamily="34" charset="-122"/>
                <a:cs typeface="Calibri" pitchFamily="34" charset="-120"/>
              </a:rPr>
              <a:t>Our contribution is not a new algorithm — it is integrating multi-signal, multi-algorithm, and two-level fusion decisions into a distributed, explainable, and measurable system.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Music Structure Segmentation</dc:title>
  <dc:subject>PptxGenJS Presentation</dc:subject>
  <dc:creator>Capstone Team</dc:creator>
  <cp:lastModifiedBy>Capstone Team</cp:lastModifiedBy>
  <cp:revision>1</cp:revision>
  <dcterms:created xsi:type="dcterms:W3CDTF">2026-06-21T12:53:12Z</dcterms:created>
  <dcterms:modified xsi:type="dcterms:W3CDTF">2026-06-21T12:53:12Z</dcterms:modified>
</cp:coreProperties>
</file>